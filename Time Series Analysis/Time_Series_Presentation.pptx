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98" r:id="rId2"/>
  </p:sldMasterIdLst>
  <p:notesMasterIdLst>
    <p:notesMasterId r:id="rId30"/>
  </p:notesMasterIdLst>
  <p:handoutMasterIdLst>
    <p:handoutMasterId r:id="rId31"/>
  </p:handoutMasterIdLst>
  <p:sldIdLst>
    <p:sldId id="433" r:id="rId3"/>
    <p:sldId id="1527" r:id="rId4"/>
    <p:sldId id="1513" r:id="rId5"/>
    <p:sldId id="1476" r:id="rId6"/>
    <p:sldId id="1526" r:id="rId7"/>
    <p:sldId id="1515" r:id="rId8"/>
    <p:sldId id="1464" r:id="rId9"/>
    <p:sldId id="1499" r:id="rId10"/>
    <p:sldId id="1514" r:id="rId11"/>
    <p:sldId id="1471" r:id="rId12"/>
    <p:sldId id="1498" r:id="rId13"/>
    <p:sldId id="1469" r:id="rId14"/>
    <p:sldId id="1502" r:id="rId15"/>
    <p:sldId id="1496" r:id="rId16"/>
    <p:sldId id="1504" r:id="rId17"/>
    <p:sldId id="1503" r:id="rId18"/>
    <p:sldId id="1530" r:id="rId19"/>
    <p:sldId id="1521" r:id="rId20"/>
    <p:sldId id="1523" r:id="rId21"/>
    <p:sldId id="1510" r:id="rId22"/>
    <p:sldId id="1529" r:id="rId23"/>
    <p:sldId id="1524" r:id="rId24"/>
    <p:sldId id="1528" r:id="rId25"/>
    <p:sldId id="1468" r:id="rId26"/>
    <p:sldId id="1482" r:id="rId27"/>
    <p:sldId id="1516" r:id="rId28"/>
    <p:sldId id="1488" r:id="rId29"/>
  </p:sldIdLst>
  <p:sldSz cx="10972800" cy="6858000"/>
  <p:notesSz cx="6761163" cy="9942513"/>
  <p:defaultTextStyle>
    <a:defPPr>
      <a:defRPr lang="de-DE"/>
    </a:defPPr>
    <a:lvl1pPr algn="l" rtl="0" fontAlgn="base">
      <a:spcBef>
        <a:spcPct val="0"/>
      </a:spcBef>
      <a:spcAft>
        <a:spcPct val="0"/>
      </a:spcAft>
      <a:defRPr sz="1200" kern="1200">
        <a:solidFill>
          <a:schemeClr val="tx1"/>
        </a:solidFill>
        <a:latin typeface="Arial" pitchFamily="34" charset="0"/>
        <a:ea typeface="+mn-ea"/>
        <a:cs typeface="+mn-cs"/>
      </a:defRPr>
    </a:lvl1pPr>
    <a:lvl2pPr marL="455613" indent="1588" algn="l" rtl="0" fontAlgn="base">
      <a:spcBef>
        <a:spcPct val="0"/>
      </a:spcBef>
      <a:spcAft>
        <a:spcPct val="0"/>
      </a:spcAft>
      <a:defRPr sz="1200" kern="1200">
        <a:solidFill>
          <a:schemeClr val="tx1"/>
        </a:solidFill>
        <a:latin typeface="Arial" pitchFamily="34" charset="0"/>
        <a:ea typeface="+mn-ea"/>
        <a:cs typeface="+mn-cs"/>
      </a:defRPr>
    </a:lvl2pPr>
    <a:lvl3pPr marL="912813" indent="1588" algn="l" rtl="0" fontAlgn="base">
      <a:spcBef>
        <a:spcPct val="0"/>
      </a:spcBef>
      <a:spcAft>
        <a:spcPct val="0"/>
      </a:spcAft>
      <a:defRPr sz="1200" kern="1200">
        <a:solidFill>
          <a:schemeClr val="tx1"/>
        </a:solidFill>
        <a:latin typeface="Arial" pitchFamily="34" charset="0"/>
        <a:ea typeface="+mn-ea"/>
        <a:cs typeface="+mn-cs"/>
      </a:defRPr>
    </a:lvl3pPr>
    <a:lvl4pPr marL="1370013" indent="1588" algn="l" rtl="0" fontAlgn="base">
      <a:spcBef>
        <a:spcPct val="0"/>
      </a:spcBef>
      <a:spcAft>
        <a:spcPct val="0"/>
      </a:spcAft>
      <a:defRPr sz="1200" kern="1200">
        <a:solidFill>
          <a:schemeClr val="tx1"/>
        </a:solidFill>
        <a:latin typeface="Arial" pitchFamily="34" charset="0"/>
        <a:ea typeface="+mn-ea"/>
        <a:cs typeface="+mn-cs"/>
      </a:defRPr>
    </a:lvl4pPr>
    <a:lvl5pPr marL="1827213" indent="1588" algn="l" rtl="0" fontAlgn="base">
      <a:spcBef>
        <a:spcPct val="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Arial" pitchFamily="34" charset="0"/>
        <a:ea typeface="+mn-ea"/>
        <a:cs typeface="+mn-cs"/>
      </a:defRPr>
    </a:lvl6pPr>
    <a:lvl7pPr marL="2743200" algn="l" defTabSz="914400" rtl="0" eaLnBrk="1" latinLnBrk="0" hangingPunct="1">
      <a:defRPr sz="1200" kern="1200">
        <a:solidFill>
          <a:schemeClr val="tx1"/>
        </a:solidFill>
        <a:latin typeface="Arial" pitchFamily="34" charset="0"/>
        <a:ea typeface="+mn-ea"/>
        <a:cs typeface="+mn-cs"/>
      </a:defRPr>
    </a:lvl7pPr>
    <a:lvl8pPr marL="3200400" algn="l" defTabSz="914400" rtl="0" eaLnBrk="1" latinLnBrk="0" hangingPunct="1">
      <a:defRPr sz="1200" kern="1200">
        <a:solidFill>
          <a:schemeClr val="tx1"/>
        </a:solidFill>
        <a:latin typeface="Arial" pitchFamily="34" charset="0"/>
        <a:ea typeface="+mn-ea"/>
        <a:cs typeface="+mn-cs"/>
      </a:defRPr>
    </a:lvl8pPr>
    <a:lvl9pPr marL="3657600" algn="l" defTabSz="914400" rtl="0" eaLnBrk="1" latinLnBrk="0" hangingPunct="1">
      <a:defRPr sz="1200"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2" pos="213" userDrawn="1">
          <p15:clr>
            <a:srgbClr val="A4A3A4"/>
          </p15:clr>
        </p15:guide>
        <p15:guide id="3" pos="6699" userDrawn="1">
          <p15:clr>
            <a:srgbClr val="A4A3A4"/>
          </p15:clr>
        </p15:guide>
        <p15:guide id="4" orient="horz" pos="638" userDrawn="1">
          <p15:clr>
            <a:srgbClr val="A4A3A4"/>
          </p15:clr>
        </p15:guide>
        <p15:guide id="5" orient="horz" pos="3969" userDrawn="1">
          <p15:clr>
            <a:srgbClr val="A4A3A4"/>
          </p15:clr>
        </p15:guide>
        <p15:guide id="6" orient="horz" pos="4065" userDrawn="1">
          <p15:clr>
            <a:srgbClr val="A4A3A4"/>
          </p15:clr>
        </p15:guide>
        <p15:guide id="7" pos="202" userDrawn="1">
          <p15:clr>
            <a:srgbClr val="A4A3A4"/>
          </p15:clr>
        </p15:guide>
        <p15:guide id="8" pos="6712" userDrawn="1">
          <p15:clr>
            <a:srgbClr val="A4A3A4"/>
          </p15:clr>
        </p15:guide>
        <p15:guide id="9" pos="3456" userDrawn="1">
          <p15:clr>
            <a:srgbClr val="A4A3A4"/>
          </p15:clr>
        </p15:guide>
        <p15:guide id="10" orient="horz" pos="3975" userDrawn="1">
          <p15:clr>
            <a:srgbClr val="A4A3A4"/>
          </p15:clr>
        </p15:guide>
        <p15:guide id="11" orient="horz" pos="2158" userDrawn="1">
          <p15:clr>
            <a:srgbClr val="A4A3A4"/>
          </p15:clr>
        </p15:guide>
        <p15:guide id="12" orient="horz" pos="641" userDrawn="1">
          <p15:clr>
            <a:srgbClr val="A4A3A4"/>
          </p15:clr>
        </p15:guide>
        <p15:guide id="13" orient="horz" pos="2161" userDrawn="1">
          <p15:clr>
            <a:srgbClr val="A4A3A4"/>
          </p15:clr>
        </p15:guide>
        <p15:guide id="14" pos="6709" userDrawn="1">
          <p15:clr>
            <a:srgbClr val="A4A3A4"/>
          </p15:clr>
        </p15:guide>
        <p15:guide id="15" pos="6717" userDrawn="1">
          <p15:clr>
            <a:srgbClr val="A4A3A4"/>
          </p15:clr>
        </p15:guide>
        <p15:guide id="16" orient="horz" pos="3980" userDrawn="1">
          <p15:clr>
            <a:srgbClr val="A4A3A4"/>
          </p15:clr>
        </p15:guide>
        <p15:guide id="17" orient="horz" pos="3974" userDrawn="1">
          <p15:clr>
            <a:srgbClr val="A4A3A4"/>
          </p15:clr>
        </p15:guide>
        <p15:guide id="18" orient="horz" pos="2157" userDrawn="1">
          <p15:clr>
            <a:srgbClr val="A4A3A4"/>
          </p15:clr>
        </p15:guide>
        <p15:guide id="19" orient="horz" pos="634" userDrawn="1">
          <p15:clr>
            <a:srgbClr val="A4A3A4"/>
          </p15:clr>
        </p15:guide>
        <p15:guide id="21" pos="198" userDrawn="1">
          <p15:clr>
            <a:srgbClr val="A4A3A4"/>
          </p15:clr>
        </p15:guide>
      </p15:sldGuideLst>
    </p:ext>
    <p:ext uri="{2D200454-40CA-4A62-9FC3-DE9A4176ACB9}">
      <p15:notesGuideLst xmlns:p15="http://schemas.microsoft.com/office/powerpoint/2012/main">
        <p15:guide id="1" orient="horz" pos="3131" userDrawn="1">
          <p15:clr>
            <a:srgbClr val="A4A3A4"/>
          </p15:clr>
        </p15:guide>
        <p15:guide id="2" pos="2129"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3juwink" initials="s" lastIdx="1" clrIdx="0">
    <p:extLst>
      <p:ext uri="{19B8F6BF-5375-455C-9EA6-DF929625EA0E}">
        <p15:presenceInfo xmlns:p15="http://schemas.microsoft.com/office/powerpoint/2012/main" userId="s3juw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8A5E"/>
    <a:srgbClr val="EAEAEA"/>
    <a:srgbClr val="DDDDDD"/>
    <a:srgbClr val="E1801F"/>
    <a:srgbClr val="009BD2"/>
    <a:srgbClr val="D4D4D4"/>
    <a:srgbClr val="D9D9D9"/>
    <a:srgbClr val="D7D7D7"/>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D8D3C9-A824-8748-81F6-F2DD194D8935}" v="2" dt="2026-08-09T09:35:36.139"/>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9012ECD-51FC-41F1-AA8D-1B2483CD663E}" styleName="Helle Formatvorlage 2 - Akz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Helle Formatvorlage 3 - Akz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C2FFA5D-87B4-456A-9821-1D502468CF0F}" styleName="Designformatvorlage 1 - Akz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42" autoAdjust="0"/>
    <p:restoredTop sz="89568" autoAdjust="0"/>
  </p:normalViewPr>
  <p:slideViewPr>
    <p:cSldViewPr snapToGrid="0">
      <p:cViewPr varScale="1">
        <p:scale>
          <a:sx n="107" d="100"/>
          <a:sy n="107" d="100"/>
        </p:scale>
        <p:origin x="928" y="176"/>
      </p:cViewPr>
      <p:guideLst>
        <p:guide pos="213"/>
        <p:guide pos="6699"/>
        <p:guide orient="horz" pos="638"/>
        <p:guide orient="horz" pos="3969"/>
        <p:guide orient="horz" pos="4065"/>
        <p:guide pos="202"/>
        <p:guide pos="6712"/>
        <p:guide pos="3456"/>
        <p:guide orient="horz" pos="3975"/>
        <p:guide orient="horz" pos="2158"/>
        <p:guide orient="horz" pos="641"/>
        <p:guide orient="horz" pos="2161"/>
        <p:guide pos="6709"/>
        <p:guide pos="6717"/>
        <p:guide orient="horz" pos="3980"/>
        <p:guide orient="horz" pos="3974"/>
        <p:guide orient="horz" pos="2157"/>
        <p:guide orient="horz" pos="634"/>
        <p:guide pos="198"/>
      </p:guideLst>
    </p:cSldViewPr>
  </p:slideViewPr>
  <p:outlineViewPr>
    <p:cViewPr>
      <p:scale>
        <a:sx n="50" d="100"/>
        <a:sy n="50" d="100"/>
      </p:scale>
      <p:origin x="0" y="-7344"/>
    </p:cViewPr>
  </p:outlineViewPr>
  <p:notesTextViewPr>
    <p:cViewPr>
      <p:scale>
        <a:sx n="90" d="100"/>
        <a:sy n="90" d="100"/>
      </p:scale>
      <p:origin x="0" y="0"/>
    </p:cViewPr>
  </p:notesTextViewPr>
  <p:sorterViewPr>
    <p:cViewPr>
      <p:scale>
        <a:sx n="66" d="100"/>
        <a:sy n="66" d="100"/>
      </p:scale>
      <p:origin x="0" y="0"/>
    </p:cViewPr>
  </p:sorterViewPr>
  <p:notesViewPr>
    <p:cSldViewPr snapToGrid="0">
      <p:cViewPr varScale="1">
        <p:scale>
          <a:sx n="78" d="100"/>
          <a:sy n="78" d="100"/>
        </p:scale>
        <p:origin x="3990" y="114"/>
      </p:cViewPr>
      <p:guideLst>
        <p:guide orient="horz" pos="3131"/>
        <p:guide pos="212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commentAuthors" Target="commentAuthor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notesMaster" Target="notesMasters/notesMaster1.xml"/><Relationship Id="rId35"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4" y="4"/>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t" anchorCtr="0" compatLnSpc="1">
            <a:prstTxWarp prst="textNoShape">
              <a:avLst/>
            </a:prstTxWarp>
          </a:bodyPr>
          <a:lstStyle>
            <a:lvl1pPr defTabSz="922153">
              <a:defRPr sz="1300"/>
            </a:lvl1pPr>
          </a:lstStyle>
          <a:p>
            <a:endParaRPr lang="de-DE" dirty="0"/>
          </a:p>
        </p:txBody>
      </p:sp>
      <p:sp>
        <p:nvSpPr>
          <p:cNvPr id="15363" name="Rectangle 3"/>
          <p:cNvSpPr>
            <a:spLocks noGrp="1" noChangeArrowheads="1"/>
          </p:cNvSpPr>
          <p:nvPr>
            <p:ph type="dt" sz="quarter" idx="1"/>
          </p:nvPr>
        </p:nvSpPr>
        <p:spPr bwMode="auto">
          <a:xfrm>
            <a:off x="3831129" y="4"/>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t" anchorCtr="0" compatLnSpc="1">
            <a:prstTxWarp prst="textNoShape">
              <a:avLst/>
            </a:prstTxWarp>
          </a:bodyPr>
          <a:lstStyle>
            <a:lvl1pPr algn="r" defTabSz="922153">
              <a:defRPr sz="1300"/>
            </a:lvl1pPr>
          </a:lstStyle>
          <a:p>
            <a:endParaRPr lang="de-DE" dirty="0"/>
          </a:p>
        </p:txBody>
      </p:sp>
      <p:sp>
        <p:nvSpPr>
          <p:cNvPr id="15364" name="Rectangle 4"/>
          <p:cNvSpPr>
            <a:spLocks noGrp="1" noChangeArrowheads="1"/>
          </p:cNvSpPr>
          <p:nvPr>
            <p:ph type="ftr" sz="quarter" idx="2"/>
          </p:nvPr>
        </p:nvSpPr>
        <p:spPr bwMode="auto">
          <a:xfrm>
            <a:off x="4" y="9444389"/>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b" anchorCtr="0" compatLnSpc="1">
            <a:prstTxWarp prst="textNoShape">
              <a:avLst/>
            </a:prstTxWarp>
          </a:bodyPr>
          <a:lstStyle>
            <a:lvl1pPr defTabSz="922153">
              <a:defRPr sz="1300"/>
            </a:lvl1pPr>
          </a:lstStyle>
          <a:p>
            <a:endParaRPr lang="de-DE" dirty="0"/>
          </a:p>
        </p:txBody>
      </p:sp>
      <p:sp>
        <p:nvSpPr>
          <p:cNvPr id="15365" name="Rectangle 5"/>
          <p:cNvSpPr>
            <a:spLocks noGrp="1" noChangeArrowheads="1"/>
          </p:cNvSpPr>
          <p:nvPr>
            <p:ph type="sldNum" sz="quarter" idx="3"/>
          </p:nvPr>
        </p:nvSpPr>
        <p:spPr bwMode="auto">
          <a:xfrm>
            <a:off x="3831129" y="9444389"/>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b" anchorCtr="0" compatLnSpc="1">
            <a:prstTxWarp prst="textNoShape">
              <a:avLst/>
            </a:prstTxWarp>
          </a:bodyPr>
          <a:lstStyle>
            <a:lvl1pPr algn="r" defTabSz="922153">
              <a:defRPr sz="1300"/>
            </a:lvl1pPr>
          </a:lstStyle>
          <a:p>
            <a:fld id="{8D3458C8-A68B-4A48-BD3C-A07C31469584}" type="slidenum">
              <a:rPr lang="de-DE"/>
              <a:pPr/>
              <a:t>‹Nr.›</a:t>
            </a:fld>
            <a:endParaRPr lang="de-DE" dirty="0"/>
          </a:p>
        </p:txBody>
      </p:sp>
    </p:spTree>
    <p:extLst>
      <p:ext uri="{BB962C8B-B14F-4D97-AF65-F5344CB8AC3E}">
        <p14:creationId xmlns:p14="http://schemas.microsoft.com/office/powerpoint/2010/main" val="209557413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4" y="4"/>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t" anchorCtr="0" compatLnSpc="1">
            <a:prstTxWarp prst="textNoShape">
              <a:avLst/>
            </a:prstTxWarp>
          </a:bodyPr>
          <a:lstStyle>
            <a:lvl1pPr defTabSz="922153">
              <a:defRPr sz="1300"/>
            </a:lvl1pPr>
          </a:lstStyle>
          <a:p>
            <a:endParaRPr lang="de-DE" dirty="0"/>
          </a:p>
        </p:txBody>
      </p:sp>
      <p:sp>
        <p:nvSpPr>
          <p:cNvPr id="13315" name="Rectangle 3"/>
          <p:cNvSpPr>
            <a:spLocks noGrp="1" noChangeArrowheads="1"/>
          </p:cNvSpPr>
          <p:nvPr>
            <p:ph type="dt" idx="1"/>
          </p:nvPr>
        </p:nvSpPr>
        <p:spPr bwMode="auto">
          <a:xfrm>
            <a:off x="3831129" y="4"/>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t" anchorCtr="0" compatLnSpc="1">
            <a:prstTxWarp prst="textNoShape">
              <a:avLst/>
            </a:prstTxWarp>
          </a:bodyPr>
          <a:lstStyle>
            <a:lvl1pPr algn="r" defTabSz="922153">
              <a:defRPr sz="1300"/>
            </a:lvl1pPr>
          </a:lstStyle>
          <a:p>
            <a:endParaRPr lang="de-DE" dirty="0"/>
          </a:p>
        </p:txBody>
      </p:sp>
      <p:sp>
        <p:nvSpPr>
          <p:cNvPr id="16388" name="Rectangle 4"/>
          <p:cNvSpPr>
            <a:spLocks noGrp="1" noRot="1" noChangeAspect="1" noChangeArrowheads="1" noTextEdit="1"/>
          </p:cNvSpPr>
          <p:nvPr>
            <p:ph type="sldImg" idx="2"/>
          </p:nvPr>
        </p:nvSpPr>
        <p:spPr bwMode="auto">
          <a:xfrm>
            <a:off x="398463" y="744538"/>
            <a:ext cx="5964237" cy="37290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7" name="Rectangle 5"/>
          <p:cNvSpPr>
            <a:spLocks noGrp="1" noChangeArrowheads="1"/>
          </p:cNvSpPr>
          <p:nvPr>
            <p:ph type="body" sz="quarter" idx="3"/>
          </p:nvPr>
        </p:nvSpPr>
        <p:spPr bwMode="auto">
          <a:xfrm>
            <a:off x="901089" y="4722197"/>
            <a:ext cx="4958993" cy="4475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t" anchorCtr="0" compatLnSpc="1">
            <a:prstTxWarp prst="textNoShape">
              <a:avLst/>
            </a:prstTxWarp>
          </a:bodyPr>
          <a:lstStyle/>
          <a:p>
            <a:pPr lvl="0"/>
            <a:r>
              <a:rPr lang="de-DE" noProof="0"/>
              <a:t>Klicken Sie, um die Formate des Vorlagentextes zu bearbeiten</a:t>
            </a:r>
          </a:p>
          <a:p>
            <a:pPr lvl="1"/>
            <a:r>
              <a:rPr lang="de-DE" noProof="0"/>
              <a:t>Zweite Ebene</a:t>
            </a:r>
          </a:p>
          <a:p>
            <a:pPr lvl="2"/>
            <a:r>
              <a:rPr lang="de-DE" noProof="0"/>
              <a:t>Dritte Ebene</a:t>
            </a:r>
          </a:p>
          <a:p>
            <a:pPr lvl="3"/>
            <a:r>
              <a:rPr lang="de-DE" noProof="0"/>
              <a:t>Vierte Ebene</a:t>
            </a:r>
          </a:p>
          <a:p>
            <a:pPr lvl="4"/>
            <a:r>
              <a:rPr lang="de-DE" noProof="0"/>
              <a:t>Fünfte Ebene</a:t>
            </a:r>
          </a:p>
        </p:txBody>
      </p:sp>
      <p:sp>
        <p:nvSpPr>
          <p:cNvPr id="13318" name="Rectangle 6"/>
          <p:cNvSpPr>
            <a:spLocks noGrp="1" noChangeArrowheads="1"/>
          </p:cNvSpPr>
          <p:nvPr>
            <p:ph type="ftr" sz="quarter" idx="4"/>
          </p:nvPr>
        </p:nvSpPr>
        <p:spPr bwMode="auto">
          <a:xfrm>
            <a:off x="4" y="9444389"/>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b" anchorCtr="0" compatLnSpc="1">
            <a:prstTxWarp prst="textNoShape">
              <a:avLst/>
            </a:prstTxWarp>
          </a:bodyPr>
          <a:lstStyle>
            <a:lvl1pPr defTabSz="922153">
              <a:defRPr sz="1300"/>
            </a:lvl1pPr>
          </a:lstStyle>
          <a:p>
            <a:endParaRPr lang="de-DE" dirty="0"/>
          </a:p>
        </p:txBody>
      </p:sp>
      <p:sp>
        <p:nvSpPr>
          <p:cNvPr id="13319" name="Rectangle 7"/>
          <p:cNvSpPr>
            <a:spLocks noGrp="1" noChangeArrowheads="1"/>
          </p:cNvSpPr>
          <p:nvPr>
            <p:ph type="sldNum" sz="quarter" idx="5"/>
          </p:nvPr>
        </p:nvSpPr>
        <p:spPr bwMode="auto">
          <a:xfrm>
            <a:off x="3831129" y="9444389"/>
            <a:ext cx="2930039" cy="498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271" tIns="46138" rIns="92271" bIns="46138" numCol="1" anchor="b" anchorCtr="0" compatLnSpc="1">
            <a:prstTxWarp prst="textNoShape">
              <a:avLst/>
            </a:prstTxWarp>
          </a:bodyPr>
          <a:lstStyle>
            <a:lvl1pPr algn="r" defTabSz="922153">
              <a:defRPr sz="1300"/>
            </a:lvl1pPr>
          </a:lstStyle>
          <a:p>
            <a:fld id="{D11C0EFE-F451-4C5C-B027-8D8F59ADCC86}" type="slidenum">
              <a:rPr lang="de-DE"/>
              <a:pPr/>
              <a:t>‹Nr.›</a:t>
            </a:fld>
            <a:endParaRPr lang="de-DE" dirty="0"/>
          </a:p>
        </p:txBody>
      </p:sp>
    </p:spTree>
    <p:extLst>
      <p:ext uri="{BB962C8B-B14F-4D97-AF65-F5344CB8AC3E}">
        <p14:creationId xmlns:p14="http://schemas.microsoft.com/office/powerpoint/2010/main" val="18573070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5613"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2813"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0013"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7213"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5700" algn="l" defTabSz="914280" rtl="0" eaLnBrk="1" latinLnBrk="0" hangingPunct="1">
      <a:defRPr sz="1200" kern="1200">
        <a:solidFill>
          <a:schemeClr val="tx1"/>
        </a:solidFill>
        <a:latin typeface="+mn-lt"/>
        <a:ea typeface="+mn-ea"/>
        <a:cs typeface="+mn-cs"/>
      </a:defRPr>
    </a:lvl6pPr>
    <a:lvl7pPr marL="2742839" algn="l" defTabSz="914280" rtl="0" eaLnBrk="1" latinLnBrk="0" hangingPunct="1">
      <a:defRPr sz="1200" kern="1200">
        <a:solidFill>
          <a:schemeClr val="tx1"/>
        </a:solidFill>
        <a:latin typeface="+mn-lt"/>
        <a:ea typeface="+mn-ea"/>
        <a:cs typeface="+mn-cs"/>
      </a:defRPr>
    </a:lvl7pPr>
    <a:lvl8pPr marL="3199979" algn="l" defTabSz="914280" rtl="0" eaLnBrk="1" latinLnBrk="0" hangingPunct="1">
      <a:defRPr sz="1200" kern="1200">
        <a:solidFill>
          <a:schemeClr val="tx1"/>
        </a:solidFill>
        <a:latin typeface="+mn-lt"/>
        <a:ea typeface="+mn-ea"/>
        <a:cs typeface="+mn-cs"/>
      </a:defRPr>
    </a:lvl8pPr>
    <a:lvl9pPr marL="3657118" algn="l" defTabSz="91428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1</a:t>
            </a:fld>
            <a:endParaRPr lang="de-DE" dirty="0"/>
          </a:p>
        </p:txBody>
      </p:sp>
    </p:spTree>
    <p:extLst>
      <p:ext uri="{BB962C8B-B14F-4D97-AF65-F5344CB8AC3E}">
        <p14:creationId xmlns:p14="http://schemas.microsoft.com/office/powerpoint/2010/main" val="1488957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E755C-6E11-2623-0DB1-35257F97C037}"/>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7F62ACF-D494-5F99-187F-A8990076781C}"/>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DD32E33-B619-C939-315D-55B57BA74539}"/>
              </a:ext>
            </a:extLst>
          </p:cNvPr>
          <p:cNvSpPr>
            <a:spLocks noGrp="1"/>
          </p:cNvSpPr>
          <p:nvPr>
            <p:ph type="body" idx="1"/>
          </p:nvPr>
        </p:nvSpPr>
        <p:spPr/>
        <p:txBody>
          <a:bodyPr/>
          <a:lstStyle/>
          <a:p>
            <a:pPr lvl="1" algn="just"/>
            <a:r>
              <a:rPr lang="en-GB" noProof="0" dirty="0"/>
              <a:t> Time Series Analysis based Arbitrage – Buy cheap energy to sell more expensive later Possible for households with battery storages connected to the grid</a:t>
            </a:r>
          </a:p>
          <a:p>
            <a:pPr lvl="1" algn="just"/>
            <a:endParaRPr lang="en-GB" noProof="0" dirty="0"/>
          </a:p>
          <a:p>
            <a:pPr marL="455613" marR="0" lvl="1" indent="0" algn="just" defTabSz="914400" rtl="0" eaLnBrk="0" fontAlgn="base" latinLnBrk="0" hangingPunct="0">
              <a:lnSpc>
                <a:spcPct val="100000"/>
              </a:lnSpc>
              <a:spcBef>
                <a:spcPct val="30000"/>
              </a:spcBef>
              <a:spcAft>
                <a:spcPct val="0"/>
              </a:spcAft>
              <a:buClrTx/>
              <a:buSzTx/>
              <a:buFontTx/>
              <a:buNone/>
              <a:tabLst/>
              <a:defRPr/>
            </a:pPr>
            <a:r>
              <a:rPr lang="en-GB" dirty="0"/>
              <a:t>C</a:t>
            </a:r>
            <a:r>
              <a:rPr lang="en-GB" noProof="0" dirty="0" err="1"/>
              <a:t>ompanies</a:t>
            </a:r>
            <a:r>
              <a:rPr lang="en-GB" noProof="0" dirty="0"/>
              <a:t> and households are exposed to energy prices</a:t>
            </a:r>
          </a:p>
          <a:p>
            <a:pPr lvl="1" algn="just"/>
            <a:endParaRPr lang="en-GB" noProof="0" dirty="0"/>
          </a:p>
          <a:p>
            <a:endParaRPr lang="en-US" dirty="0"/>
          </a:p>
        </p:txBody>
      </p:sp>
      <p:sp>
        <p:nvSpPr>
          <p:cNvPr id="4" name="Foliennummernplatzhalter 3">
            <a:extLst>
              <a:ext uri="{FF2B5EF4-FFF2-40B4-BE49-F238E27FC236}">
                <a16:creationId xmlns:a16="http://schemas.microsoft.com/office/drawing/2014/main" id="{A0B0555F-836C-71B3-38AB-A21520C614FF}"/>
              </a:ext>
            </a:extLst>
          </p:cNvPr>
          <p:cNvSpPr>
            <a:spLocks noGrp="1"/>
          </p:cNvSpPr>
          <p:nvPr>
            <p:ph type="sldNum" sz="quarter" idx="5"/>
          </p:nvPr>
        </p:nvSpPr>
        <p:spPr/>
        <p:txBody>
          <a:bodyPr/>
          <a:lstStyle/>
          <a:p>
            <a:fld id="{D11C0EFE-F451-4C5C-B027-8D8F59ADCC86}" type="slidenum">
              <a:rPr lang="de-DE" smtClean="0"/>
              <a:pPr/>
              <a:t>2</a:t>
            </a:fld>
            <a:endParaRPr lang="de-DE" dirty="0"/>
          </a:p>
        </p:txBody>
      </p:sp>
    </p:spTree>
    <p:extLst>
      <p:ext uri="{BB962C8B-B14F-4D97-AF65-F5344CB8AC3E}">
        <p14:creationId xmlns:p14="http://schemas.microsoft.com/office/powerpoint/2010/main" val="869870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3</a:t>
            </a:fld>
            <a:endParaRPr lang="de-DE" dirty="0"/>
          </a:p>
        </p:txBody>
      </p:sp>
    </p:spTree>
    <p:extLst>
      <p:ext uri="{BB962C8B-B14F-4D97-AF65-F5344CB8AC3E}">
        <p14:creationId xmlns:p14="http://schemas.microsoft.com/office/powerpoint/2010/main" val="16709480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4</a:t>
            </a:fld>
            <a:endParaRPr lang="de-DE" dirty="0"/>
          </a:p>
        </p:txBody>
      </p:sp>
    </p:spTree>
    <p:extLst>
      <p:ext uri="{BB962C8B-B14F-4D97-AF65-F5344CB8AC3E}">
        <p14:creationId xmlns:p14="http://schemas.microsoft.com/office/powerpoint/2010/main" val="7696181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4B1CA-AD8A-36B0-25F6-D2FA72D10C4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429768EF-22FA-7C50-30B6-7F584E2483B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3E52163-F64A-983D-6B2B-E89473BF555F}"/>
              </a:ext>
            </a:extLst>
          </p:cNvPr>
          <p:cNvSpPr>
            <a:spLocks noGrp="1"/>
          </p:cNvSpPr>
          <p:nvPr>
            <p:ph type="body" idx="1"/>
          </p:nvPr>
        </p:nvSpPr>
        <p:spPr/>
        <p:txBody>
          <a:bodyPr/>
          <a:lstStyle/>
          <a:p>
            <a:pPr lvl="1" algn="just">
              <a:buFont typeface="Wingdings" pitchFamily="2" charset="2"/>
              <a:buChar char="è"/>
            </a:pPr>
            <a:r>
              <a:rPr lang="en-GB" dirty="0"/>
              <a:t>Reliance on natural gas imports from Russia caused </a:t>
            </a:r>
          </a:p>
          <a:p>
            <a:endParaRPr lang="en-US" dirty="0"/>
          </a:p>
        </p:txBody>
      </p:sp>
      <p:sp>
        <p:nvSpPr>
          <p:cNvPr id="4" name="Foliennummernplatzhalter 3">
            <a:extLst>
              <a:ext uri="{FF2B5EF4-FFF2-40B4-BE49-F238E27FC236}">
                <a16:creationId xmlns:a16="http://schemas.microsoft.com/office/drawing/2014/main" id="{7035C098-3787-B91E-1B01-65B59D64B986}"/>
              </a:ext>
            </a:extLst>
          </p:cNvPr>
          <p:cNvSpPr>
            <a:spLocks noGrp="1"/>
          </p:cNvSpPr>
          <p:nvPr>
            <p:ph type="sldNum" sz="quarter" idx="5"/>
          </p:nvPr>
        </p:nvSpPr>
        <p:spPr/>
        <p:txBody>
          <a:bodyPr/>
          <a:lstStyle/>
          <a:p>
            <a:fld id="{D11C0EFE-F451-4C5C-B027-8D8F59ADCC86}" type="slidenum">
              <a:rPr lang="de-DE" smtClean="0"/>
              <a:pPr/>
              <a:t>5</a:t>
            </a:fld>
            <a:endParaRPr lang="de-DE" dirty="0"/>
          </a:p>
        </p:txBody>
      </p:sp>
    </p:spTree>
    <p:extLst>
      <p:ext uri="{BB962C8B-B14F-4D97-AF65-F5344CB8AC3E}">
        <p14:creationId xmlns:p14="http://schemas.microsoft.com/office/powerpoint/2010/main" val="873714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It should be noted that other cutoffs could be used. When testing those, the exclusion of a number of countries with around 99% would have led to a diminishing number of observations. </a:t>
            </a:r>
          </a:p>
          <a:p>
            <a:endParaRPr lang="en-US" dirty="0"/>
          </a:p>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7</a:t>
            </a:fld>
            <a:endParaRPr lang="de-DE" dirty="0"/>
          </a:p>
        </p:txBody>
      </p:sp>
    </p:spTree>
    <p:extLst>
      <p:ext uri="{BB962C8B-B14F-4D97-AF65-F5344CB8AC3E}">
        <p14:creationId xmlns:p14="http://schemas.microsoft.com/office/powerpoint/2010/main" val="9505107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8</a:t>
            </a:fld>
            <a:endParaRPr lang="de-DE" dirty="0"/>
          </a:p>
        </p:txBody>
      </p:sp>
    </p:spTree>
    <p:extLst>
      <p:ext uri="{BB962C8B-B14F-4D97-AF65-F5344CB8AC3E}">
        <p14:creationId xmlns:p14="http://schemas.microsoft.com/office/powerpoint/2010/main" val="3016679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E203A-D10B-3C90-80D4-1CC21760B73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70D34F2-05EE-2CE5-96BC-7654DA33496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EFC7F2C-7190-3F5A-D1E2-FEEDCF6E546B}"/>
              </a:ext>
            </a:extLst>
          </p:cNvPr>
          <p:cNvSpPr>
            <a:spLocks noGrp="1"/>
          </p:cNvSpPr>
          <p:nvPr>
            <p:ph type="body" idx="1"/>
          </p:nvPr>
        </p:nvSpPr>
        <p:spPr/>
        <p:txBody>
          <a:bodyPr/>
          <a:lstStyle/>
          <a:p>
            <a:r>
              <a:rPr lang="en-US" dirty="0"/>
              <a:t>The series ranges from ~50 to ~700 EUR/MWh, so the variance grows with the level. The book stabilizes another electricity time series of this kind of series by taking logs: the book uses log(</a:t>
            </a:r>
            <a:r>
              <a:rPr lang="en-US" dirty="0" err="1"/>
              <a:t>Elec.ts</a:t>
            </a:r>
            <a:r>
              <a:rPr lang="en-US" dirty="0"/>
              <a:t>)</a:t>
            </a:r>
          </a:p>
        </p:txBody>
      </p:sp>
      <p:sp>
        <p:nvSpPr>
          <p:cNvPr id="4" name="Foliennummernplatzhalter 3">
            <a:extLst>
              <a:ext uri="{FF2B5EF4-FFF2-40B4-BE49-F238E27FC236}">
                <a16:creationId xmlns:a16="http://schemas.microsoft.com/office/drawing/2014/main" id="{C13989F7-08F6-A9B4-8E08-E248A36DD0CE}"/>
              </a:ext>
            </a:extLst>
          </p:cNvPr>
          <p:cNvSpPr>
            <a:spLocks noGrp="1"/>
          </p:cNvSpPr>
          <p:nvPr>
            <p:ph type="sldNum" sz="quarter" idx="5"/>
          </p:nvPr>
        </p:nvSpPr>
        <p:spPr/>
        <p:txBody>
          <a:bodyPr/>
          <a:lstStyle/>
          <a:p>
            <a:fld id="{D11C0EFE-F451-4C5C-B027-8D8F59ADCC86}" type="slidenum">
              <a:rPr lang="de-DE" smtClean="0"/>
              <a:pPr/>
              <a:t>9</a:t>
            </a:fld>
            <a:endParaRPr lang="de-DE" dirty="0"/>
          </a:p>
        </p:txBody>
      </p:sp>
    </p:spTree>
    <p:extLst>
      <p:ext uri="{BB962C8B-B14F-4D97-AF65-F5344CB8AC3E}">
        <p14:creationId xmlns:p14="http://schemas.microsoft.com/office/powerpoint/2010/main" val="11085372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10</a:t>
            </a:fld>
            <a:endParaRPr lang="de-DE" dirty="0"/>
          </a:p>
        </p:txBody>
      </p:sp>
    </p:spTree>
    <p:extLst>
      <p:ext uri="{BB962C8B-B14F-4D97-AF65-F5344CB8AC3E}">
        <p14:creationId xmlns:p14="http://schemas.microsoft.com/office/powerpoint/2010/main" val="39670926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A2D72-A1FD-C6FE-A894-819EECD2711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4B2CA53-E453-F34A-25FD-7147484555C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F54A321-6568-73B4-7CDA-B1E339236061}"/>
              </a:ext>
            </a:extLst>
          </p:cNvPr>
          <p:cNvSpPr>
            <a:spLocks noGrp="1"/>
          </p:cNvSpPr>
          <p:nvPr>
            <p:ph type="body" idx="1"/>
          </p:nvPr>
        </p:nvSpPr>
        <p:spPr/>
        <p:txBody>
          <a:bodyPr/>
          <a:lstStyle/>
          <a:p>
            <a:r>
              <a:rPr lang="en-US" dirty="0"/>
              <a:t>It should be noted that other cutoffs could be used. When testing those, the exclusion of a number of countries with around 99% would have led to a diminishing number of observations. </a:t>
            </a:r>
          </a:p>
          <a:p>
            <a:endParaRPr lang="en-US" dirty="0"/>
          </a:p>
          <a:p>
            <a:endParaRPr lang="en-US" dirty="0"/>
          </a:p>
        </p:txBody>
      </p:sp>
      <p:sp>
        <p:nvSpPr>
          <p:cNvPr id="4" name="Foliennummernplatzhalter 3">
            <a:extLst>
              <a:ext uri="{FF2B5EF4-FFF2-40B4-BE49-F238E27FC236}">
                <a16:creationId xmlns:a16="http://schemas.microsoft.com/office/drawing/2014/main" id="{07382772-FA09-E392-D17C-5FC92369B3E9}"/>
              </a:ext>
            </a:extLst>
          </p:cNvPr>
          <p:cNvSpPr>
            <a:spLocks noGrp="1"/>
          </p:cNvSpPr>
          <p:nvPr>
            <p:ph type="sldNum" sz="quarter" idx="5"/>
          </p:nvPr>
        </p:nvSpPr>
        <p:spPr/>
        <p:txBody>
          <a:bodyPr/>
          <a:lstStyle/>
          <a:p>
            <a:fld id="{D11C0EFE-F451-4C5C-B027-8D8F59ADCC86}" type="slidenum">
              <a:rPr lang="de-DE" smtClean="0"/>
              <a:pPr/>
              <a:t>11</a:t>
            </a:fld>
            <a:endParaRPr lang="de-DE" dirty="0"/>
          </a:p>
        </p:txBody>
      </p:sp>
    </p:spTree>
    <p:extLst>
      <p:ext uri="{BB962C8B-B14F-4D97-AF65-F5344CB8AC3E}">
        <p14:creationId xmlns:p14="http://schemas.microsoft.com/office/powerpoint/2010/main" val="18066475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12</a:t>
            </a:fld>
            <a:endParaRPr lang="de-DE" dirty="0"/>
          </a:p>
        </p:txBody>
      </p:sp>
    </p:spTree>
    <p:extLst>
      <p:ext uri="{BB962C8B-B14F-4D97-AF65-F5344CB8AC3E}">
        <p14:creationId xmlns:p14="http://schemas.microsoft.com/office/powerpoint/2010/main" val="2590794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1F808-8BAD-8A91-645D-A5F4CB33ABC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05341BC-1EF0-B1D1-EF87-5B009C2192B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D8B9A5B-417B-7770-53B5-EE9DB7E6AC2E}"/>
              </a:ext>
            </a:extLst>
          </p:cNvPr>
          <p:cNvSpPr>
            <a:spLocks noGrp="1"/>
          </p:cNvSpPr>
          <p:nvPr>
            <p:ph type="body" idx="1"/>
          </p:nvPr>
        </p:nvSpPr>
        <p:spPr/>
        <p:txBody>
          <a:bodyPr/>
          <a:lstStyle/>
          <a:p>
            <a:r>
              <a:rPr lang="en-US" dirty="0"/>
              <a:t>It should be noted that other cutoffs could be used. When testing those, the exclusion of a number of countries with around 99% would have led to a diminishing number of observations. </a:t>
            </a:r>
          </a:p>
          <a:p>
            <a:endParaRPr lang="en-US" dirty="0"/>
          </a:p>
          <a:p>
            <a:endParaRPr lang="en-US" dirty="0"/>
          </a:p>
        </p:txBody>
      </p:sp>
      <p:sp>
        <p:nvSpPr>
          <p:cNvPr id="4" name="Foliennummernplatzhalter 3">
            <a:extLst>
              <a:ext uri="{FF2B5EF4-FFF2-40B4-BE49-F238E27FC236}">
                <a16:creationId xmlns:a16="http://schemas.microsoft.com/office/drawing/2014/main" id="{612C260D-1E84-602C-8CB2-9387CB076EF5}"/>
              </a:ext>
            </a:extLst>
          </p:cNvPr>
          <p:cNvSpPr>
            <a:spLocks noGrp="1"/>
          </p:cNvSpPr>
          <p:nvPr>
            <p:ph type="sldNum" sz="quarter" idx="5"/>
          </p:nvPr>
        </p:nvSpPr>
        <p:spPr/>
        <p:txBody>
          <a:bodyPr/>
          <a:lstStyle/>
          <a:p>
            <a:fld id="{D11C0EFE-F451-4C5C-B027-8D8F59ADCC86}" type="slidenum">
              <a:rPr lang="de-DE" smtClean="0"/>
              <a:pPr/>
              <a:t>13</a:t>
            </a:fld>
            <a:endParaRPr lang="de-DE" dirty="0"/>
          </a:p>
        </p:txBody>
      </p:sp>
    </p:spTree>
    <p:extLst>
      <p:ext uri="{BB962C8B-B14F-4D97-AF65-F5344CB8AC3E}">
        <p14:creationId xmlns:p14="http://schemas.microsoft.com/office/powerpoint/2010/main" val="3649529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905F1-0C47-C0F9-FC76-BCDD83E9BCF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C19E30F-0D75-771A-48C9-D79161594026}"/>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D430681-9F29-738E-E138-70F907DA6EC5}"/>
              </a:ext>
            </a:extLst>
          </p:cNvPr>
          <p:cNvSpPr>
            <a:spLocks noGrp="1"/>
          </p:cNvSpPr>
          <p:nvPr>
            <p:ph type="body" idx="1"/>
          </p:nvPr>
        </p:nvSpPr>
        <p:spPr/>
        <p:txBody>
          <a:bodyPr/>
          <a:lstStyle/>
          <a:p>
            <a:r>
              <a:rPr lang="en-US" dirty="0"/>
              <a:t>It should be noted that other cutoffs could be used. When testing those, the exclusion of a number of countries with around 99% would have led to a diminishing number of observations. </a:t>
            </a:r>
          </a:p>
          <a:p>
            <a:endParaRPr lang="en-US" dirty="0"/>
          </a:p>
          <a:p>
            <a:endParaRPr lang="en-US" dirty="0"/>
          </a:p>
        </p:txBody>
      </p:sp>
      <p:sp>
        <p:nvSpPr>
          <p:cNvPr id="4" name="Foliennummernplatzhalter 3">
            <a:extLst>
              <a:ext uri="{FF2B5EF4-FFF2-40B4-BE49-F238E27FC236}">
                <a16:creationId xmlns:a16="http://schemas.microsoft.com/office/drawing/2014/main" id="{B43EACE3-B76E-F87D-F3A8-2F7A3259F8C3}"/>
              </a:ext>
            </a:extLst>
          </p:cNvPr>
          <p:cNvSpPr>
            <a:spLocks noGrp="1"/>
          </p:cNvSpPr>
          <p:nvPr>
            <p:ph type="sldNum" sz="quarter" idx="5"/>
          </p:nvPr>
        </p:nvSpPr>
        <p:spPr/>
        <p:txBody>
          <a:bodyPr/>
          <a:lstStyle/>
          <a:p>
            <a:fld id="{D11C0EFE-F451-4C5C-B027-8D8F59ADCC86}" type="slidenum">
              <a:rPr lang="de-DE" smtClean="0"/>
              <a:pPr/>
              <a:t>14</a:t>
            </a:fld>
            <a:endParaRPr lang="de-DE" dirty="0"/>
          </a:p>
        </p:txBody>
      </p:sp>
    </p:spTree>
    <p:extLst>
      <p:ext uri="{BB962C8B-B14F-4D97-AF65-F5344CB8AC3E}">
        <p14:creationId xmlns:p14="http://schemas.microsoft.com/office/powerpoint/2010/main" val="27797906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The </a:t>
            </a:r>
            <a:r>
              <a:rPr lang="de-DE" dirty="0" err="1"/>
              <a:t>autocorrelation</a:t>
            </a:r>
            <a:r>
              <a:rPr lang="de-DE" dirty="0"/>
              <a:t> </a:t>
            </a:r>
            <a:r>
              <a:rPr lang="de-DE" dirty="0" err="1"/>
              <a:t>decays</a:t>
            </a:r>
            <a:r>
              <a:rPr lang="de-DE" dirty="0"/>
              <a:t> </a:t>
            </a:r>
            <a:r>
              <a:rPr lang="de-DE" dirty="0" err="1"/>
              <a:t>quickly</a:t>
            </a:r>
            <a:r>
              <a:rPr lang="de-DE" dirty="0"/>
              <a:t> - a lag-1 </a:t>
            </a:r>
            <a:r>
              <a:rPr lang="de-DE" dirty="0" err="1"/>
              <a:t>around</a:t>
            </a:r>
            <a:r>
              <a:rPr lang="de-DE" dirty="0"/>
              <a:t> 0.49, </a:t>
            </a:r>
            <a:r>
              <a:rPr lang="de-DE" dirty="0" err="1"/>
              <a:t>gone</a:t>
            </a:r>
            <a:r>
              <a:rPr lang="de-DE" dirty="0"/>
              <a:t> </a:t>
            </a:r>
            <a:r>
              <a:rPr lang="de-DE" dirty="0" err="1"/>
              <a:t>within</a:t>
            </a:r>
            <a:r>
              <a:rPr lang="de-DE" dirty="0"/>
              <a:t> </a:t>
            </a:r>
            <a:r>
              <a:rPr lang="de-DE" dirty="0" err="1"/>
              <a:t>three</a:t>
            </a:r>
            <a:r>
              <a:rPr lang="de-DE" dirty="0"/>
              <a:t> </a:t>
            </a:r>
            <a:r>
              <a:rPr lang="de-DE" dirty="0" err="1"/>
              <a:t>or</a:t>
            </a:r>
            <a:r>
              <a:rPr lang="de-DE" dirty="0"/>
              <a:t> </a:t>
            </a:r>
            <a:r>
              <a:rPr lang="de-DE" dirty="0" err="1"/>
              <a:t>four</a:t>
            </a:r>
            <a:r>
              <a:rPr lang="de-DE" dirty="0"/>
              <a:t> lags - </a:t>
            </a:r>
            <a:r>
              <a:rPr lang="de-DE" dirty="0" err="1"/>
              <a:t>with</a:t>
            </a:r>
            <a:r>
              <a:rPr lang="de-DE" dirty="0"/>
              <a:t> </a:t>
            </a:r>
            <a:r>
              <a:rPr lang="de-DE" dirty="0" err="1"/>
              <a:t>only</a:t>
            </a:r>
            <a:r>
              <a:rPr lang="de-DE" dirty="0"/>
              <a:t> </a:t>
            </a:r>
            <a:r>
              <a:rPr lang="de-DE" dirty="0" err="1"/>
              <a:t>faint</a:t>
            </a:r>
            <a:r>
              <a:rPr lang="de-DE" dirty="0"/>
              <a:t> </a:t>
            </a:r>
            <a:r>
              <a:rPr lang="de-DE" dirty="0" err="1"/>
              <a:t>bumps</a:t>
            </a:r>
            <a:r>
              <a:rPr lang="de-DE" dirty="0"/>
              <a:t> </a:t>
            </a:r>
            <a:r>
              <a:rPr lang="de-DE" dirty="0" err="1"/>
              <a:t>near</a:t>
            </a:r>
            <a:r>
              <a:rPr lang="de-DE" dirty="0"/>
              <a:t> </a:t>
            </a:r>
            <a:r>
              <a:rPr lang="de-DE" dirty="0" err="1"/>
              <a:t>the</a:t>
            </a:r>
            <a:r>
              <a:rPr lang="de-DE" dirty="0"/>
              <a:t> annual lags (</a:t>
            </a:r>
            <a:r>
              <a:rPr lang="de-DE" dirty="0" err="1"/>
              <a:t>the</a:t>
            </a:r>
            <a:r>
              <a:rPr lang="de-DE" dirty="0"/>
              <a:t> ~0.7 and ~1.0 </a:t>
            </a:r>
            <a:r>
              <a:rPr lang="de-DE" dirty="0" err="1"/>
              <a:t>region</a:t>
            </a:r>
            <a:r>
              <a:rPr lang="de-DE" dirty="0"/>
              <a:t> on </a:t>
            </a:r>
            <a:r>
              <a:rPr lang="de-DE" dirty="0" err="1"/>
              <a:t>the</a:t>
            </a:r>
            <a:r>
              <a:rPr lang="de-DE" dirty="0"/>
              <a:t> </a:t>
            </a:r>
            <a:r>
              <a:rPr lang="de-DE" dirty="0" err="1"/>
              <a:t>year-scaled</a:t>
            </a:r>
            <a:r>
              <a:rPr lang="de-DE" dirty="0"/>
              <a:t> </a:t>
            </a:r>
            <a:r>
              <a:rPr lang="de-DE" dirty="0" err="1"/>
              <a:t>axis</a:t>
            </a:r>
            <a:r>
              <a:rPr lang="de-DE" dirty="0"/>
              <a:t>)</a:t>
            </a:r>
            <a:endParaRPr lang="en-US" dirty="0"/>
          </a:p>
          <a:p>
            <a:endParaRPr lang="en-US" dirty="0"/>
          </a:p>
          <a:p>
            <a:r>
              <a:rPr lang="en-US" dirty="0"/>
              <a:t>Even on the 2 year horizon, there is some significant, yearly autocorrelation spikes  that remain</a:t>
            </a:r>
          </a:p>
        </p:txBody>
      </p:sp>
      <p:sp>
        <p:nvSpPr>
          <p:cNvPr id="4" name="Foliennummernplatzhalter 3"/>
          <p:cNvSpPr>
            <a:spLocks noGrp="1"/>
          </p:cNvSpPr>
          <p:nvPr>
            <p:ph type="sldNum" sz="quarter" idx="5"/>
          </p:nvPr>
        </p:nvSpPr>
        <p:spPr/>
        <p:txBody>
          <a:bodyPr/>
          <a:lstStyle/>
          <a:p>
            <a:fld id="{D11C0EFE-F451-4C5C-B027-8D8F59ADCC86}" type="slidenum">
              <a:rPr lang="de-DE" smtClean="0"/>
              <a:pPr/>
              <a:t>15</a:t>
            </a:fld>
            <a:endParaRPr lang="de-DE" dirty="0"/>
          </a:p>
        </p:txBody>
      </p:sp>
    </p:spTree>
    <p:extLst>
      <p:ext uri="{BB962C8B-B14F-4D97-AF65-F5344CB8AC3E}">
        <p14:creationId xmlns:p14="http://schemas.microsoft.com/office/powerpoint/2010/main" val="10356977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 d=1.</a:t>
            </a:r>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20</a:t>
            </a:fld>
            <a:endParaRPr lang="de-DE" dirty="0"/>
          </a:p>
        </p:txBody>
      </p:sp>
    </p:spTree>
    <p:extLst>
      <p:ext uri="{BB962C8B-B14F-4D97-AF65-F5344CB8AC3E}">
        <p14:creationId xmlns:p14="http://schemas.microsoft.com/office/powerpoint/2010/main" val="37167378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85725" lvl="1" indent="0">
              <a:buNone/>
              <a:defRPr/>
            </a:pPr>
            <a:r>
              <a:rPr lang="de-DE" dirty="0"/>
              <a:t>SARIMA </a:t>
            </a:r>
            <a:r>
              <a:rPr lang="de-DE" dirty="0" err="1"/>
              <a:t>adequately</a:t>
            </a:r>
            <a:r>
              <a:rPr lang="de-DE" dirty="0"/>
              <a:t> </a:t>
            </a:r>
            <a:r>
              <a:rPr lang="de-DE" dirty="0" err="1"/>
              <a:t>captures</a:t>
            </a:r>
            <a:r>
              <a:rPr lang="de-DE" dirty="0"/>
              <a:t> </a:t>
            </a:r>
            <a:r>
              <a:rPr lang="de-DE" dirty="0" err="1"/>
              <a:t>the</a:t>
            </a:r>
            <a:r>
              <a:rPr lang="de-DE" dirty="0"/>
              <a:t> </a:t>
            </a:r>
            <a:r>
              <a:rPr lang="de-DE" b="1" dirty="0" err="1"/>
              <a:t>conditional</a:t>
            </a:r>
            <a:r>
              <a:rPr lang="de-DE" b="1" dirty="0"/>
              <a:t> </a:t>
            </a:r>
            <a:r>
              <a:rPr lang="de-DE" b="1" dirty="0" err="1"/>
              <a:t>mean</a:t>
            </a:r>
            <a:r>
              <a:rPr lang="de-DE" dirty="0"/>
              <a:t> </a:t>
            </a:r>
            <a:endParaRPr lang="en-GB" kern="0" dirty="0">
              <a:solidFill>
                <a:srgbClr val="000000"/>
              </a:solidFill>
              <a:latin typeface="Arial"/>
            </a:endParaRPr>
          </a:p>
          <a:p>
            <a:pPr marL="85725" lvl="1" indent="0">
              <a:buFont typeface="Wingdings" panose="05000000000000000000" pitchFamily="2" charset="2"/>
              <a:buNone/>
              <a:defRPr/>
            </a:pPr>
            <a:endParaRPr lang="en-GB" kern="0" dirty="0">
              <a:solidFill>
                <a:srgbClr val="000000"/>
              </a:solidFill>
              <a:latin typeface="Arial"/>
            </a:endParaRPr>
          </a:p>
          <a:p>
            <a:pPr marL="85725" lvl="1" indent="0">
              <a:buNone/>
              <a:defRPr/>
            </a:pPr>
            <a:r>
              <a:rPr lang="en-GB" kern="0" dirty="0">
                <a:solidFill>
                  <a:srgbClr val="000000"/>
                </a:solidFill>
                <a:latin typeface="Arial"/>
              </a:rPr>
              <a:t>4</a:t>
            </a:r>
          </a:p>
          <a:p>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22</a:t>
            </a:fld>
            <a:endParaRPr lang="de-DE" dirty="0"/>
          </a:p>
        </p:txBody>
      </p:sp>
    </p:spTree>
    <p:extLst>
      <p:ext uri="{BB962C8B-B14F-4D97-AF65-F5344CB8AC3E}">
        <p14:creationId xmlns:p14="http://schemas.microsoft.com/office/powerpoint/2010/main" val="4420686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EECA7-AE75-9894-A592-AF2164F0445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F081D35-9FB0-0516-7CDD-CCB983376C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20C47EA-A6E0-6C0C-841B-02121453C18D}"/>
              </a:ext>
            </a:extLst>
          </p:cNvPr>
          <p:cNvSpPr>
            <a:spLocks noGrp="1"/>
          </p:cNvSpPr>
          <p:nvPr>
            <p:ph type="body" idx="1"/>
          </p:nvPr>
        </p:nvSpPr>
        <p:spPr/>
        <p:txBody>
          <a:bodyPr/>
          <a:lstStyle/>
          <a:p>
            <a:r>
              <a:rPr lang="de-DE" dirty="0"/>
              <a:t>The </a:t>
            </a:r>
            <a:r>
              <a:rPr lang="de-DE" dirty="0" err="1"/>
              <a:t>book</a:t>
            </a:r>
            <a:r>
              <a:rPr lang="de-DE" dirty="0"/>
              <a:t> </a:t>
            </a:r>
            <a:r>
              <a:rPr lang="de-DE" dirty="0" err="1"/>
              <a:t>is</a:t>
            </a:r>
            <a:r>
              <a:rPr lang="de-DE" dirty="0"/>
              <a:t> </a:t>
            </a:r>
            <a:r>
              <a:rPr lang="de-DE" dirty="0" err="1"/>
              <a:t>careful</a:t>
            </a:r>
            <a:r>
              <a:rPr lang="de-DE" dirty="0"/>
              <a:t>: </a:t>
            </a:r>
            <a:r>
              <a:rPr lang="de-DE" dirty="0" err="1"/>
              <a:t>if</a:t>
            </a:r>
            <a:r>
              <a:rPr lang="de-DE" dirty="0"/>
              <a:t> </a:t>
            </a:r>
            <a:r>
              <a:rPr lang="de-DE" dirty="0" err="1"/>
              <a:t>the</a:t>
            </a:r>
            <a:r>
              <a:rPr lang="de-DE" dirty="0"/>
              <a:t> </a:t>
            </a:r>
            <a:r>
              <a:rPr lang="de-DE" dirty="0" err="1"/>
              <a:t>variance</a:t>
            </a:r>
            <a:r>
              <a:rPr lang="de-DE" dirty="0"/>
              <a:t> </a:t>
            </a:r>
            <a:r>
              <a:rPr lang="de-DE" dirty="0" err="1"/>
              <a:t>grows</a:t>
            </a:r>
            <a:r>
              <a:rPr lang="de-DE" dirty="0"/>
              <a:t> </a:t>
            </a:r>
            <a:r>
              <a:rPr lang="de-DE" i="1" dirty="0" err="1"/>
              <a:t>with</a:t>
            </a:r>
            <a:r>
              <a:rPr lang="de-DE" i="1" dirty="0"/>
              <a:t> </a:t>
            </a:r>
            <a:r>
              <a:rPr lang="de-DE" i="1" dirty="0" err="1"/>
              <a:t>the</a:t>
            </a:r>
            <a:r>
              <a:rPr lang="de-DE" i="1" dirty="0"/>
              <a:t> </a:t>
            </a:r>
            <a:r>
              <a:rPr lang="de-DE" i="1" dirty="0" err="1"/>
              <a:t>trend</a:t>
            </a:r>
            <a:r>
              <a:rPr lang="de-DE" dirty="0"/>
              <a:t> (</a:t>
            </a:r>
            <a:r>
              <a:rPr lang="de-DE" dirty="0" err="1"/>
              <a:t>as</a:t>
            </a:r>
            <a:r>
              <a:rPr lang="de-DE" dirty="0"/>
              <a:t> in </a:t>
            </a:r>
            <a:r>
              <a:rPr lang="de-DE" dirty="0" err="1"/>
              <a:t>the</a:t>
            </a:r>
            <a:r>
              <a:rPr lang="de-DE" dirty="0"/>
              <a:t> </a:t>
            </a:r>
            <a:r>
              <a:rPr lang="de-DE" dirty="0" err="1"/>
              <a:t>airline</a:t>
            </a:r>
            <a:r>
              <a:rPr lang="de-DE" dirty="0"/>
              <a:t>/</a:t>
            </a:r>
            <a:r>
              <a:rPr lang="de-DE" dirty="0" err="1"/>
              <a:t>electricity</a:t>
            </a:r>
            <a:r>
              <a:rPr lang="de-DE" dirty="0"/>
              <a:t> </a:t>
            </a:r>
            <a:r>
              <a:rPr lang="de-DE" dirty="0" err="1"/>
              <a:t>series</a:t>
            </a:r>
            <a:r>
              <a:rPr lang="de-DE" dirty="0"/>
              <a:t>), </a:t>
            </a:r>
            <a:r>
              <a:rPr lang="de-DE" dirty="0" err="1"/>
              <a:t>that's</a:t>
            </a:r>
            <a:r>
              <a:rPr lang="de-DE" dirty="0"/>
              <a:t> </a:t>
            </a:r>
            <a:r>
              <a:rPr lang="de-DE" dirty="0" err="1"/>
              <a:t>ordinary</a:t>
            </a:r>
            <a:r>
              <a:rPr lang="de-DE" dirty="0"/>
              <a:t> </a:t>
            </a:r>
            <a:r>
              <a:rPr lang="de-DE" b="1" dirty="0" err="1"/>
              <a:t>heteroskedasticity</a:t>
            </a:r>
            <a:r>
              <a:rPr lang="de-DE" dirty="0"/>
              <a:t>, </a:t>
            </a:r>
            <a:r>
              <a:rPr lang="de-DE" dirty="0" err="1"/>
              <a:t>which</a:t>
            </a:r>
            <a:r>
              <a:rPr lang="de-DE" dirty="0"/>
              <a:t> </a:t>
            </a:r>
            <a:r>
              <a:rPr lang="de-DE" dirty="0" err="1"/>
              <a:t>you</a:t>
            </a:r>
            <a:r>
              <a:rPr lang="de-DE" dirty="0"/>
              <a:t> fix </a:t>
            </a:r>
            <a:r>
              <a:rPr lang="de-DE" dirty="0" err="1"/>
              <a:t>with</a:t>
            </a:r>
            <a:r>
              <a:rPr lang="de-DE" dirty="0"/>
              <a:t> a log. </a:t>
            </a:r>
            <a:r>
              <a:rPr lang="de-DE" dirty="0" err="1"/>
              <a:t>If</a:t>
            </a:r>
            <a:r>
              <a:rPr lang="de-DE" dirty="0"/>
              <a:t> </a:t>
            </a:r>
            <a:r>
              <a:rPr lang="de-DE" dirty="0" err="1"/>
              <a:t>the</a:t>
            </a:r>
            <a:r>
              <a:rPr lang="de-DE" dirty="0"/>
              <a:t> </a:t>
            </a:r>
            <a:r>
              <a:rPr lang="de-DE" dirty="0" err="1"/>
              <a:t>variance</a:t>
            </a:r>
            <a:r>
              <a:rPr lang="de-DE" dirty="0"/>
              <a:t> </a:t>
            </a:r>
            <a:r>
              <a:rPr lang="de-DE" dirty="0" err="1"/>
              <a:t>is</a:t>
            </a:r>
            <a:r>
              <a:rPr lang="de-DE" dirty="0"/>
              <a:t> </a:t>
            </a:r>
            <a:r>
              <a:rPr lang="de-DE" i="1" dirty="0" err="1"/>
              <a:t>correlated</a:t>
            </a:r>
            <a:r>
              <a:rPr lang="de-DE" i="1" dirty="0"/>
              <a:t> in time</a:t>
            </a:r>
            <a:r>
              <a:rPr lang="de-DE" dirty="0"/>
              <a:t> — </a:t>
            </a:r>
            <a:r>
              <a:rPr lang="de-DE" dirty="0" err="1"/>
              <a:t>quiet</a:t>
            </a:r>
            <a:r>
              <a:rPr lang="de-DE" dirty="0"/>
              <a:t> </a:t>
            </a:r>
            <a:r>
              <a:rPr lang="de-DE" dirty="0" err="1"/>
              <a:t>periods</a:t>
            </a:r>
            <a:r>
              <a:rPr lang="de-DE" dirty="0"/>
              <a:t> and violent </a:t>
            </a:r>
            <a:r>
              <a:rPr lang="de-DE" dirty="0" err="1"/>
              <a:t>periods</a:t>
            </a:r>
            <a:r>
              <a:rPr lang="de-DE" dirty="0"/>
              <a:t> </a:t>
            </a:r>
            <a:r>
              <a:rPr lang="de-DE" dirty="0" err="1"/>
              <a:t>clustering</a:t>
            </a:r>
            <a:r>
              <a:rPr lang="de-DE" dirty="0"/>
              <a:t> — </a:t>
            </a:r>
            <a:r>
              <a:rPr lang="de-DE" dirty="0" err="1"/>
              <a:t>that's</a:t>
            </a:r>
            <a:r>
              <a:rPr lang="de-DE" dirty="0"/>
              <a:t> </a:t>
            </a:r>
            <a:r>
              <a:rPr lang="de-DE" b="1" dirty="0" err="1"/>
              <a:t>conditional</a:t>
            </a:r>
            <a:r>
              <a:rPr lang="de-DE" b="1" dirty="0"/>
              <a:t> </a:t>
            </a:r>
            <a:r>
              <a:rPr lang="de-DE" b="1" dirty="0" err="1"/>
              <a:t>heteroskedasticity</a:t>
            </a:r>
            <a:r>
              <a:rPr lang="de-DE" b="1" dirty="0"/>
              <a:t> / </a:t>
            </a:r>
            <a:r>
              <a:rPr lang="de-DE" b="1" dirty="0" err="1"/>
              <a:t>volatility</a:t>
            </a:r>
            <a:r>
              <a:rPr lang="de-DE" dirty="0"/>
              <a:t>, </a:t>
            </a:r>
            <a:r>
              <a:rPr lang="de-DE" dirty="0" err="1"/>
              <a:t>which</a:t>
            </a:r>
            <a:r>
              <a:rPr lang="de-DE" dirty="0"/>
              <a:t> </a:t>
            </a:r>
            <a:r>
              <a:rPr lang="de-DE" dirty="0" err="1"/>
              <a:t>needs</a:t>
            </a:r>
            <a:r>
              <a:rPr lang="de-DE" dirty="0"/>
              <a:t> GARCH. </a:t>
            </a:r>
            <a:r>
              <a:rPr lang="de-DE" dirty="0" err="1"/>
              <a:t>That</a:t>
            </a:r>
            <a:r>
              <a:rPr lang="de-DE" dirty="0"/>
              <a:t> </a:t>
            </a:r>
            <a:r>
              <a:rPr lang="de-DE" dirty="0" err="1"/>
              <a:t>distinction</a:t>
            </a:r>
            <a:r>
              <a:rPr lang="de-DE" dirty="0"/>
              <a:t> </a:t>
            </a:r>
            <a:r>
              <a:rPr lang="de-DE" dirty="0" err="1"/>
              <a:t>is</a:t>
            </a:r>
            <a:r>
              <a:rPr lang="de-DE" dirty="0"/>
              <a:t> </a:t>
            </a:r>
            <a:r>
              <a:rPr lang="de-DE" dirty="0" err="1"/>
              <a:t>precisely</a:t>
            </a:r>
            <a:r>
              <a:rPr lang="de-DE" dirty="0"/>
              <a:t> </a:t>
            </a:r>
            <a:r>
              <a:rPr lang="de-DE" dirty="0" err="1"/>
              <a:t>your</a:t>
            </a:r>
            <a:r>
              <a:rPr lang="de-DE" dirty="0"/>
              <a:t> </a:t>
            </a:r>
            <a:r>
              <a:rPr lang="de-DE" dirty="0" err="1"/>
              <a:t>two-step</a:t>
            </a:r>
            <a:r>
              <a:rPr lang="de-DE" dirty="0"/>
              <a:t> </a:t>
            </a:r>
            <a:r>
              <a:rPr lang="de-DE" dirty="0" err="1"/>
              <a:t>story</a:t>
            </a:r>
            <a:r>
              <a:rPr lang="de-DE" dirty="0"/>
              <a:t>: </a:t>
            </a:r>
            <a:r>
              <a:rPr lang="de-DE" dirty="0" err="1"/>
              <a:t>the</a:t>
            </a:r>
            <a:r>
              <a:rPr lang="de-DE" dirty="0"/>
              <a:t> log </a:t>
            </a:r>
            <a:r>
              <a:rPr lang="de-DE" dirty="0" err="1"/>
              <a:t>handled</a:t>
            </a:r>
            <a:r>
              <a:rPr lang="de-DE" dirty="0"/>
              <a:t> </a:t>
            </a:r>
            <a:r>
              <a:rPr lang="de-DE" dirty="0" err="1"/>
              <a:t>the</a:t>
            </a:r>
            <a:r>
              <a:rPr lang="de-DE" dirty="0"/>
              <a:t> </a:t>
            </a:r>
            <a:r>
              <a:rPr lang="de-DE" dirty="0" err="1"/>
              <a:t>level-scaling</a:t>
            </a:r>
            <a:r>
              <a:rPr lang="de-DE" dirty="0"/>
              <a:t> </a:t>
            </a:r>
            <a:r>
              <a:rPr lang="de-DE" dirty="0" err="1"/>
              <a:t>heteroskedasticity</a:t>
            </a:r>
            <a:r>
              <a:rPr lang="de-DE" dirty="0"/>
              <a:t>, and GARCH </a:t>
            </a:r>
            <a:r>
              <a:rPr lang="de-DE" dirty="0" err="1"/>
              <a:t>handles</a:t>
            </a:r>
            <a:r>
              <a:rPr lang="de-DE" dirty="0"/>
              <a:t> </a:t>
            </a:r>
            <a:r>
              <a:rPr lang="de-DE" dirty="0" err="1"/>
              <a:t>the</a:t>
            </a:r>
            <a:r>
              <a:rPr lang="de-DE" dirty="0"/>
              <a:t> </a:t>
            </a:r>
            <a:r>
              <a:rPr lang="de-DE" dirty="0" err="1"/>
              <a:t>remaining</a:t>
            </a:r>
            <a:r>
              <a:rPr lang="de-DE" dirty="0"/>
              <a:t> </a:t>
            </a:r>
            <a:r>
              <a:rPr lang="de-DE" dirty="0" err="1"/>
              <a:t>clustering</a:t>
            </a:r>
            <a:r>
              <a:rPr lang="de-DE" dirty="0"/>
              <a:t>. </a:t>
            </a:r>
            <a:endParaRPr lang="en-US" dirty="0"/>
          </a:p>
        </p:txBody>
      </p:sp>
      <p:sp>
        <p:nvSpPr>
          <p:cNvPr id="4" name="Foliennummernplatzhalter 3">
            <a:extLst>
              <a:ext uri="{FF2B5EF4-FFF2-40B4-BE49-F238E27FC236}">
                <a16:creationId xmlns:a16="http://schemas.microsoft.com/office/drawing/2014/main" id="{3E571637-16CA-0B66-1347-FDD93159F9C3}"/>
              </a:ext>
            </a:extLst>
          </p:cNvPr>
          <p:cNvSpPr>
            <a:spLocks noGrp="1"/>
          </p:cNvSpPr>
          <p:nvPr>
            <p:ph type="sldNum" sz="quarter" idx="5"/>
          </p:nvPr>
        </p:nvSpPr>
        <p:spPr/>
        <p:txBody>
          <a:bodyPr/>
          <a:lstStyle/>
          <a:p>
            <a:fld id="{D11C0EFE-F451-4C5C-B027-8D8F59ADCC86}" type="slidenum">
              <a:rPr lang="de-DE" smtClean="0"/>
              <a:pPr/>
              <a:t>23</a:t>
            </a:fld>
            <a:endParaRPr lang="de-DE" dirty="0"/>
          </a:p>
        </p:txBody>
      </p:sp>
    </p:spTree>
    <p:extLst>
      <p:ext uri="{BB962C8B-B14F-4D97-AF65-F5344CB8AC3E}">
        <p14:creationId xmlns:p14="http://schemas.microsoft.com/office/powerpoint/2010/main" val="35999270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ability</a:t>
            </a:r>
            <a:r>
              <a:rPr lang="de-DE" dirty="0"/>
              <a:t> </a:t>
            </a:r>
            <a:r>
              <a:rPr lang="de-DE" dirty="0" err="1"/>
              <a:t>to</a:t>
            </a:r>
            <a:r>
              <a:rPr lang="de-DE" dirty="0"/>
              <a:t> </a:t>
            </a:r>
            <a:r>
              <a:rPr lang="de-DE" dirty="0" err="1"/>
              <a:t>finance</a:t>
            </a:r>
            <a:r>
              <a:rPr lang="de-DE" dirty="0"/>
              <a:t>, </a:t>
            </a:r>
            <a:r>
              <a:rPr lang="de-DE" dirty="0" err="1"/>
              <a:t>maintain</a:t>
            </a:r>
            <a:r>
              <a:rPr lang="de-DE" dirty="0"/>
              <a:t>, and </a:t>
            </a:r>
            <a:r>
              <a:rPr lang="de-DE" dirty="0" err="1"/>
              <a:t>utilize</a:t>
            </a:r>
            <a:r>
              <a:rPr lang="de-DE" dirty="0"/>
              <a:t> massive </a:t>
            </a:r>
            <a:r>
              <a:rPr lang="de-DE" dirty="0" err="1"/>
              <a:t>projects</a:t>
            </a:r>
            <a:r>
              <a:rPr lang="de-DE" dirty="0"/>
              <a:t> </a:t>
            </a:r>
            <a:r>
              <a:rPr lang="de-DE" dirty="0" err="1"/>
              <a:t>typically</a:t>
            </a:r>
            <a:r>
              <a:rPr lang="de-DE" dirty="0"/>
              <a:t> </a:t>
            </a:r>
            <a:r>
              <a:rPr lang="de-DE" dirty="0" err="1"/>
              <a:t>requires</a:t>
            </a:r>
            <a:r>
              <a:rPr lang="de-DE" dirty="0"/>
              <a:t> a </a:t>
            </a:r>
            <a:r>
              <a:rPr lang="de-DE" dirty="0" err="1"/>
              <a:t>certain</a:t>
            </a:r>
            <a:r>
              <a:rPr lang="de-DE" dirty="0"/>
              <a:t> </a:t>
            </a:r>
            <a:r>
              <a:rPr lang="de-DE" dirty="0" err="1"/>
              <a:t>level</a:t>
            </a:r>
            <a:r>
              <a:rPr lang="de-DE" dirty="0"/>
              <a:t> </a:t>
            </a:r>
            <a:r>
              <a:rPr lang="de-DE" dirty="0" err="1"/>
              <a:t>of</a:t>
            </a:r>
            <a:r>
              <a:rPr lang="de-DE" dirty="0"/>
              <a:t> </a:t>
            </a:r>
            <a:r>
              <a:rPr lang="de-DE" dirty="0" err="1"/>
              <a:t>economic</a:t>
            </a:r>
            <a:r>
              <a:rPr lang="de-DE" dirty="0"/>
              <a:t> </a:t>
            </a:r>
            <a:r>
              <a:rPr lang="de-DE" dirty="0" err="1"/>
              <a:t>maturity</a:t>
            </a:r>
            <a:r>
              <a:rPr lang="de-DE" dirty="0"/>
              <a:t>.</a:t>
            </a:r>
            <a:endParaRPr lang="en-US" dirty="0"/>
          </a:p>
        </p:txBody>
      </p:sp>
      <p:sp>
        <p:nvSpPr>
          <p:cNvPr id="4" name="Foliennummernplatzhalter 3"/>
          <p:cNvSpPr>
            <a:spLocks noGrp="1"/>
          </p:cNvSpPr>
          <p:nvPr>
            <p:ph type="sldNum" sz="quarter" idx="5"/>
          </p:nvPr>
        </p:nvSpPr>
        <p:spPr/>
        <p:txBody>
          <a:bodyPr/>
          <a:lstStyle/>
          <a:p>
            <a:fld id="{D11C0EFE-F451-4C5C-B027-8D8F59ADCC86}" type="slidenum">
              <a:rPr lang="de-DE" smtClean="0"/>
              <a:pPr/>
              <a:t>24</a:t>
            </a:fld>
            <a:endParaRPr lang="de-DE" dirty="0"/>
          </a:p>
        </p:txBody>
      </p:sp>
    </p:spTree>
    <p:extLst>
      <p:ext uri="{BB962C8B-B14F-4D97-AF65-F5344CB8AC3E}">
        <p14:creationId xmlns:p14="http://schemas.microsoft.com/office/powerpoint/2010/main" val="1185791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a:t>Ideally, the model would include the rural population density. This variable is hard to extract from the variables that are given in the world bank database. IV might suffer from some form of selection bias.</a:t>
            </a:r>
          </a:p>
        </p:txBody>
      </p:sp>
      <p:sp>
        <p:nvSpPr>
          <p:cNvPr id="4" name="Foliennummernplatzhalter 3"/>
          <p:cNvSpPr>
            <a:spLocks noGrp="1"/>
          </p:cNvSpPr>
          <p:nvPr>
            <p:ph type="sldNum" sz="quarter" idx="5"/>
          </p:nvPr>
        </p:nvSpPr>
        <p:spPr/>
        <p:txBody>
          <a:bodyPr/>
          <a:lstStyle/>
          <a:p>
            <a:fld id="{D11C0EFE-F451-4C5C-B027-8D8F59ADCC86}" type="slidenum">
              <a:rPr lang="de-DE" smtClean="0"/>
              <a:pPr/>
              <a:t>25</a:t>
            </a:fld>
            <a:endParaRPr lang="de-DE" dirty="0"/>
          </a:p>
        </p:txBody>
      </p:sp>
    </p:spTree>
    <p:extLst>
      <p:ext uri="{BB962C8B-B14F-4D97-AF65-F5344CB8AC3E}">
        <p14:creationId xmlns:p14="http://schemas.microsoft.com/office/powerpoint/2010/main" val="8808309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73495-4923-DD98-8ED3-4FBDFD1D6B5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3DD587F-8F76-9346-9EF3-0E38062F909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1446506-11C2-6E43-257F-7A991E8A1AE6}"/>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3724CA39-A98E-5158-E3F0-9218668699BA}"/>
              </a:ext>
            </a:extLst>
          </p:cNvPr>
          <p:cNvSpPr>
            <a:spLocks noGrp="1"/>
          </p:cNvSpPr>
          <p:nvPr>
            <p:ph type="sldNum" sz="quarter" idx="5"/>
          </p:nvPr>
        </p:nvSpPr>
        <p:spPr/>
        <p:txBody>
          <a:bodyPr/>
          <a:lstStyle/>
          <a:p>
            <a:fld id="{D11C0EFE-F451-4C5C-B027-8D8F59ADCC86}" type="slidenum">
              <a:rPr lang="de-DE" smtClean="0"/>
              <a:pPr/>
              <a:t>26</a:t>
            </a:fld>
            <a:endParaRPr lang="de-DE" dirty="0"/>
          </a:p>
        </p:txBody>
      </p:sp>
    </p:spTree>
    <p:extLst>
      <p:ext uri="{BB962C8B-B14F-4D97-AF65-F5344CB8AC3E}">
        <p14:creationId xmlns:p14="http://schemas.microsoft.com/office/powerpoint/2010/main" val="9048509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413E0-A411-91E2-656D-941FA379A9C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5B4597F-B604-26F8-49CC-6A5AD093DF4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D2E25A6-600A-E39F-C971-0C95285093E0}"/>
              </a:ext>
            </a:extLst>
          </p:cNvPr>
          <p:cNvSpPr>
            <a:spLocks noGrp="1"/>
          </p:cNvSpPr>
          <p:nvPr>
            <p:ph type="body" idx="1"/>
          </p:nvPr>
        </p:nvSpPr>
        <p:spPr/>
        <p:txBody>
          <a:bodyPr/>
          <a:lstStyle/>
          <a:p>
            <a:r>
              <a:rPr lang="en-US" dirty="0"/>
              <a:t>Ideally, the model would include the rural population density. This variable is hard to extract from the variables that are given in the world bank database. IV might suffer from some form </a:t>
            </a:r>
            <a:r>
              <a:rPr lang="en-US"/>
              <a:t>of selection bias.</a:t>
            </a:r>
            <a:endParaRPr lang="en-US" dirty="0"/>
          </a:p>
        </p:txBody>
      </p:sp>
      <p:sp>
        <p:nvSpPr>
          <p:cNvPr id="4" name="Foliennummernplatzhalter 3">
            <a:extLst>
              <a:ext uri="{FF2B5EF4-FFF2-40B4-BE49-F238E27FC236}">
                <a16:creationId xmlns:a16="http://schemas.microsoft.com/office/drawing/2014/main" id="{DAE26293-BA6C-CFC8-936F-489224253476}"/>
              </a:ext>
            </a:extLst>
          </p:cNvPr>
          <p:cNvSpPr>
            <a:spLocks noGrp="1"/>
          </p:cNvSpPr>
          <p:nvPr>
            <p:ph type="sldNum" sz="quarter" idx="5"/>
          </p:nvPr>
        </p:nvSpPr>
        <p:spPr/>
        <p:txBody>
          <a:bodyPr/>
          <a:lstStyle/>
          <a:p>
            <a:fld id="{D11C0EFE-F451-4C5C-B027-8D8F59ADCC86}" type="slidenum">
              <a:rPr lang="de-DE" smtClean="0"/>
              <a:pPr/>
              <a:t>27</a:t>
            </a:fld>
            <a:endParaRPr lang="de-DE" dirty="0"/>
          </a:p>
        </p:txBody>
      </p:sp>
    </p:spTree>
    <p:extLst>
      <p:ext uri="{BB962C8B-B14F-4D97-AF65-F5344CB8AC3E}">
        <p14:creationId xmlns:p14="http://schemas.microsoft.com/office/powerpoint/2010/main" val="3769981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22960" y="2130426"/>
            <a:ext cx="9326880" cy="1200316"/>
          </a:xfrm>
          <a:prstGeom prst="rect">
            <a:avLst/>
          </a:prstGeom>
        </p:spPr>
        <p:txBody>
          <a:bodyPr/>
          <a:lstStyle>
            <a:lvl1pPr algn="ctr">
              <a:defRPr sz="3600" b="0">
                <a:solidFill>
                  <a:srgbClr val="038A5E"/>
                </a:solidFill>
              </a:defRPr>
            </a:lvl1pPr>
          </a:lstStyle>
          <a:p>
            <a:r>
              <a:rPr lang="de-DE" dirty="0"/>
              <a:t>Titelmasterformat durch Klicken bearbeiten</a:t>
            </a:r>
          </a:p>
        </p:txBody>
      </p:sp>
      <p:sp>
        <p:nvSpPr>
          <p:cNvPr id="3" name="Untertitel 2"/>
          <p:cNvSpPr>
            <a:spLocks noGrp="1"/>
          </p:cNvSpPr>
          <p:nvPr>
            <p:ph type="subTitle" idx="1"/>
          </p:nvPr>
        </p:nvSpPr>
        <p:spPr>
          <a:xfrm>
            <a:off x="1645920" y="3886200"/>
            <a:ext cx="7680960" cy="307764"/>
          </a:xfrm>
          <a:prstGeom prst="rect">
            <a:avLst/>
          </a:prstGeom>
        </p:spPr>
        <p:txBody>
          <a:bodyPr/>
          <a:lstStyle>
            <a:lvl1pPr marL="0" indent="0" algn="ctr">
              <a:buNone/>
              <a:defRPr sz="16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p>
        </p:txBody>
      </p:sp>
    </p:spTree>
    <p:extLst>
      <p:ext uri="{BB962C8B-B14F-4D97-AF65-F5344CB8AC3E}">
        <p14:creationId xmlns:p14="http://schemas.microsoft.com/office/powerpoint/2010/main" val="38444205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Zwischenfolie">
    <p:spTree>
      <p:nvGrpSpPr>
        <p:cNvPr id="1" name=""/>
        <p:cNvGrpSpPr/>
        <p:nvPr/>
      </p:nvGrpSpPr>
      <p:grpSpPr>
        <a:xfrm>
          <a:off x="0" y="0"/>
          <a:ext cx="0" cy="0"/>
          <a:chOff x="0" y="0"/>
          <a:chExt cx="0" cy="0"/>
        </a:xfrm>
      </p:grpSpPr>
      <p:sp>
        <p:nvSpPr>
          <p:cNvPr id="4" name="Titel 1"/>
          <p:cNvSpPr>
            <a:spLocks noGrp="1"/>
          </p:cNvSpPr>
          <p:nvPr>
            <p:ph type="ctrTitle"/>
          </p:nvPr>
        </p:nvSpPr>
        <p:spPr>
          <a:xfrm>
            <a:off x="821202" y="3103549"/>
            <a:ext cx="9326880" cy="1200316"/>
          </a:xfrm>
          <a:prstGeom prst="rect">
            <a:avLst/>
          </a:prstGeom>
        </p:spPr>
        <p:txBody>
          <a:bodyPr/>
          <a:lstStyle>
            <a:lvl1pPr algn="ctr">
              <a:defRPr sz="2800" b="0">
                <a:solidFill>
                  <a:srgbClr val="038A5E"/>
                </a:solidFill>
              </a:defRPr>
            </a:lvl1pPr>
          </a:lstStyle>
          <a:p>
            <a:r>
              <a:rPr lang="de-DE" dirty="0"/>
              <a:t>Titelmasterformat durch Klicken bearbeiten</a:t>
            </a:r>
          </a:p>
        </p:txBody>
      </p:sp>
      <p:sp>
        <p:nvSpPr>
          <p:cNvPr id="7" name="Untertitel 2"/>
          <p:cNvSpPr>
            <a:spLocks noGrp="1"/>
          </p:cNvSpPr>
          <p:nvPr>
            <p:ph type="subTitle" idx="1"/>
          </p:nvPr>
        </p:nvSpPr>
        <p:spPr>
          <a:xfrm>
            <a:off x="809603" y="4372761"/>
            <a:ext cx="9347013" cy="878747"/>
          </a:xfrm>
          <a:prstGeom prst="rect">
            <a:avLst/>
          </a:prstGeom>
        </p:spPr>
        <p:txBody>
          <a:bodyPr/>
          <a:lstStyle>
            <a:lvl1pPr marL="0" indent="0" algn="ctr">
              <a:buNone/>
              <a:defRPr sz="20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p>
        </p:txBody>
      </p:sp>
    </p:spTree>
    <p:extLst>
      <p:ext uri="{BB962C8B-B14F-4D97-AF65-F5344CB8AC3E}">
        <p14:creationId xmlns:p14="http://schemas.microsoft.com/office/powerpoint/2010/main" val="3927009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tandardfolie">
    <p:spTree>
      <p:nvGrpSpPr>
        <p:cNvPr id="1" name=""/>
        <p:cNvGrpSpPr/>
        <p:nvPr/>
      </p:nvGrpSpPr>
      <p:grpSpPr>
        <a:xfrm>
          <a:off x="0" y="0"/>
          <a:ext cx="0" cy="0"/>
          <a:chOff x="0" y="0"/>
          <a:chExt cx="0" cy="0"/>
        </a:xfrm>
      </p:grpSpPr>
      <p:sp>
        <p:nvSpPr>
          <p:cNvPr id="5" name="Titel 1"/>
          <p:cNvSpPr>
            <a:spLocks noGrp="1"/>
          </p:cNvSpPr>
          <p:nvPr>
            <p:ph type="title"/>
          </p:nvPr>
        </p:nvSpPr>
        <p:spPr>
          <a:xfrm>
            <a:off x="320041" y="91115"/>
            <a:ext cx="8117478" cy="583666"/>
          </a:xfrm>
          <a:prstGeom prst="rect">
            <a:avLst/>
          </a:prstGeom>
        </p:spPr>
        <p:txBody>
          <a:bodyPr lIns="108000" tIns="36000" rIns="108000" bIns="0" anchor="b" anchorCtr="0"/>
          <a:lstStyle>
            <a:lvl1pPr>
              <a:defRPr sz="1800" b="0">
                <a:solidFill>
                  <a:schemeClr val="tx1"/>
                </a:solidFill>
              </a:defRPr>
            </a:lvl1pPr>
          </a:lstStyle>
          <a:p>
            <a:r>
              <a:rPr lang="de-DE" dirty="0"/>
              <a:t>Titelmasterformat durch Klicken bearbeiten</a:t>
            </a:r>
          </a:p>
        </p:txBody>
      </p:sp>
      <p:sp>
        <p:nvSpPr>
          <p:cNvPr id="7" name="Textplatzhalter 3"/>
          <p:cNvSpPr>
            <a:spLocks noGrp="1"/>
          </p:cNvSpPr>
          <p:nvPr>
            <p:ph type="body" sz="quarter" idx="11"/>
          </p:nvPr>
        </p:nvSpPr>
        <p:spPr>
          <a:xfrm>
            <a:off x="320040" y="976595"/>
            <a:ext cx="10330962" cy="4074906"/>
          </a:xfrm>
          <a:prstGeom prst="rect">
            <a:avLst/>
          </a:prstGeom>
        </p:spPr>
        <p:txBody>
          <a:bodyPr/>
          <a:lstStyle>
            <a:lvl1pPr>
              <a:defRPr sz="1800" b="1">
                <a:solidFill>
                  <a:srgbClr val="038A5E"/>
                </a:solidFill>
              </a:defRPr>
            </a:lvl1pPr>
            <a:lvl2pPr marL="268288" indent="-182563">
              <a:buClr>
                <a:srgbClr val="038A5E"/>
              </a:buClr>
              <a:buFont typeface="Wingdings" panose="05000000000000000000" pitchFamily="2" charset="2"/>
              <a:buChar char="§"/>
              <a:tabLst>
                <a:tab pos="182563" algn="l"/>
              </a:tabLst>
              <a:defRPr sz="1600">
                <a:solidFill>
                  <a:schemeClr val="tx1"/>
                </a:solidFill>
              </a:defRPr>
            </a:lvl2pPr>
            <a:lvl3pPr marL="538163" indent="-182563">
              <a:buClr>
                <a:srgbClr val="038A5E"/>
              </a:buClr>
              <a:buFont typeface="Symbol" panose="05050102010706020507" pitchFamily="18" charset="2"/>
              <a:buChar char="-"/>
              <a:defRPr sz="1600">
                <a:solidFill>
                  <a:schemeClr val="tx1"/>
                </a:solidFill>
              </a:defRPr>
            </a:lvl3pPr>
            <a:lvl4pPr marL="892175" indent="-171450" defTabSz="989013">
              <a:buClr>
                <a:srgbClr val="038A5E"/>
              </a:buClr>
              <a:buFont typeface="Courier New" panose="02070309020205020404" pitchFamily="49" charset="0"/>
              <a:buChar char="o"/>
              <a:defRPr sz="1600">
                <a:solidFill>
                  <a:schemeClr val="tx1"/>
                </a:solidFill>
              </a:defRPr>
            </a:lvl4pPr>
            <a:lvl5pPr marL="1258888" indent="-182563">
              <a:buClr>
                <a:srgbClr val="038A5E"/>
              </a:buClr>
              <a:buFont typeface="Arial" panose="020B0604020202020204" pitchFamily="34" charset="0"/>
              <a:buChar char="•"/>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p:cNvSpPr>
            <a:spLocks noGrp="1"/>
          </p:cNvSpPr>
          <p:nvPr>
            <p:ph type="body" sz="quarter" idx="12"/>
          </p:nvPr>
        </p:nvSpPr>
        <p:spPr>
          <a:xfrm>
            <a:off x="5838251" y="6380163"/>
            <a:ext cx="4812751" cy="298450"/>
          </a:xfrm>
          <a:prstGeom prst="rect">
            <a:avLst/>
          </a:prstGeom>
        </p:spPr>
        <p:txBody>
          <a:bodyPr/>
          <a:lstStyle>
            <a:lvl1pPr marL="0" indent="0" algn="r">
              <a:defRPr lang="de-DE" sz="1000" dirty="0">
                <a:solidFill>
                  <a:schemeClr val="accent5"/>
                </a:solidFill>
                <a:latin typeface="+mn-lt"/>
                <a:ea typeface="+mn-ea"/>
                <a:cs typeface="+mn-cs"/>
              </a:defRPr>
            </a:lvl1pPr>
          </a:lstStyle>
          <a:p>
            <a:pPr marL="342900" lvl="0" indent="-342900" algn="r" rtl="0" fontAlgn="base">
              <a:spcBef>
                <a:spcPct val="30000"/>
              </a:spcBef>
              <a:spcAft>
                <a:spcPct val="0"/>
              </a:spcAft>
            </a:pPr>
            <a:r>
              <a:rPr lang="de-DE" dirty="0"/>
              <a:t>Textmasterformat bearbeiten</a:t>
            </a:r>
          </a:p>
        </p:txBody>
      </p:sp>
    </p:spTree>
    <p:extLst>
      <p:ext uri="{BB962C8B-B14F-4D97-AF65-F5344CB8AC3E}">
        <p14:creationId xmlns:p14="http://schemas.microsoft.com/office/powerpoint/2010/main" val="3589804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Spalten">
    <p:spTree>
      <p:nvGrpSpPr>
        <p:cNvPr id="1" name=""/>
        <p:cNvGrpSpPr/>
        <p:nvPr/>
      </p:nvGrpSpPr>
      <p:grpSpPr>
        <a:xfrm>
          <a:off x="0" y="0"/>
          <a:ext cx="0" cy="0"/>
          <a:chOff x="0" y="0"/>
          <a:chExt cx="0" cy="0"/>
        </a:xfrm>
      </p:grpSpPr>
      <p:sp>
        <p:nvSpPr>
          <p:cNvPr id="14" name="Titel 1"/>
          <p:cNvSpPr>
            <a:spLocks noGrp="1"/>
          </p:cNvSpPr>
          <p:nvPr>
            <p:ph type="title"/>
          </p:nvPr>
        </p:nvSpPr>
        <p:spPr>
          <a:xfrm>
            <a:off x="320041" y="91115"/>
            <a:ext cx="8117478" cy="583666"/>
          </a:xfrm>
          <a:prstGeom prst="rect">
            <a:avLst/>
          </a:prstGeom>
        </p:spPr>
        <p:txBody>
          <a:bodyPr lIns="108000" tIns="36000" rIns="108000" bIns="0" anchor="b" anchorCtr="0"/>
          <a:lstStyle>
            <a:lvl1pPr>
              <a:defRPr sz="1800" b="0">
                <a:solidFill>
                  <a:schemeClr val="tx1"/>
                </a:solidFill>
              </a:defRPr>
            </a:lvl1pPr>
          </a:lstStyle>
          <a:p>
            <a:r>
              <a:rPr lang="de-DE" noProof="0" dirty="0"/>
              <a:t>Titelmasterformat durch Klicken bearbeiten</a:t>
            </a:r>
          </a:p>
        </p:txBody>
      </p:sp>
      <p:sp>
        <p:nvSpPr>
          <p:cNvPr id="15" name="Inhaltsplatzhalter 2"/>
          <p:cNvSpPr>
            <a:spLocks noGrp="1"/>
          </p:cNvSpPr>
          <p:nvPr>
            <p:ph idx="1" hasCustomPrompt="1"/>
          </p:nvPr>
        </p:nvSpPr>
        <p:spPr>
          <a:xfrm>
            <a:off x="318765" y="981975"/>
            <a:ext cx="5144123" cy="5291918"/>
          </a:xfrm>
          <a:prstGeom prst="rect">
            <a:avLst/>
          </a:prstGeom>
        </p:spPr>
        <p:txBody>
          <a:bodyPr lIns="108000" tIns="36000" rIns="108000" bIns="36000"/>
          <a:lstStyle>
            <a:lvl1pPr marL="342000" indent="-342000">
              <a:spcBef>
                <a:spcPts val="648"/>
              </a:spcBef>
              <a:buClr>
                <a:srgbClr val="038A5E"/>
              </a:buClr>
              <a:buSzPct val="80000"/>
              <a:buFont typeface="Arial" panose="020B0604020202020204" pitchFamily="34" charset="0"/>
              <a:buNone/>
              <a:defRPr sz="1800" b="1" baseline="0">
                <a:solidFill>
                  <a:srgbClr val="038A5E"/>
                </a:solidFill>
              </a:defRPr>
            </a:lvl1pPr>
            <a:lvl2pPr marL="269875" indent="-180975">
              <a:spcBef>
                <a:spcPts val="600"/>
              </a:spcBef>
              <a:buClr>
                <a:srgbClr val="038A5E"/>
              </a:buClr>
              <a:buSzPct val="100000"/>
              <a:buFont typeface="Wingdings" panose="05000000000000000000" pitchFamily="2" charset="2"/>
              <a:buChar char="§"/>
              <a:defRPr sz="1600" b="0">
                <a:solidFill>
                  <a:schemeClr val="tx1"/>
                </a:solidFill>
              </a:defRPr>
            </a:lvl2pPr>
            <a:lvl3pPr marL="534988" indent="-176213">
              <a:spcBef>
                <a:spcPts val="600"/>
              </a:spcBef>
              <a:buClr>
                <a:srgbClr val="038A5E"/>
              </a:buClr>
              <a:buSzPct val="100000"/>
              <a:buFont typeface="Symbol" panose="05050102010706020507" pitchFamily="18" charset="2"/>
              <a:buChar char="-"/>
              <a:defRPr sz="1600" b="0">
                <a:solidFill>
                  <a:schemeClr val="accent5">
                    <a:lumMod val="75000"/>
                  </a:schemeClr>
                </a:solidFill>
              </a:defRPr>
            </a:lvl3pPr>
            <a:lvl4pPr marL="896938" indent="-179388">
              <a:spcBef>
                <a:spcPts val="600"/>
              </a:spcBef>
              <a:buClr>
                <a:srgbClr val="038A5E"/>
              </a:buClr>
              <a:buFont typeface="Courier New" panose="02070309020205020404" pitchFamily="49" charset="0"/>
              <a:buChar char="o"/>
              <a:defRPr sz="1600" b="0">
                <a:solidFill>
                  <a:schemeClr val="accent5">
                    <a:lumMod val="75000"/>
                  </a:schemeClr>
                </a:solidFill>
              </a:defRPr>
            </a:lvl4pPr>
            <a:lvl5pPr marL="1162050" indent="-269875">
              <a:spcBef>
                <a:spcPts val="600"/>
              </a:spcBef>
              <a:buClr>
                <a:srgbClr val="038A5E"/>
              </a:buClr>
              <a:buFont typeface="Courier New" panose="02070309020205020404" pitchFamily="49" charset="0"/>
              <a:buChar char="o"/>
              <a:defRPr sz="1800" b="0"/>
            </a:lvl5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17" name="Inhaltsplatzhalter 2"/>
          <p:cNvSpPr>
            <a:spLocks noGrp="1"/>
          </p:cNvSpPr>
          <p:nvPr>
            <p:ph idx="11" hasCustomPrompt="1"/>
          </p:nvPr>
        </p:nvSpPr>
        <p:spPr>
          <a:xfrm>
            <a:off x="5503867" y="981975"/>
            <a:ext cx="5144123" cy="5291918"/>
          </a:xfrm>
          <a:prstGeom prst="rect">
            <a:avLst/>
          </a:prstGeom>
        </p:spPr>
        <p:txBody>
          <a:bodyPr lIns="108000" tIns="36000" rIns="108000" bIns="36000"/>
          <a:lstStyle>
            <a:lvl1pPr marL="0" indent="0">
              <a:spcBef>
                <a:spcPts val="600"/>
              </a:spcBef>
              <a:buClr>
                <a:srgbClr val="038A5E"/>
              </a:buClr>
              <a:buSzPct val="80000"/>
              <a:buFont typeface="Arial" panose="020B0604020202020204" pitchFamily="34" charset="0"/>
              <a:buNone/>
              <a:defRPr sz="1800" b="1" baseline="0">
                <a:solidFill>
                  <a:srgbClr val="038A5E"/>
                </a:solidFill>
              </a:defRPr>
            </a:lvl1pPr>
            <a:lvl2pPr marL="268288" indent="-179388">
              <a:spcBef>
                <a:spcPts val="600"/>
              </a:spcBef>
              <a:buClr>
                <a:srgbClr val="038A5E"/>
              </a:buClr>
              <a:buSzPct val="100000"/>
              <a:buFont typeface="Wingdings" panose="05000000000000000000" pitchFamily="2" charset="2"/>
              <a:buChar char="§"/>
              <a:defRPr sz="1600" b="0">
                <a:solidFill>
                  <a:schemeClr val="tx1"/>
                </a:solidFill>
              </a:defRPr>
            </a:lvl2pPr>
            <a:lvl3pPr marL="538163" indent="-179388">
              <a:spcBef>
                <a:spcPts val="600"/>
              </a:spcBef>
              <a:buClr>
                <a:srgbClr val="038A5E"/>
              </a:buClr>
              <a:buSzPct val="100000"/>
              <a:buFont typeface="Symbol" panose="05050102010706020507" pitchFamily="18" charset="2"/>
              <a:buChar char="-"/>
              <a:defRPr sz="1600" b="0">
                <a:solidFill>
                  <a:schemeClr val="accent5">
                    <a:lumMod val="75000"/>
                  </a:schemeClr>
                </a:solidFill>
              </a:defRPr>
            </a:lvl3pPr>
            <a:lvl4pPr marL="896938" indent="-179388">
              <a:spcBef>
                <a:spcPts val="600"/>
              </a:spcBef>
              <a:buClr>
                <a:srgbClr val="038A5E"/>
              </a:buClr>
              <a:buFont typeface="Courier New" panose="02070309020205020404" pitchFamily="49" charset="0"/>
              <a:buChar char="o"/>
              <a:defRPr sz="1600" b="0">
                <a:solidFill>
                  <a:schemeClr val="accent5">
                    <a:lumMod val="75000"/>
                  </a:schemeClr>
                </a:solidFill>
              </a:defRPr>
            </a:lvl4pPr>
            <a:lvl5pPr marL="1162050" indent="-269875">
              <a:spcBef>
                <a:spcPts val="600"/>
              </a:spcBef>
              <a:buClr>
                <a:srgbClr val="038A5E"/>
              </a:buClr>
              <a:buFont typeface="Courier New" panose="02070309020205020404" pitchFamily="49" charset="0"/>
              <a:buChar char="o"/>
              <a:defRPr sz="1800" b="0"/>
            </a:lvl5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6" name="Textplatzhalter 2"/>
          <p:cNvSpPr>
            <a:spLocks noGrp="1"/>
          </p:cNvSpPr>
          <p:nvPr>
            <p:ph type="body" sz="quarter" idx="12"/>
          </p:nvPr>
        </p:nvSpPr>
        <p:spPr>
          <a:xfrm>
            <a:off x="6160876" y="6387294"/>
            <a:ext cx="4489852" cy="354563"/>
          </a:xfrm>
          <a:prstGeom prst="rect">
            <a:avLst/>
          </a:prstGeom>
        </p:spPr>
        <p:txBody>
          <a:bodyPr/>
          <a:lstStyle>
            <a:lvl1pPr algn="r">
              <a:defRPr sz="1000">
                <a:solidFill>
                  <a:schemeClr val="accent5"/>
                </a:solidFill>
              </a:defRPr>
            </a:lvl1pPr>
          </a:lstStyle>
          <a:p>
            <a:pPr lvl="0"/>
            <a:r>
              <a:rPr lang="de-DE" dirty="0"/>
              <a:t>Textmasterformat bearbeiten</a:t>
            </a:r>
          </a:p>
        </p:txBody>
      </p:sp>
    </p:spTree>
    <p:extLst>
      <p:ext uri="{BB962C8B-B14F-4D97-AF65-F5344CB8AC3E}">
        <p14:creationId xmlns:p14="http://schemas.microsoft.com/office/powerpoint/2010/main" val="797731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822960" y="2130426"/>
            <a:ext cx="9326880" cy="1200316"/>
          </a:xfrm>
          <a:prstGeom prst="rect">
            <a:avLst/>
          </a:prstGeom>
        </p:spPr>
        <p:txBody>
          <a:bodyPr/>
          <a:lstStyle>
            <a:lvl1pPr algn="ctr">
              <a:defRPr sz="3600" b="0">
                <a:solidFill>
                  <a:srgbClr val="038A5E"/>
                </a:solidFill>
              </a:defRPr>
            </a:lvl1pPr>
          </a:lstStyle>
          <a:p>
            <a:r>
              <a:rPr lang="de-DE" dirty="0"/>
              <a:t>Titelmasterformat durch Klicken bearbeiten</a:t>
            </a:r>
          </a:p>
        </p:txBody>
      </p:sp>
      <p:sp>
        <p:nvSpPr>
          <p:cNvPr id="3" name="Untertitel 2"/>
          <p:cNvSpPr>
            <a:spLocks noGrp="1"/>
          </p:cNvSpPr>
          <p:nvPr>
            <p:ph type="subTitle" idx="1"/>
          </p:nvPr>
        </p:nvSpPr>
        <p:spPr>
          <a:xfrm>
            <a:off x="1645920" y="3886200"/>
            <a:ext cx="7680960" cy="307764"/>
          </a:xfrm>
          <a:prstGeom prst="rect">
            <a:avLst/>
          </a:prstGeom>
        </p:spPr>
        <p:txBody>
          <a:bodyPr/>
          <a:lstStyle>
            <a:lvl1pPr marL="0" indent="0" algn="ctr">
              <a:buNone/>
              <a:defRPr sz="16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p>
        </p:txBody>
      </p:sp>
    </p:spTree>
    <p:extLst>
      <p:ext uri="{BB962C8B-B14F-4D97-AF65-F5344CB8AC3E}">
        <p14:creationId xmlns:p14="http://schemas.microsoft.com/office/powerpoint/2010/main" val="168502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Zwischenfolie">
    <p:spTree>
      <p:nvGrpSpPr>
        <p:cNvPr id="1" name=""/>
        <p:cNvGrpSpPr/>
        <p:nvPr/>
      </p:nvGrpSpPr>
      <p:grpSpPr>
        <a:xfrm>
          <a:off x="0" y="0"/>
          <a:ext cx="0" cy="0"/>
          <a:chOff x="0" y="0"/>
          <a:chExt cx="0" cy="0"/>
        </a:xfrm>
      </p:grpSpPr>
      <p:sp>
        <p:nvSpPr>
          <p:cNvPr id="4" name="Titel 1"/>
          <p:cNvSpPr>
            <a:spLocks noGrp="1"/>
          </p:cNvSpPr>
          <p:nvPr>
            <p:ph type="ctrTitle"/>
          </p:nvPr>
        </p:nvSpPr>
        <p:spPr>
          <a:xfrm>
            <a:off x="821202" y="3103549"/>
            <a:ext cx="9326880" cy="1200316"/>
          </a:xfrm>
          <a:prstGeom prst="rect">
            <a:avLst/>
          </a:prstGeom>
        </p:spPr>
        <p:txBody>
          <a:bodyPr/>
          <a:lstStyle>
            <a:lvl1pPr algn="ctr">
              <a:defRPr sz="2800" b="0">
                <a:solidFill>
                  <a:srgbClr val="038A5E"/>
                </a:solidFill>
              </a:defRPr>
            </a:lvl1pPr>
          </a:lstStyle>
          <a:p>
            <a:r>
              <a:rPr lang="de-DE" dirty="0"/>
              <a:t>Titelmasterformat durch Klicken bearbeiten</a:t>
            </a:r>
          </a:p>
        </p:txBody>
      </p:sp>
      <p:sp>
        <p:nvSpPr>
          <p:cNvPr id="7" name="Untertitel 2"/>
          <p:cNvSpPr>
            <a:spLocks noGrp="1"/>
          </p:cNvSpPr>
          <p:nvPr>
            <p:ph type="subTitle" idx="1"/>
          </p:nvPr>
        </p:nvSpPr>
        <p:spPr>
          <a:xfrm>
            <a:off x="809603" y="4372761"/>
            <a:ext cx="9347013" cy="878747"/>
          </a:xfrm>
          <a:prstGeom prst="rect">
            <a:avLst/>
          </a:prstGeom>
        </p:spPr>
        <p:txBody>
          <a:bodyPr/>
          <a:lstStyle>
            <a:lvl1pPr marL="0" indent="0" algn="ctr">
              <a:buNone/>
              <a:defRPr sz="20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p>
        </p:txBody>
      </p:sp>
    </p:spTree>
    <p:extLst>
      <p:ext uri="{BB962C8B-B14F-4D97-AF65-F5344CB8AC3E}">
        <p14:creationId xmlns:p14="http://schemas.microsoft.com/office/powerpoint/2010/main" val="18297427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ndardfolie">
    <p:spTree>
      <p:nvGrpSpPr>
        <p:cNvPr id="1" name=""/>
        <p:cNvGrpSpPr/>
        <p:nvPr/>
      </p:nvGrpSpPr>
      <p:grpSpPr>
        <a:xfrm>
          <a:off x="0" y="0"/>
          <a:ext cx="0" cy="0"/>
          <a:chOff x="0" y="0"/>
          <a:chExt cx="0" cy="0"/>
        </a:xfrm>
      </p:grpSpPr>
      <p:sp>
        <p:nvSpPr>
          <p:cNvPr id="5" name="Titel 1"/>
          <p:cNvSpPr>
            <a:spLocks noGrp="1"/>
          </p:cNvSpPr>
          <p:nvPr>
            <p:ph type="title"/>
          </p:nvPr>
        </p:nvSpPr>
        <p:spPr>
          <a:xfrm>
            <a:off x="320041" y="91115"/>
            <a:ext cx="8117478" cy="583666"/>
          </a:xfrm>
          <a:prstGeom prst="rect">
            <a:avLst/>
          </a:prstGeom>
        </p:spPr>
        <p:txBody>
          <a:bodyPr lIns="108000" tIns="36000" rIns="108000" bIns="0" anchor="b" anchorCtr="0"/>
          <a:lstStyle>
            <a:lvl1pPr>
              <a:defRPr sz="1800" b="0">
                <a:solidFill>
                  <a:schemeClr val="tx1"/>
                </a:solidFill>
              </a:defRPr>
            </a:lvl1pPr>
          </a:lstStyle>
          <a:p>
            <a:r>
              <a:rPr lang="de-DE" dirty="0"/>
              <a:t>Titelmasterformat durch Klicken bearbeiten</a:t>
            </a:r>
          </a:p>
        </p:txBody>
      </p:sp>
      <p:sp>
        <p:nvSpPr>
          <p:cNvPr id="7" name="Textplatzhalter 3"/>
          <p:cNvSpPr>
            <a:spLocks noGrp="1"/>
          </p:cNvSpPr>
          <p:nvPr>
            <p:ph type="body" sz="quarter" idx="11"/>
          </p:nvPr>
        </p:nvSpPr>
        <p:spPr>
          <a:xfrm>
            <a:off x="320040" y="976595"/>
            <a:ext cx="10330962" cy="4074906"/>
          </a:xfrm>
          <a:prstGeom prst="rect">
            <a:avLst/>
          </a:prstGeom>
        </p:spPr>
        <p:txBody>
          <a:bodyPr/>
          <a:lstStyle>
            <a:lvl1pPr>
              <a:defRPr sz="1800" b="1">
                <a:solidFill>
                  <a:srgbClr val="038A5E"/>
                </a:solidFill>
              </a:defRPr>
            </a:lvl1pPr>
            <a:lvl2pPr marL="268288" indent="-182563">
              <a:buClr>
                <a:srgbClr val="038A5E"/>
              </a:buClr>
              <a:buFont typeface="Wingdings" panose="05000000000000000000" pitchFamily="2" charset="2"/>
              <a:buChar char="§"/>
              <a:tabLst>
                <a:tab pos="182563" algn="l"/>
              </a:tabLst>
              <a:defRPr sz="1600">
                <a:solidFill>
                  <a:schemeClr val="tx1"/>
                </a:solidFill>
              </a:defRPr>
            </a:lvl2pPr>
            <a:lvl3pPr marL="538163" indent="-182563">
              <a:buClr>
                <a:srgbClr val="038A5E"/>
              </a:buClr>
              <a:buFont typeface="Symbol" panose="05050102010706020507" pitchFamily="18" charset="2"/>
              <a:buChar char="-"/>
              <a:defRPr sz="1600">
                <a:solidFill>
                  <a:schemeClr val="tx1"/>
                </a:solidFill>
              </a:defRPr>
            </a:lvl3pPr>
            <a:lvl4pPr marL="892175" indent="-171450" defTabSz="989013">
              <a:buClr>
                <a:srgbClr val="038A5E"/>
              </a:buClr>
              <a:buFont typeface="Courier New" panose="02070309020205020404" pitchFamily="49" charset="0"/>
              <a:buChar char="o"/>
              <a:defRPr sz="1600">
                <a:solidFill>
                  <a:schemeClr val="tx1"/>
                </a:solidFill>
              </a:defRPr>
            </a:lvl4pPr>
            <a:lvl5pPr marL="1258888" indent="-182563">
              <a:buClr>
                <a:srgbClr val="038A5E"/>
              </a:buClr>
              <a:buFont typeface="Arial" panose="020B0604020202020204" pitchFamily="34" charset="0"/>
              <a:buChar char="•"/>
              <a:defRPr sz="1600">
                <a:solidFill>
                  <a:schemeClr val="tx1"/>
                </a:solidFill>
              </a:defRPr>
            </a:lvl5pPr>
          </a:lstStyle>
          <a:p>
            <a:pPr lvl="0"/>
            <a:r>
              <a:rPr lang="de-DE" dirty="0"/>
              <a:t>Textmasterformat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3" name="Textplatzhalter 2"/>
          <p:cNvSpPr>
            <a:spLocks noGrp="1"/>
          </p:cNvSpPr>
          <p:nvPr>
            <p:ph type="body" sz="quarter" idx="12"/>
          </p:nvPr>
        </p:nvSpPr>
        <p:spPr>
          <a:xfrm>
            <a:off x="5838251" y="6380163"/>
            <a:ext cx="4812751" cy="298450"/>
          </a:xfrm>
          <a:prstGeom prst="rect">
            <a:avLst/>
          </a:prstGeom>
        </p:spPr>
        <p:txBody>
          <a:bodyPr/>
          <a:lstStyle>
            <a:lvl1pPr marL="0" indent="0" algn="r">
              <a:defRPr lang="de-DE" sz="1000" dirty="0">
                <a:solidFill>
                  <a:schemeClr val="accent5"/>
                </a:solidFill>
                <a:latin typeface="+mn-lt"/>
                <a:ea typeface="+mn-ea"/>
                <a:cs typeface="+mn-cs"/>
              </a:defRPr>
            </a:lvl1pPr>
          </a:lstStyle>
          <a:p>
            <a:pPr marL="342900" lvl="0" indent="-342900" algn="r" rtl="0" fontAlgn="base">
              <a:spcBef>
                <a:spcPct val="30000"/>
              </a:spcBef>
              <a:spcAft>
                <a:spcPct val="0"/>
              </a:spcAft>
            </a:pPr>
            <a:r>
              <a:rPr lang="de-DE" dirty="0"/>
              <a:t>Textmasterformat bearbeiten</a:t>
            </a:r>
          </a:p>
        </p:txBody>
      </p:sp>
    </p:spTree>
    <p:extLst>
      <p:ext uri="{BB962C8B-B14F-4D97-AF65-F5344CB8AC3E}">
        <p14:creationId xmlns:p14="http://schemas.microsoft.com/office/powerpoint/2010/main" val="1934344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Spalten">
    <p:spTree>
      <p:nvGrpSpPr>
        <p:cNvPr id="1" name=""/>
        <p:cNvGrpSpPr/>
        <p:nvPr/>
      </p:nvGrpSpPr>
      <p:grpSpPr>
        <a:xfrm>
          <a:off x="0" y="0"/>
          <a:ext cx="0" cy="0"/>
          <a:chOff x="0" y="0"/>
          <a:chExt cx="0" cy="0"/>
        </a:xfrm>
      </p:grpSpPr>
      <p:sp>
        <p:nvSpPr>
          <p:cNvPr id="14" name="Titel 1"/>
          <p:cNvSpPr>
            <a:spLocks noGrp="1"/>
          </p:cNvSpPr>
          <p:nvPr>
            <p:ph type="title"/>
          </p:nvPr>
        </p:nvSpPr>
        <p:spPr>
          <a:xfrm>
            <a:off x="320041" y="91115"/>
            <a:ext cx="8117478" cy="583666"/>
          </a:xfrm>
          <a:prstGeom prst="rect">
            <a:avLst/>
          </a:prstGeom>
        </p:spPr>
        <p:txBody>
          <a:bodyPr lIns="108000" tIns="36000" rIns="108000" bIns="0" anchor="b" anchorCtr="0"/>
          <a:lstStyle>
            <a:lvl1pPr>
              <a:defRPr sz="1800" b="0">
                <a:solidFill>
                  <a:schemeClr val="tx1"/>
                </a:solidFill>
              </a:defRPr>
            </a:lvl1pPr>
          </a:lstStyle>
          <a:p>
            <a:r>
              <a:rPr lang="de-DE" noProof="0" dirty="0"/>
              <a:t>Titelmasterformat durch Klicken bearbeiten</a:t>
            </a:r>
          </a:p>
        </p:txBody>
      </p:sp>
      <p:sp>
        <p:nvSpPr>
          <p:cNvPr id="15" name="Inhaltsplatzhalter 2"/>
          <p:cNvSpPr>
            <a:spLocks noGrp="1"/>
          </p:cNvSpPr>
          <p:nvPr>
            <p:ph idx="1" hasCustomPrompt="1"/>
          </p:nvPr>
        </p:nvSpPr>
        <p:spPr>
          <a:xfrm>
            <a:off x="318765" y="981975"/>
            <a:ext cx="5144123" cy="5291918"/>
          </a:xfrm>
          <a:prstGeom prst="rect">
            <a:avLst/>
          </a:prstGeom>
        </p:spPr>
        <p:txBody>
          <a:bodyPr lIns="108000" tIns="36000" rIns="108000" bIns="36000"/>
          <a:lstStyle>
            <a:lvl1pPr marL="342000" indent="-342000">
              <a:spcBef>
                <a:spcPts val="648"/>
              </a:spcBef>
              <a:buClr>
                <a:srgbClr val="038A5E"/>
              </a:buClr>
              <a:buSzPct val="80000"/>
              <a:buFont typeface="Arial" panose="020B0604020202020204" pitchFamily="34" charset="0"/>
              <a:buNone/>
              <a:defRPr sz="1800" b="1" baseline="0">
                <a:solidFill>
                  <a:srgbClr val="038A5E"/>
                </a:solidFill>
              </a:defRPr>
            </a:lvl1pPr>
            <a:lvl2pPr marL="269875" indent="-180975">
              <a:spcBef>
                <a:spcPts val="600"/>
              </a:spcBef>
              <a:buClr>
                <a:srgbClr val="038A5E"/>
              </a:buClr>
              <a:buSzPct val="100000"/>
              <a:buFont typeface="Wingdings" panose="05000000000000000000" pitchFamily="2" charset="2"/>
              <a:buChar char="§"/>
              <a:defRPr sz="1600" b="0">
                <a:solidFill>
                  <a:schemeClr val="tx1"/>
                </a:solidFill>
              </a:defRPr>
            </a:lvl2pPr>
            <a:lvl3pPr marL="534988" indent="-176213">
              <a:spcBef>
                <a:spcPts val="600"/>
              </a:spcBef>
              <a:buClr>
                <a:srgbClr val="038A5E"/>
              </a:buClr>
              <a:buSzPct val="100000"/>
              <a:buFont typeface="Symbol" panose="05050102010706020507" pitchFamily="18" charset="2"/>
              <a:buChar char="-"/>
              <a:defRPr sz="1600" b="0">
                <a:solidFill>
                  <a:schemeClr val="accent5">
                    <a:lumMod val="75000"/>
                  </a:schemeClr>
                </a:solidFill>
              </a:defRPr>
            </a:lvl3pPr>
            <a:lvl4pPr marL="896938" indent="-179388">
              <a:spcBef>
                <a:spcPts val="600"/>
              </a:spcBef>
              <a:buClr>
                <a:srgbClr val="038A5E"/>
              </a:buClr>
              <a:buFont typeface="Courier New" panose="02070309020205020404" pitchFamily="49" charset="0"/>
              <a:buChar char="o"/>
              <a:defRPr sz="1600" b="0">
                <a:solidFill>
                  <a:schemeClr val="accent5">
                    <a:lumMod val="75000"/>
                  </a:schemeClr>
                </a:solidFill>
              </a:defRPr>
            </a:lvl4pPr>
            <a:lvl5pPr marL="1162050" indent="-269875">
              <a:spcBef>
                <a:spcPts val="600"/>
              </a:spcBef>
              <a:buClr>
                <a:srgbClr val="038A5E"/>
              </a:buClr>
              <a:buFont typeface="Courier New" panose="02070309020205020404" pitchFamily="49" charset="0"/>
              <a:buChar char="o"/>
              <a:defRPr sz="1800" b="0"/>
            </a:lvl5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17" name="Inhaltsplatzhalter 2"/>
          <p:cNvSpPr>
            <a:spLocks noGrp="1"/>
          </p:cNvSpPr>
          <p:nvPr>
            <p:ph idx="11" hasCustomPrompt="1"/>
          </p:nvPr>
        </p:nvSpPr>
        <p:spPr>
          <a:xfrm>
            <a:off x="5503867" y="981975"/>
            <a:ext cx="5144123" cy="5291918"/>
          </a:xfrm>
          <a:prstGeom prst="rect">
            <a:avLst/>
          </a:prstGeom>
        </p:spPr>
        <p:txBody>
          <a:bodyPr lIns="108000" tIns="36000" rIns="108000" bIns="36000"/>
          <a:lstStyle>
            <a:lvl1pPr marL="0" indent="0">
              <a:spcBef>
                <a:spcPts val="600"/>
              </a:spcBef>
              <a:buClr>
                <a:srgbClr val="038A5E"/>
              </a:buClr>
              <a:buSzPct val="80000"/>
              <a:buFont typeface="Arial" panose="020B0604020202020204" pitchFamily="34" charset="0"/>
              <a:buNone/>
              <a:defRPr sz="1800" b="1" baseline="0">
                <a:solidFill>
                  <a:srgbClr val="038A5E"/>
                </a:solidFill>
              </a:defRPr>
            </a:lvl1pPr>
            <a:lvl2pPr marL="268288" indent="-179388">
              <a:spcBef>
                <a:spcPts val="600"/>
              </a:spcBef>
              <a:buClr>
                <a:srgbClr val="038A5E"/>
              </a:buClr>
              <a:buSzPct val="100000"/>
              <a:buFont typeface="Wingdings" panose="05000000000000000000" pitchFamily="2" charset="2"/>
              <a:buChar char="§"/>
              <a:defRPr sz="1600" b="0">
                <a:solidFill>
                  <a:schemeClr val="tx1"/>
                </a:solidFill>
              </a:defRPr>
            </a:lvl2pPr>
            <a:lvl3pPr marL="538163" indent="-179388">
              <a:spcBef>
                <a:spcPts val="600"/>
              </a:spcBef>
              <a:buClr>
                <a:srgbClr val="038A5E"/>
              </a:buClr>
              <a:buSzPct val="100000"/>
              <a:buFont typeface="Symbol" panose="05050102010706020507" pitchFamily="18" charset="2"/>
              <a:buChar char="-"/>
              <a:defRPr sz="1600" b="0">
                <a:solidFill>
                  <a:schemeClr val="accent5">
                    <a:lumMod val="75000"/>
                  </a:schemeClr>
                </a:solidFill>
              </a:defRPr>
            </a:lvl3pPr>
            <a:lvl4pPr marL="896938" indent="-179388">
              <a:spcBef>
                <a:spcPts val="600"/>
              </a:spcBef>
              <a:buClr>
                <a:srgbClr val="038A5E"/>
              </a:buClr>
              <a:buFont typeface="Courier New" panose="02070309020205020404" pitchFamily="49" charset="0"/>
              <a:buChar char="o"/>
              <a:defRPr sz="1600" b="0">
                <a:solidFill>
                  <a:schemeClr val="accent5">
                    <a:lumMod val="75000"/>
                  </a:schemeClr>
                </a:solidFill>
              </a:defRPr>
            </a:lvl4pPr>
            <a:lvl5pPr marL="1162050" indent="-269875">
              <a:spcBef>
                <a:spcPts val="600"/>
              </a:spcBef>
              <a:buClr>
                <a:srgbClr val="038A5E"/>
              </a:buClr>
              <a:buFont typeface="Courier New" panose="02070309020205020404" pitchFamily="49" charset="0"/>
              <a:buChar char="o"/>
              <a:defRPr sz="1800" b="0"/>
            </a:lvl5pPr>
          </a:lstStyle>
          <a:p>
            <a:pPr lvl="0"/>
            <a:r>
              <a:rPr lang="de-DE" dirty="0"/>
              <a:t>Textmasterformat bearbeiten</a:t>
            </a:r>
          </a:p>
          <a:p>
            <a:pPr lvl="1"/>
            <a:r>
              <a:rPr lang="de-DE" dirty="0"/>
              <a:t>Zweite Ebene</a:t>
            </a:r>
          </a:p>
          <a:p>
            <a:pPr lvl="2"/>
            <a:r>
              <a:rPr lang="de-DE" dirty="0"/>
              <a:t>Dritte Ebene</a:t>
            </a:r>
          </a:p>
          <a:p>
            <a:pPr lvl="3"/>
            <a:r>
              <a:rPr lang="de-DE" dirty="0"/>
              <a:t>Vierte Ebene</a:t>
            </a:r>
          </a:p>
        </p:txBody>
      </p:sp>
      <p:sp>
        <p:nvSpPr>
          <p:cNvPr id="6" name="Textplatzhalter 2"/>
          <p:cNvSpPr>
            <a:spLocks noGrp="1"/>
          </p:cNvSpPr>
          <p:nvPr>
            <p:ph type="body" sz="quarter" idx="12"/>
          </p:nvPr>
        </p:nvSpPr>
        <p:spPr>
          <a:xfrm>
            <a:off x="6160876" y="6387294"/>
            <a:ext cx="4489852" cy="354563"/>
          </a:xfrm>
          <a:prstGeom prst="rect">
            <a:avLst/>
          </a:prstGeom>
        </p:spPr>
        <p:txBody>
          <a:bodyPr/>
          <a:lstStyle>
            <a:lvl1pPr algn="r">
              <a:defRPr sz="1000">
                <a:solidFill>
                  <a:schemeClr val="accent5"/>
                </a:solidFill>
              </a:defRPr>
            </a:lvl1pPr>
          </a:lstStyle>
          <a:p>
            <a:pPr lvl="0"/>
            <a:r>
              <a:rPr lang="de-DE" dirty="0"/>
              <a:t>Textmasterformat bearbeiten</a:t>
            </a:r>
          </a:p>
        </p:txBody>
      </p:sp>
    </p:spTree>
    <p:extLst>
      <p:ext uri="{BB962C8B-B14F-4D97-AF65-F5344CB8AC3E}">
        <p14:creationId xmlns:p14="http://schemas.microsoft.com/office/powerpoint/2010/main" val="3281703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image" Target="../media/image1.emf"/><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hteck 6"/>
          <p:cNvSpPr/>
          <p:nvPr userDrawn="1"/>
        </p:nvSpPr>
        <p:spPr bwMode="auto">
          <a:xfrm>
            <a:off x="244445" y="6401821"/>
            <a:ext cx="5569158" cy="349702"/>
          </a:xfrm>
          <a:prstGeom prst="rect">
            <a:avLst/>
          </a:prstGeom>
          <a:noFill/>
          <a:ln w="6350"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spAutoFit/>
          </a:bodyPr>
          <a:lstStyle/>
          <a:p>
            <a:pPr marL="0" marR="0" indent="0" algn="l" defTabSz="914400" rtl="0" eaLnBrk="1" fontAlgn="base" latinLnBrk="0" hangingPunct="1">
              <a:lnSpc>
                <a:spcPct val="100000"/>
              </a:lnSpc>
              <a:spcBef>
                <a:spcPts val="0"/>
              </a:spcBef>
              <a:spcAft>
                <a:spcPts val="0"/>
              </a:spcAft>
              <a:buClrTx/>
              <a:buSzTx/>
              <a:buFontTx/>
              <a:buNone/>
              <a:tabLst/>
              <a:defRPr/>
            </a:pPr>
            <a:r>
              <a:rPr kumimoji="0" lang="de-DE" sz="900" b="0" i="0" u="none" strike="noStrike" cap="none" normalizeH="0" baseline="0" dirty="0">
                <a:ln>
                  <a:noFill/>
                </a:ln>
                <a:solidFill>
                  <a:schemeClr val="accent5"/>
                </a:solidFill>
                <a:effectLst/>
                <a:latin typeface="Arial" pitchFamily="34" charset="0"/>
              </a:rPr>
              <a:t>Time Series Analysis Seminar </a:t>
            </a:r>
            <a:r>
              <a:rPr lang="de-DE" sz="900" dirty="0">
                <a:solidFill>
                  <a:schemeClr val="accent5"/>
                </a:solidFill>
              </a:rPr>
              <a:t>| Dr. </a:t>
            </a:r>
            <a:r>
              <a:rPr lang="de-DE" sz="900" dirty="0" err="1">
                <a:solidFill>
                  <a:schemeClr val="accent5"/>
                </a:solidFill>
              </a:rPr>
              <a:t>Stammann</a:t>
            </a:r>
            <a:endParaRPr kumimoji="0" lang="de-DE" sz="900" b="0" i="0" u="none" strike="noStrike" cap="none" normalizeH="0" baseline="0" dirty="0">
              <a:ln>
                <a:noFill/>
              </a:ln>
              <a:solidFill>
                <a:schemeClr val="accent5"/>
              </a:solidFill>
              <a:effectLst/>
              <a:latin typeface="Arial" pitchFamily="34" charset="0"/>
            </a:endParaRPr>
          </a:p>
          <a:p>
            <a:pPr marL="0" marR="0" indent="0" algn="l" defTabSz="914400" rtl="0" eaLnBrk="1" fontAlgn="base" latinLnBrk="0" hangingPunct="1">
              <a:lnSpc>
                <a:spcPct val="100000"/>
              </a:lnSpc>
              <a:spcBef>
                <a:spcPts val="0"/>
              </a:spcBef>
              <a:spcAft>
                <a:spcPts val="0"/>
              </a:spcAft>
              <a:buClrTx/>
              <a:buSzTx/>
              <a:buFontTx/>
              <a:buNone/>
              <a:tabLst/>
              <a:defRPr/>
            </a:pPr>
            <a:r>
              <a:rPr lang="de-DE" sz="900" dirty="0">
                <a:solidFill>
                  <a:schemeClr val="accent5"/>
                </a:solidFill>
              </a:rPr>
              <a:t>Eric Oschmann </a:t>
            </a:r>
            <a:r>
              <a:rPr lang="de-DE" sz="900" baseline="0" dirty="0">
                <a:solidFill>
                  <a:schemeClr val="accent5"/>
                </a:solidFill>
              </a:rPr>
              <a:t>| Energy Prices in Germany</a:t>
            </a:r>
            <a:endParaRPr kumimoji="0" lang="en-US" sz="900" b="0" i="0" u="none" strike="noStrike" cap="none" normalizeH="0" baseline="0" dirty="0">
              <a:ln>
                <a:noFill/>
              </a:ln>
              <a:solidFill>
                <a:schemeClr val="accent5"/>
              </a:solidFill>
              <a:effectLst/>
              <a:latin typeface="Arial" pitchFamily="34" charset="0"/>
            </a:endParaRPr>
          </a:p>
        </p:txBody>
      </p:sp>
      <p:sp>
        <p:nvSpPr>
          <p:cNvPr id="9" name="Rechteck 8"/>
          <p:cNvSpPr/>
          <p:nvPr userDrawn="1"/>
        </p:nvSpPr>
        <p:spPr bwMode="auto">
          <a:xfrm>
            <a:off x="323103" y="704187"/>
            <a:ext cx="8114954" cy="15389"/>
          </a:xfrm>
          <a:prstGeom prst="rect">
            <a:avLst/>
          </a:prstGeom>
          <a:solidFill>
            <a:srgbClr val="038A5E"/>
          </a:solid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 b="0" i="0" u="none" strike="noStrike" cap="none" normalizeH="0" baseline="0" dirty="0">
              <a:ln>
                <a:noFill/>
              </a:ln>
              <a:solidFill>
                <a:schemeClr val="tx1"/>
              </a:solidFill>
              <a:effectLst/>
              <a:latin typeface="Arial" pitchFamily="34" charset="0"/>
            </a:endParaRPr>
          </a:p>
        </p:txBody>
      </p:sp>
      <p:pic>
        <p:nvPicPr>
          <p:cNvPr id="11" name="Grafik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40873" y="177579"/>
            <a:ext cx="1908824" cy="534302"/>
          </a:xfrm>
          <a:prstGeom prst="rect">
            <a:avLst/>
          </a:prstGeom>
        </p:spPr>
      </p:pic>
      <p:sp>
        <p:nvSpPr>
          <p:cNvPr id="5" name="Foliennummernplatzhalter 4">
            <a:extLst>
              <a:ext uri="{FF2B5EF4-FFF2-40B4-BE49-F238E27FC236}">
                <a16:creationId xmlns:a16="http://schemas.microsoft.com/office/drawing/2014/main" id="{9D1400D9-A401-F5FA-DF07-5076C4471462}"/>
              </a:ext>
            </a:extLst>
          </p:cNvPr>
          <p:cNvSpPr>
            <a:spLocks noGrp="1"/>
          </p:cNvSpPr>
          <p:nvPr>
            <p:ph type="sldNum" sz="quarter" idx="4"/>
          </p:nvPr>
        </p:nvSpPr>
        <p:spPr>
          <a:xfrm>
            <a:off x="7750175" y="6356350"/>
            <a:ext cx="246856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BE41EE-3609-7143-B27D-6349EAD6F497}" type="slidenum">
              <a:rPr lang="en-US" smtClean="0"/>
              <a:t>‹Nr.›</a:t>
            </a:fld>
            <a:endParaRPr lang="en-US"/>
          </a:p>
        </p:txBody>
      </p:sp>
    </p:spTree>
  </p:cSld>
  <p:clrMap bg1="lt1" tx1="dk1" bg2="lt2" tx2="dk2" accent1="accent1" accent2="accent2" accent3="accent3" accent4="accent4" accent5="accent5" accent6="accent6" hlink="hlink" folHlink="folHlink"/>
  <p:sldLayoutIdLst>
    <p:sldLayoutId id="2147483680" r:id="rId1"/>
    <p:sldLayoutId id="2147483682" r:id="rId2"/>
    <p:sldLayoutId id="2147483697" r:id="rId3"/>
    <p:sldLayoutId id="2147483681" r:id="rId4"/>
  </p:sldLayoutIdLst>
  <p:hf sldNum="0" hdr="0" ftr="0"/>
  <p:txStyles>
    <p:titleStyle>
      <a:lvl1pPr algn="l" rtl="0" fontAlgn="base">
        <a:spcBef>
          <a:spcPct val="0"/>
        </a:spcBef>
        <a:spcAft>
          <a:spcPct val="0"/>
        </a:spcAft>
        <a:defRPr sz="2000" b="1">
          <a:solidFill>
            <a:schemeClr val="bg1"/>
          </a:solidFill>
          <a:latin typeface="+mj-lt"/>
          <a:ea typeface="+mj-ea"/>
          <a:cs typeface="+mj-cs"/>
        </a:defRPr>
      </a:lvl1pPr>
      <a:lvl2pPr algn="l" rtl="0" fontAlgn="base">
        <a:spcBef>
          <a:spcPct val="0"/>
        </a:spcBef>
        <a:spcAft>
          <a:spcPct val="0"/>
        </a:spcAft>
        <a:defRPr sz="2000" b="1">
          <a:solidFill>
            <a:srgbClr val="009BD2"/>
          </a:solidFill>
          <a:latin typeface="Arial" pitchFamily="34" charset="0"/>
        </a:defRPr>
      </a:lvl2pPr>
      <a:lvl3pPr algn="l" rtl="0" fontAlgn="base">
        <a:spcBef>
          <a:spcPct val="0"/>
        </a:spcBef>
        <a:spcAft>
          <a:spcPct val="0"/>
        </a:spcAft>
        <a:defRPr sz="2000" b="1">
          <a:solidFill>
            <a:srgbClr val="009BD2"/>
          </a:solidFill>
          <a:latin typeface="Arial" pitchFamily="34" charset="0"/>
        </a:defRPr>
      </a:lvl3pPr>
      <a:lvl4pPr algn="l" rtl="0" fontAlgn="base">
        <a:spcBef>
          <a:spcPct val="0"/>
        </a:spcBef>
        <a:spcAft>
          <a:spcPct val="0"/>
        </a:spcAft>
        <a:defRPr sz="2000" b="1">
          <a:solidFill>
            <a:srgbClr val="009BD2"/>
          </a:solidFill>
          <a:latin typeface="Arial" pitchFamily="34" charset="0"/>
        </a:defRPr>
      </a:lvl4pPr>
      <a:lvl5pPr algn="l" rtl="0" fontAlgn="base">
        <a:spcBef>
          <a:spcPct val="0"/>
        </a:spcBef>
        <a:spcAft>
          <a:spcPct val="0"/>
        </a:spcAft>
        <a:defRPr sz="2000" b="1">
          <a:solidFill>
            <a:srgbClr val="009BD2"/>
          </a:solidFill>
          <a:latin typeface="Arial" pitchFamily="34" charset="0"/>
        </a:defRPr>
      </a:lvl5pPr>
      <a:lvl6pPr marL="457200" algn="l" rtl="0" fontAlgn="base">
        <a:spcBef>
          <a:spcPct val="0"/>
        </a:spcBef>
        <a:spcAft>
          <a:spcPct val="0"/>
        </a:spcAft>
        <a:defRPr sz="2000" b="1">
          <a:solidFill>
            <a:srgbClr val="009BD2"/>
          </a:solidFill>
          <a:latin typeface="Arial" pitchFamily="34" charset="0"/>
        </a:defRPr>
      </a:lvl6pPr>
      <a:lvl7pPr marL="914400" algn="l" rtl="0" fontAlgn="base">
        <a:spcBef>
          <a:spcPct val="0"/>
        </a:spcBef>
        <a:spcAft>
          <a:spcPct val="0"/>
        </a:spcAft>
        <a:defRPr sz="2000" b="1">
          <a:solidFill>
            <a:srgbClr val="009BD2"/>
          </a:solidFill>
          <a:latin typeface="Arial" pitchFamily="34" charset="0"/>
        </a:defRPr>
      </a:lvl7pPr>
      <a:lvl8pPr marL="1371600" algn="l" rtl="0" fontAlgn="base">
        <a:spcBef>
          <a:spcPct val="0"/>
        </a:spcBef>
        <a:spcAft>
          <a:spcPct val="0"/>
        </a:spcAft>
        <a:defRPr sz="2000" b="1">
          <a:solidFill>
            <a:srgbClr val="009BD2"/>
          </a:solidFill>
          <a:latin typeface="Arial" pitchFamily="34" charset="0"/>
        </a:defRPr>
      </a:lvl8pPr>
      <a:lvl9pPr marL="1828800" algn="l" rtl="0" fontAlgn="base">
        <a:spcBef>
          <a:spcPct val="0"/>
        </a:spcBef>
        <a:spcAft>
          <a:spcPct val="0"/>
        </a:spcAft>
        <a:defRPr sz="2000" b="1">
          <a:solidFill>
            <a:srgbClr val="009BD2"/>
          </a:solidFill>
          <a:latin typeface="Arial" pitchFamily="34" charset="0"/>
        </a:defRPr>
      </a:lvl9pPr>
    </p:titleStyle>
    <p:bodyStyle>
      <a:lvl1pPr marL="342900" indent="-342900" algn="l" rtl="0" fontAlgn="base">
        <a:spcBef>
          <a:spcPct val="30000"/>
        </a:spcBef>
        <a:spcAft>
          <a:spcPct val="0"/>
        </a:spcAft>
        <a:defRPr sz="1400">
          <a:solidFill>
            <a:srgbClr val="404040"/>
          </a:solidFill>
          <a:latin typeface="+mn-lt"/>
          <a:ea typeface="+mn-ea"/>
          <a:cs typeface="+mn-cs"/>
        </a:defRPr>
      </a:lvl1pPr>
      <a:lvl2pPr marL="381000" indent="-190500" algn="l" rtl="0" fontAlgn="base">
        <a:spcBef>
          <a:spcPct val="30000"/>
        </a:spcBef>
        <a:spcAft>
          <a:spcPct val="0"/>
        </a:spcAft>
        <a:buClr>
          <a:srgbClr val="009BD2"/>
        </a:buClr>
        <a:buFont typeface="Wingdings" pitchFamily="2" charset="2"/>
        <a:buChar char=""/>
        <a:defRPr sz="1400">
          <a:solidFill>
            <a:srgbClr val="404040"/>
          </a:solidFill>
          <a:latin typeface="+mn-lt"/>
        </a:defRPr>
      </a:lvl2pPr>
      <a:lvl3pPr marL="762000" indent="-190500" algn="l" rtl="0" fontAlgn="base">
        <a:spcBef>
          <a:spcPct val="30000"/>
        </a:spcBef>
        <a:spcAft>
          <a:spcPct val="0"/>
        </a:spcAft>
        <a:buClr>
          <a:srgbClr val="009BD2"/>
        </a:buClr>
        <a:buFont typeface="Symbol" pitchFamily="18" charset="2"/>
        <a:buChar char="-"/>
        <a:defRPr sz="1400">
          <a:solidFill>
            <a:srgbClr val="404040"/>
          </a:solidFill>
          <a:latin typeface="+mn-lt"/>
        </a:defRPr>
      </a:lvl3pPr>
      <a:lvl4pPr marL="1143000" indent="-190500" algn="l" rtl="0" fontAlgn="base">
        <a:spcBef>
          <a:spcPct val="30000"/>
        </a:spcBef>
        <a:spcAft>
          <a:spcPct val="0"/>
        </a:spcAft>
        <a:buClr>
          <a:srgbClr val="009BD2"/>
        </a:buClr>
        <a:buFont typeface="Wingdings" pitchFamily="2" charset="2"/>
        <a:buChar char="§"/>
        <a:defRPr sz="1400">
          <a:solidFill>
            <a:srgbClr val="404040"/>
          </a:solidFill>
          <a:latin typeface="+mn-lt"/>
        </a:defRPr>
      </a:lvl4pPr>
      <a:lvl5pPr marL="15240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hteck 6"/>
          <p:cNvSpPr/>
          <p:nvPr userDrawn="1"/>
        </p:nvSpPr>
        <p:spPr bwMode="auto">
          <a:xfrm>
            <a:off x="244445" y="6401821"/>
            <a:ext cx="5569158" cy="349702"/>
          </a:xfrm>
          <a:prstGeom prst="rect">
            <a:avLst/>
          </a:prstGeom>
          <a:noFill/>
          <a:ln w="6350" cap="flat" cmpd="sng" algn="ctr">
            <a:noFill/>
            <a:prstDash val="solid"/>
            <a:round/>
            <a:headEnd type="none" w="med" len="med"/>
            <a:tailEnd type="none" w="med" len="med"/>
          </a:ln>
          <a:effectLst/>
        </p:spPr>
        <p:txBody>
          <a:bodyPr vert="horz" wrap="square" lIns="108000" tIns="36000" rIns="108000" bIns="36000" numCol="1" rtlCol="0" anchor="ctr" anchorCtr="0" compatLnSpc="1">
            <a:prstTxWarp prst="textNoShape">
              <a:avLst/>
            </a:prstTxWarp>
            <a:spAutoFit/>
          </a:bodyPr>
          <a:lstStyle/>
          <a:p>
            <a:pPr marL="0" marR="0" indent="0" algn="l" defTabSz="914400" rtl="0" eaLnBrk="1" fontAlgn="base" latinLnBrk="0" hangingPunct="1">
              <a:lnSpc>
                <a:spcPct val="100000"/>
              </a:lnSpc>
              <a:spcBef>
                <a:spcPts val="0"/>
              </a:spcBef>
              <a:spcAft>
                <a:spcPts val="0"/>
              </a:spcAft>
              <a:buClrTx/>
              <a:buSzTx/>
              <a:buFontTx/>
              <a:buNone/>
              <a:tabLst/>
              <a:defRPr/>
            </a:pPr>
            <a:r>
              <a:rPr kumimoji="0" lang="de-DE" sz="900" b="0" i="0" u="none" strike="noStrike" cap="none" normalizeH="0" baseline="0" dirty="0">
                <a:ln>
                  <a:noFill/>
                </a:ln>
                <a:solidFill>
                  <a:schemeClr val="accent5"/>
                </a:solidFill>
                <a:effectLst/>
                <a:latin typeface="Arial" pitchFamily="34" charset="0"/>
              </a:rPr>
              <a:t>Time Series Analysis Seminar </a:t>
            </a:r>
            <a:r>
              <a:rPr lang="de-DE" sz="900" dirty="0">
                <a:solidFill>
                  <a:schemeClr val="accent5"/>
                </a:solidFill>
              </a:rPr>
              <a:t>| Dr. </a:t>
            </a:r>
            <a:r>
              <a:rPr lang="de-DE" sz="900" dirty="0" err="1">
                <a:solidFill>
                  <a:schemeClr val="accent5"/>
                </a:solidFill>
              </a:rPr>
              <a:t>Stammann</a:t>
            </a:r>
            <a:endParaRPr kumimoji="0" lang="de-DE" sz="900" b="0" i="0" u="none" strike="noStrike" cap="none" normalizeH="0" baseline="0" dirty="0">
              <a:ln>
                <a:noFill/>
              </a:ln>
              <a:solidFill>
                <a:schemeClr val="accent5"/>
              </a:solidFill>
              <a:effectLst/>
              <a:latin typeface="Arial" pitchFamily="34" charset="0"/>
            </a:endParaRPr>
          </a:p>
          <a:p>
            <a:pPr marL="0" marR="0" indent="0" algn="l" defTabSz="914400" rtl="0" eaLnBrk="1" fontAlgn="base" latinLnBrk="0" hangingPunct="1">
              <a:lnSpc>
                <a:spcPct val="100000"/>
              </a:lnSpc>
              <a:spcBef>
                <a:spcPts val="0"/>
              </a:spcBef>
              <a:spcAft>
                <a:spcPts val="0"/>
              </a:spcAft>
              <a:buClrTx/>
              <a:buSzTx/>
              <a:buFontTx/>
              <a:buNone/>
              <a:tabLst/>
              <a:defRPr/>
            </a:pPr>
            <a:r>
              <a:rPr lang="de-DE" sz="900" dirty="0">
                <a:solidFill>
                  <a:schemeClr val="accent5"/>
                </a:solidFill>
              </a:rPr>
              <a:t>Eric Oschmann </a:t>
            </a:r>
            <a:r>
              <a:rPr lang="de-DE" sz="900" baseline="0" dirty="0">
                <a:solidFill>
                  <a:schemeClr val="accent5"/>
                </a:solidFill>
              </a:rPr>
              <a:t>| Energy Prices in Germany</a:t>
            </a:r>
            <a:endParaRPr kumimoji="0" lang="en-US" sz="900" b="0" i="0" u="none" strike="noStrike" cap="none" normalizeH="0" baseline="0" dirty="0">
              <a:ln>
                <a:noFill/>
              </a:ln>
              <a:solidFill>
                <a:schemeClr val="accent5"/>
              </a:solidFill>
              <a:effectLst/>
              <a:latin typeface="Arial" pitchFamily="34" charset="0"/>
            </a:endParaRPr>
          </a:p>
        </p:txBody>
      </p:sp>
      <p:sp>
        <p:nvSpPr>
          <p:cNvPr id="9" name="Rechteck 8"/>
          <p:cNvSpPr/>
          <p:nvPr userDrawn="1"/>
        </p:nvSpPr>
        <p:spPr bwMode="auto">
          <a:xfrm>
            <a:off x="323103" y="704187"/>
            <a:ext cx="8114954" cy="15389"/>
          </a:xfrm>
          <a:prstGeom prst="rect">
            <a:avLst/>
          </a:prstGeom>
          <a:solidFill>
            <a:srgbClr val="038A5E"/>
          </a:solidFill>
          <a:ln w="6350" cap="flat" cmpd="sng" algn="ctr">
            <a:no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00" b="0" i="0" u="none" strike="noStrike" cap="none" normalizeH="0" baseline="0" dirty="0">
              <a:ln>
                <a:noFill/>
              </a:ln>
              <a:solidFill>
                <a:schemeClr val="tx1"/>
              </a:solidFill>
              <a:effectLst/>
              <a:latin typeface="Arial" pitchFamily="34" charset="0"/>
            </a:endParaRPr>
          </a:p>
        </p:txBody>
      </p:sp>
      <p:pic>
        <p:nvPicPr>
          <p:cNvPr id="11" name="Grafik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740873" y="177579"/>
            <a:ext cx="1908824" cy="534302"/>
          </a:xfrm>
          <a:prstGeom prst="rect">
            <a:avLst/>
          </a:prstGeom>
        </p:spPr>
      </p:pic>
      <p:sp>
        <p:nvSpPr>
          <p:cNvPr id="5" name="Foliennummernplatzhalter 4">
            <a:extLst>
              <a:ext uri="{FF2B5EF4-FFF2-40B4-BE49-F238E27FC236}">
                <a16:creationId xmlns:a16="http://schemas.microsoft.com/office/drawing/2014/main" id="{9D1400D9-A401-F5FA-DF07-5076C4471462}"/>
              </a:ext>
            </a:extLst>
          </p:cNvPr>
          <p:cNvSpPr>
            <a:spLocks noGrp="1"/>
          </p:cNvSpPr>
          <p:nvPr>
            <p:ph type="sldNum" sz="quarter" idx="4"/>
          </p:nvPr>
        </p:nvSpPr>
        <p:spPr>
          <a:xfrm>
            <a:off x="7750175" y="6356350"/>
            <a:ext cx="2468563"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BE41EE-3609-7143-B27D-6349EAD6F497}" type="slidenum">
              <a:rPr lang="en-US" smtClean="0"/>
              <a:t>‹Nr.›</a:t>
            </a:fld>
            <a:endParaRPr lang="en-US"/>
          </a:p>
        </p:txBody>
      </p:sp>
    </p:spTree>
    <p:extLst>
      <p:ext uri="{BB962C8B-B14F-4D97-AF65-F5344CB8AC3E}">
        <p14:creationId xmlns:p14="http://schemas.microsoft.com/office/powerpoint/2010/main" val="1738320290"/>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Lst>
  <p:hf sldNum="0" hdr="0" ftr="0"/>
  <p:txStyles>
    <p:titleStyle>
      <a:lvl1pPr algn="l" rtl="0" fontAlgn="base">
        <a:spcBef>
          <a:spcPct val="0"/>
        </a:spcBef>
        <a:spcAft>
          <a:spcPct val="0"/>
        </a:spcAft>
        <a:defRPr sz="2000" b="1">
          <a:solidFill>
            <a:schemeClr val="bg1"/>
          </a:solidFill>
          <a:latin typeface="+mj-lt"/>
          <a:ea typeface="+mj-ea"/>
          <a:cs typeface="+mj-cs"/>
        </a:defRPr>
      </a:lvl1pPr>
      <a:lvl2pPr algn="l" rtl="0" fontAlgn="base">
        <a:spcBef>
          <a:spcPct val="0"/>
        </a:spcBef>
        <a:spcAft>
          <a:spcPct val="0"/>
        </a:spcAft>
        <a:defRPr sz="2000" b="1">
          <a:solidFill>
            <a:srgbClr val="009BD2"/>
          </a:solidFill>
          <a:latin typeface="Arial" pitchFamily="34" charset="0"/>
        </a:defRPr>
      </a:lvl2pPr>
      <a:lvl3pPr algn="l" rtl="0" fontAlgn="base">
        <a:spcBef>
          <a:spcPct val="0"/>
        </a:spcBef>
        <a:spcAft>
          <a:spcPct val="0"/>
        </a:spcAft>
        <a:defRPr sz="2000" b="1">
          <a:solidFill>
            <a:srgbClr val="009BD2"/>
          </a:solidFill>
          <a:latin typeface="Arial" pitchFamily="34" charset="0"/>
        </a:defRPr>
      </a:lvl3pPr>
      <a:lvl4pPr algn="l" rtl="0" fontAlgn="base">
        <a:spcBef>
          <a:spcPct val="0"/>
        </a:spcBef>
        <a:spcAft>
          <a:spcPct val="0"/>
        </a:spcAft>
        <a:defRPr sz="2000" b="1">
          <a:solidFill>
            <a:srgbClr val="009BD2"/>
          </a:solidFill>
          <a:latin typeface="Arial" pitchFamily="34" charset="0"/>
        </a:defRPr>
      </a:lvl4pPr>
      <a:lvl5pPr algn="l" rtl="0" fontAlgn="base">
        <a:spcBef>
          <a:spcPct val="0"/>
        </a:spcBef>
        <a:spcAft>
          <a:spcPct val="0"/>
        </a:spcAft>
        <a:defRPr sz="2000" b="1">
          <a:solidFill>
            <a:srgbClr val="009BD2"/>
          </a:solidFill>
          <a:latin typeface="Arial" pitchFamily="34" charset="0"/>
        </a:defRPr>
      </a:lvl5pPr>
      <a:lvl6pPr marL="457200" algn="l" rtl="0" fontAlgn="base">
        <a:spcBef>
          <a:spcPct val="0"/>
        </a:spcBef>
        <a:spcAft>
          <a:spcPct val="0"/>
        </a:spcAft>
        <a:defRPr sz="2000" b="1">
          <a:solidFill>
            <a:srgbClr val="009BD2"/>
          </a:solidFill>
          <a:latin typeface="Arial" pitchFamily="34" charset="0"/>
        </a:defRPr>
      </a:lvl6pPr>
      <a:lvl7pPr marL="914400" algn="l" rtl="0" fontAlgn="base">
        <a:spcBef>
          <a:spcPct val="0"/>
        </a:spcBef>
        <a:spcAft>
          <a:spcPct val="0"/>
        </a:spcAft>
        <a:defRPr sz="2000" b="1">
          <a:solidFill>
            <a:srgbClr val="009BD2"/>
          </a:solidFill>
          <a:latin typeface="Arial" pitchFamily="34" charset="0"/>
        </a:defRPr>
      </a:lvl7pPr>
      <a:lvl8pPr marL="1371600" algn="l" rtl="0" fontAlgn="base">
        <a:spcBef>
          <a:spcPct val="0"/>
        </a:spcBef>
        <a:spcAft>
          <a:spcPct val="0"/>
        </a:spcAft>
        <a:defRPr sz="2000" b="1">
          <a:solidFill>
            <a:srgbClr val="009BD2"/>
          </a:solidFill>
          <a:latin typeface="Arial" pitchFamily="34" charset="0"/>
        </a:defRPr>
      </a:lvl8pPr>
      <a:lvl9pPr marL="1828800" algn="l" rtl="0" fontAlgn="base">
        <a:spcBef>
          <a:spcPct val="0"/>
        </a:spcBef>
        <a:spcAft>
          <a:spcPct val="0"/>
        </a:spcAft>
        <a:defRPr sz="2000" b="1">
          <a:solidFill>
            <a:srgbClr val="009BD2"/>
          </a:solidFill>
          <a:latin typeface="Arial" pitchFamily="34" charset="0"/>
        </a:defRPr>
      </a:lvl9pPr>
    </p:titleStyle>
    <p:bodyStyle>
      <a:lvl1pPr marL="342900" indent="-342900" algn="l" rtl="0" fontAlgn="base">
        <a:spcBef>
          <a:spcPct val="30000"/>
        </a:spcBef>
        <a:spcAft>
          <a:spcPct val="0"/>
        </a:spcAft>
        <a:defRPr sz="1400">
          <a:solidFill>
            <a:srgbClr val="404040"/>
          </a:solidFill>
          <a:latin typeface="+mn-lt"/>
          <a:ea typeface="+mn-ea"/>
          <a:cs typeface="+mn-cs"/>
        </a:defRPr>
      </a:lvl1pPr>
      <a:lvl2pPr marL="381000" indent="-190500" algn="l" rtl="0" fontAlgn="base">
        <a:spcBef>
          <a:spcPct val="30000"/>
        </a:spcBef>
        <a:spcAft>
          <a:spcPct val="0"/>
        </a:spcAft>
        <a:buClr>
          <a:srgbClr val="009BD2"/>
        </a:buClr>
        <a:buFont typeface="Wingdings" pitchFamily="2" charset="2"/>
        <a:buChar char=""/>
        <a:defRPr sz="1400">
          <a:solidFill>
            <a:srgbClr val="404040"/>
          </a:solidFill>
          <a:latin typeface="+mn-lt"/>
        </a:defRPr>
      </a:lvl2pPr>
      <a:lvl3pPr marL="762000" indent="-190500" algn="l" rtl="0" fontAlgn="base">
        <a:spcBef>
          <a:spcPct val="30000"/>
        </a:spcBef>
        <a:spcAft>
          <a:spcPct val="0"/>
        </a:spcAft>
        <a:buClr>
          <a:srgbClr val="009BD2"/>
        </a:buClr>
        <a:buFont typeface="Symbol" pitchFamily="18" charset="2"/>
        <a:buChar char="-"/>
        <a:defRPr sz="1400">
          <a:solidFill>
            <a:srgbClr val="404040"/>
          </a:solidFill>
          <a:latin typeface="+mn-lt"/>
        </a:defRPr>
      </a:lvl3pPr>
      <a:lvl4pPr marL="1143000" indent="-190500" algn="l" rtl="0" fontAlgn="base">
        <a:spcBef>
          <a:spcPct val="30000"/>
        </a:spcBef>
        <a:spcAft>
          <a:spcPct val="0"/>
        </a:spcAft>
        <a:buClr>
          <a:srgbClr val="009BD2"/>
        </a:buClr>
        <a:buFont typeface="Wingdings" pitchFamily="2" charset="2"/>
        <a:buChar char="§"/>
        <a:defRPr sz="1400">
          <a:solidFill>
            <a:srgbClr val="404040"/>
          </a:solidFill>
          <a:latin typeface="+mn-lt"/>
        </a:defRPr>
      </a:lvl4pPr>
      <a:lvl5pPr marL="15240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hyperlink" Target="https://www.nytimes.com/issue/todayspaper/2022/02/22/todays-new-york-times?eafs_enabled=false" TargetMode="External"/><Relationship Id="rId5" Type="http://schemas.openxmlformats.org/officeDocument/2006/relationships/image" Target="../media/image4.png"/><Relationship Id="rId4" Type="http://schemas.openxmlformats.org/officeDocument/2006/relationships/hyperlink" Target="https://www.theguardian.com/world/2022/jul/19/germany-worries-about-gas-rationing-as-supply-from-russia-halted"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hyperlink" Target="https://www.iea.org/countries/germany/energy-mix"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hyperlink" Target="https://www.iea.org/countries/germany/energy-mix" TargetMode="External"/></Relationships>
</file>

<file path=ppt/slides/_rels/slide27.xml.rels><?xml version="1.0" encoding="UTF-8" standalone="yes"?>
<Relationships xmlns="http://schemas.openxmlformats.org/package/2006/relationships"><Relationship Id="rId8" Type="http://schemas.openxmlformats.org/officeDocument/2006/relationships/hyperlink" Target="https://www.iea.org/countries/germany/energy-mix" TargetMode="External"/><Relationship Id="rId3" Type="http://schemas.openxmlformats.org/officeDocument/2006/relationships/hyperlink" Target="https://www.smard.de/home" TargetMode="External"/><Relationship Id="rId7" Type="http://schemas.openxmlformats.org/officeDocument/2006/relationships/hyperlink" Target="https://www.iea.org/countries/norway/energy-mix" TargetMode="Externa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hyperlink" Target="https://www.destatis.de/DE/Themen/Gesellschaft-Umwelt/Umwelt/UGR/private-haushalte/Tabellen/stromverbrauch-haushalte.html" TargetMode="External"/><Relationship Id="rId5" Type="http://schemas.openxmlformats.org/officeDocument/2006/relationships/hyperlink" Target="https://www.theguardian.com/world/2022/jul/19/germany-worries-about-gas-rationing-as-supply-from-russia-halted" TargetMode="External"/><Relationship Id="rId4" Type="http://schemas.openxmlformats.org/officeDocument/2006/relationships/hyperlink" Target="https://www.nytimes.com/2022/02/21/business/europe-power-gas-bill.html?eafs_enabled=fals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21B72936-62BC-A150-D256-D3DB5B62BE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1164711" cy="6196161"/>
          </a:xfrm>
          <a:prstGeom prst="rect">
            <a:avLst/>
          </a:prstGeom>
          <a:ln w="38100">
            <a:solidFill>
              <a:schemeClr val="accent1"/>
            </a:solidFill>
          </a:ln>
        </p:spPr>
      </p:pic>
      <p:sp>
        <p:nvSpPr>
          <p:cNvPr id="3074" name="Rectangle 2"/>
          <p:cNvSpPr>
            <a:spLocks noGrp="1" noChangeArrowheads="1"/>
          </p:cNvSpPr>
          <p:nvPr>
            <p:ph type="ctrTitle"/>
          </p:nvPr>
        </p:nvSpPr>
        <p:spPr bwMode="auto">
          <a:xfrm>
            <a:off x="822960" y="3110060"/>
            <a:ext cx="9326880" cy="12003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GB" sz="4200" noProof="0" dirty="0">
                <a:solidFill>
                  <a:schemeClr val="bg1"/>
                </a:solidFill>
              </a:rPr>
              <a:t>German Energy Prices</a:t>
            </a:r>
          </a:p>
        </p:txBody>
      </p:sp>
      <p:sp>
        <p:nvSpPr>
          <p:cNvPr id="3075" name="Rectangle 3"/>
          <p:cNvSpPr>
            <a:spLocks noGrp="1" noChangeArrowheads="1"/>
          </p:cNvSpPr>
          <p:nvPr>
            <p:ph type="subTitle" idx="1"/>
          </p:nvPr>
        </p:nvSpPr>
        <p:spPr bwMode="auto">
          <a:xfrm>
            <a:off x="822960" y="4138862"/>
            <a:ext cx="9326880" cy="1626311"/>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a:spcBef>
                <a:spcPts val="0"/>
              </a:spcBef>
            </a:pPr>
            <a:r>
              <a:rPr lang="en-GB" sz="1800" noProof="0" dirty="0">
                <a:solidFill>
                  <a:schemeClr val="bg1"/>
                </a:solidFill>
              </a:rPr>
              <a:t>A Time Series Analysis of German Wholesale Electricity</a:t>
            </a:r>
          </a:p>
          <a:p>
            <a:pPr>
              <a:spcBef>
                <a:spcPts val="0"/>
              </a:spcBef>
            </a:pPr>
            <a:endParaRPr lang="en-GB" sz="1800" b="1" noProof="0" dirty="0">
              <a:solidFill>
                <a:schemeClr val="bg1"/>
              </a:solidFill>
            </a:endParaRPr>
          </a:p>
          <a:p>
            <a:pPr>
              <a:spcBef>
                <a:spcPts val="0"/>
              </a:spcBef>
            </a:pPr>
            <a:r>
              <a:rPr lang="en-GB" sz="1400" noProof="0" dirty="0">
                <a:solidFill>
                  <a:schemeClr val="bg1"/>
                </a:solidFill>
              </a:rPr>
              <a:t>Time Series Analysis Seminar  </a:t>
            </a:r>
          </a:p>
          <a:p>
            <a:pPr>
              <a:spcBef>
                <a:spcPts val="0"/>
              </a:spcBef>
            </a:pPr>
            <a:r>
              <a:rPr lang="en-GB" sz="1400" noProof="0" dirty="0">
                <a:solidFill>
                  <a:schemeClr val="bg1"/>
                </a:solidFill>
              </a:rPr>
              <a:t>VWL VI</a:t>
            </a:r>
          </a:p>
          <a:p>
            <a:pPr>
              <a:spcBef>
                <a:spcPts val="0"/>
              </a:spcBef>
            </a:pPr>
            <a:r>
              <a:rPr lang="en-GB" sz="1400" noProof="0" dirty="0">
                <a:solidFill>
                  <a:schemeClr val="bg1"/>
                </a:solidFill>
              </a:rPr>
              <a:t>SS 2026</a:t>
            </a:r>
          </a:p>
          <a:p>
            <a:pPr>
              <a:spcBef>
                <a:spcPts val="0"/>
              </a:spcBef>
            </a:pPr>
            <a:r>
              <a:rPr lang="en-GB" sz="1400" noProof="0" dirty="0">
                <a:solidFill>
                  <a:schemeClr val="bg1"/>
                </a:solidFill>
              </a:rPr>
              <a:t>Dr. </a:t>
            </a:r>
            <a:r>
              <a:rPr lang="en-GB" sz="1400" noProof="0" dirty="0" err="1">
                <a:solidFill>
                  <a:schemeClr val="bg1"/>
                </a:solidFill>
              </a:rPr>
              <a:t>Stammann</a:t>
            </a:r>
            <a:r>
              <a:rPr lang="en-GB" sz="1400" noProof="0" dirty="0">
                <a:solidFill>
                  <a:schemeClr val="bg1"/>
                </a:solidFill>
              </a:rPr>
              <a:t> </a:t>
            </a:r>
          </a:p>
          <a:p>
            <a:pPr>
              <a:spcBef>
                <a:spcPts val="0"/>
              </a:spcBef>
            </a:pPr>
            <a:endParaRPr lang="en-GB" sz="1400" noProof="0" dirty="0">
              <a:solidFill>
                <a:schemeClr val="bg1"/>
              </a:solidFill>
            </a:endParaRPr>
          </a:p>
        </p:txBody>
      </p:sp>
      <p:cxnSp>
        <p:nvCxnSpPr>
          <p:cNvPr id="7" name="Gerade Verbindung 6">
            <a:extLst>
              <a:ext uri="{FF2B5EF4-FFF2-40B4-BE49-F238E27FC236}">
                <a16:creationId xmlns:a16="http://schemas.microsoft.com/office/drawing/2014/main" id="{A64EFCAA-002D-9B39-6E4E-EFCF8058F668}"/>
              </a:ext>
            </a:extLst>
          </p:cNvPr>
          <p:cNvCxnSpPr/>
          <p:nvPr/>
        </p:nvCxnSpPr>
        <p:spPr bwMode="auto">
          <a:xfrm>
            <a:off x="2256256" y="4051412"/>
            <a:ext cx="6629896" cy="0"/>
          </a:xfrm>
          <a:prstGeom prst="line">
            <a:avLst/>
          </a:prstGeom>
          <a:noFill/>
          <a:ln w="15875" cap="flat" cmpd="sng" algn="ctr">
            <a:solidFill>
              <a:schemeClr val="accent4">
                <a:lumMod val="20000"/>
                <a:lumOff val="80000"/>
              </a:schemeClr>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10044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CDCD1-AF34-CE2D-7E2C-109B85EBB07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19A9E11-8EDF-38E0-39D6-2D5D6CA44466}"/>
              </a:ext>
            </a:extLst>
          </p:cNvPr>
          <p:cNvSpPr>
            <a:spLocks noGrp="1"/>
          </p:cNvSpPr>
          <p:nvPr>
            <p:ph type="title"/>
          </p:nvPr>
        </p:nvSpPr>
        <p:spPr/>
        <p:txBody>
          <a:bodyPr/>
          <a:lstStyle/>
          <a:p>
            <a:r>
              <a:rPr lang="en-GB" b="1" noProof="0" dirty="0"/>
              <a:t>Introduction</a:t>
            </a:r>
            <a:r>
              <a:rPr lang="en-GB" noProof="0" dirty="0"/>
              <a:t> I Overview</a:t>
            </a:r>
          </a:p>
        </p:txBody>
      </p:sp>
      <p:sp>
        <p:nvSpPr>
          <p:cNvPr id="3" name="Textplatzhalter 2">
            <a:extLst>
              <a:ext uri="{FF2B5EF4-FFF2-40B4-BE49-F238E27FC236}">
                <a16:creationId xmlns:a16="http://schemas.microsoft.com/office/drawing/2014/main" id="{C42FD7B5-E17D-A43F-738C-518270358DED}"/>
              </a:ext>
            </a:extLst>
          </p:cNvPr>
          <p:cNvSpPr>
            <a:spLocks noGrp="1"/>
          </p:cNvSpPr>
          <p:nvPr>
            <p:ph type="body" sz="quarter" idx="11"/>
          </p:nvPr>
        </p:nvSpPr>
        <p:spPr>
          <a:xfrm>
            <a:off x="5486400" y="979552"/>
            <a:ext cx="4615373" cy="3244531"/>
          </a:xfrm>
        </p:spPr>
        <p:txBody>
          <a:bodyPr>
            <a:noAutofit/>
          </a:bodyPr>
          <a:lstStyle/>
          <a:p>
            <a:pPr algn="just"/>
            <a:r>
              <a:rPr lang="en-GB" noProof="0" dirty="0"/>
              <a:t>Personal Motivation</a:t>
            </a:r>
            <a:endParaRPr lang="en-GB" dirty="0"/>
          </a:p>
          <a:p>
            <a:pPr lvl="1" algn="just"/>
            <a:r>
              <a:rPr lang="en-GB" dirty="0"/>
              <a:t>Current events motivate discussion about reliance on global energy supplies </a:t>
            </a:r>
          </a:p>
          <a:p>
            <a:pPr lvl="1" algn="just">
              <a:buFont typeface="Wingdings" pitchFamily="2" charset="2"/>
              <a:buChar char="è"/>
            </a:pPr>
            <a:r>
              <a:rPr lang="en-GB" dirty="0"/>
              <a:t>Geopolitical leverage through dependence on energy prices</a:t>
            </a:r>
          </a:p>
          <a:p>
            <a:pPr marL="85725" lvl="1" indent="0" algn="just">
              <a:buNone/>
            </a:pPr>
            <a:endParaRPr lang="en-GB" dirty="0"/>
          </a:p>
          <a:p>
            <a:pPr lvl="1" algn="just"/>
            <a:r>
              <a:rPr lang="en-GB" dirty="0"/>
              <a:t>Unpredictable energy prices </a:t>
            </a:r>
            <a:r>
              <a:rPr lang="en-GB" b="1" dirty="0"/>
              <a:t>may drive renewable energy adoption</a:t>
            </a:r>
          </a:p>
          <a:p>
            <a:pPr marL="85725" lvl="1" indent="0" algn="just">
              <a:buNone/>
            </a:pPr>
            <a:endParaRPr lang="en-GB" dirty="0"/>
          </a:p>
          <a:p>
            <a:pPr marL="85725" lvl="1" indent="0" algn="just">
              <a:buNone/>
            </a:pPr>
            <a:endParaRPr lang="en-GB" dirty="0"/>
          </a:p>
        </p:txBody>
      </p:sp>
      <p:sp>
        <p:nvSpPr>
          <p:cNvPr id="4" name="Textplatzhalter 3">
            <a:extLst>
              <a:ext uri="{FF2B5EF4-FFF2-40B4-BE49-F238E27FC236}">
                <a16:creationId xmlns:a16="http://schemas.microsoft.com/office/drawing/2014/main" id="{10BFAC4F-5AFA-610A-4372-6E4CFCE5385D}"/>
              </a:ext>
            </a:extLst>
          </p:cNvPr>
          <p:cNvSpPr>
            <a:spLocks noGrp="1"/>
          </p:cNvSpPr>
          <p:nvPr>
            <p:ph type="body" sz="quarter" idx="12"/>
          </p:nvPr>
        </p:nvSpPr>
        <p:spPr/>
        <p:txBody>
          <a:bodyPr/>
          <a:lstStyle/>
          <a:p>
            <a:r>
              <a:rPr lang="en-GB" noProof="0" dirty="0"/>
              <a:t>1</a:t>
            </a:r>
          </a:p>
        </p:txBody>
      </p:sp>
      <p:pic>
        <p:nvPicPr>
          <p:cNvPr id="18" name="Grafik 17">
            <a:extLst>
              <a:ext uri="{FF2B5EF4-FFF2-40B4-BE49-F238E27FC236}">
                <a16:creationId xmlns:a16="http://schemas.microsoft.com/office/drawing/2014/main" id="{BF027B43-1CF5-EDED-5901-A16CE722F4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2937" y="4190723"/>
            <a:ext cx="4070350" cy="1068855"/>
          </a:xfrm>
          <a:prstGeom prst="roundRect">
            <a:avLst>
              <a:gd name="adj" fmla="val 16667"/>
            </a:avLst>
          </a:prstGeom>
          <a:ln>
            <a:solidFill>
              <a:srgbClr val="038A5E"/>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6" name="Textfeld 25">
            <a:extLst>
              <a:ext uri="{FF2B5EF4-FFF2-40B4-BE49-F238E27FC236}">
                <a16:creationId xmlns:a16="http://schemas.microsoft.com/office/drawing/2014/main" id="{3C6FCCDE-5187-5A38-265D-80DA997C2A78}"/>
              </a:ext>
            </a:extLst>
          </p:cNvPr>
          <p:cNvSpPr txBox="1"/>
          <p:nvPr/>
        </p:nvSpPr>
        <p:spPr>
          <a:xfrm>
            <a:off x="320041" y="5260979"/>
            <a:ext cx="4172826" cy="523220"/>
          </a:xfrm>
          <a:prstGeom prst="rect">
            <a:avLst/>
          </a:prstGeom>
          <a:noFill/>
        </p:spPr>
        <p:txBody>
          <a:bodyPr wrap="square" rtlCol="0">
            <a:spAutoFit/>
          </a:bodyPr>
          <a:lstStyle/>
          <a:p>
            <a:r>
              <a:rPr lang="en-GB" sz="700" noProof="0" dirty="0">
                <a:solidFill>
                  <a:schemeClr val="tx1">
                    <a:lumMod val="50000"/>
                    <a:lumOff val="50000"/>
                  </a:schemeClr>
                </a:solidFill>
              </a:rPr>
              <a:t>Source: </a:t>
            </a:r>
            <a:r>
              <a:rPr lang="en-GB" sz="700" noProof="0" dirty="0" err="1">
                <a:solidFill>
                  <a:schemeClr val="tx1">
                    <a:lumMod val="50000"/>
                    <a:lumOff val="50000"/>
                  </a:schemeClr>
                </a:solidFill>
              </a:rPr>
              <a:t>Oltermann</a:t>
            </a:r>
            <a:r>
              <a:rPr lang="en-GB" sz="700" noProof="0" dirty="0">
                <a:solidFill>
                  <a:schemeClr val="tx1">
                    <a:lumMod val="50000"/>
                    <a:lumOff val="50000"/>
                  </a:schemeClr>
                </a:solidFill>
              </a:rPr>
              <a:t>, P. (2022). "Germany worries about gas rationing as supply from Russia halted." </a:t>
            </a:r>
            <a:r>
              <a:rPr lang="en-GB" sz="700" i="1" noProof="0" dirty="0">
                <a:solidFill>
                  <a:schemeClr val="tx1">
                    <a:lumMod val="50000"/>
                    <a:lumOff val="50000"/>
                  </a:schemeClr>
                </a:solidFill>
              </a:rPr>
              <a:t>The Guardian</a:t>
            </a:r>
            <a:r>
              <a:rPr lang="en-GB" sz="700" noProof="0" dirty="0">
                <a:solidFill>
                  <a:schemeClr val="tx1">
                    <a:lumMod val="50000"/>
                    <a:lumOff val="50000"/>
                  </a:schemeClr>
                </a:solidFill>
              </a:rPr>
              <a:t>. </a:t>
            </a:r>
            <a:r>
              <a:rPr lang="en-GB" sz="700" noProof="0" dirty="0">
                <a:solidFill>
                  <a:schemeClr val="tx1">
                    <a:lumMod val="50000"/>
                    <a:lumOff val="50000"/>
                  </a:schemeClr>
                </a:solidFill>
                <a:hlinkClick r:id="rId4"/>
              </a:rPr>
              <a:t>https://www.theguardian.com/world/2022/jul/19/germany-worries-about-gas-rationing-as-supply-from-russia-halted</a:t>
            </a:r>
            <a:endParaRPr lang="en-GB" sz="700" noProof="0" dirty="0">
              <a:solidFill>
                <a:schemeClr val="tx1">
                  <a:lumMod val="50000"/>
                  <a:lumOff val="50000"/>
                </a:schemeClr>
              </a:solidFill>
            </a:endParaRPr>
          </a:p>
          <a:p>
            <a:endParaRPr lang="en-GB" sz="700" noProof="0" dirty="0">
              <a:solidFill>
                <a:schemeClr val="tx1">
                  <a:lumMod val="50000"/>
                  <a:lumOff val="50000"/>
                </a:schemeClr>
              </a:solidFill>
            </a:endParaRPr>
          </a:p>
        </p:txBody>
      </p:sp>
      <p:sp>
        <p:nvSpPr>
          <p:cNvPr id="11" name="Textplatzhalter 2">
            <a:extLst>
              <a:ext uri="{FF2B5EF4-FFF2-40B4-BE49-F238E27FC236}">
                <a16:creationId xmlns:a16="http://schemas.microsoft.com/office/drawing/2014/main" id="{BE7A2070-7563-D457-5C52-63526A4844DE}"/>
              </a:ext>
            </a:extLst>
          </p:cNvPr>
          <p:cNvSpPr txBox="1">
            <a:spLocks/>
          </p:cNvSpPr>
          <p:nvPr/>
        </p:nvSpPr>
        <p:spPr>
          <a:xfrm>
            <a:off x="320041" y="979553"/>
            <a:ext cx="4615373" cy="3244531"/>
          </a:xfrm>
          <a:prstGeom prst="rect">
            <a:avLst/>
          </a:prstGeom>
        </p:spPr>
        <p:txBody>
          <a:bodyPr>
            <a:noAutofit/>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algn="just"/>
            <a:r>
              <a:rPr lang="en-GB" kern="0" dirty="0"/>
              <a:t>Economic Motivation</a:t>
            </a:r>
          </a:p>
          <a:p>
            <a:pPr lvl="1" algn="just"/>
            <a:r>
              <a:rPr lang="en-GB" kern="0" dirty="0"/>
              <a:t>Households and companies are affected by energy prices</a:t>
            </a:r>
          </a:p>
          <a:p>
            <a:pPr lvl="1" algn="just">
              <a:buFont typeface="Wingdings" pitchFamily="2" charset="2"/>
              <a:buChar char="è"/>
            </a:pPr>
            <a:r>
              <a:rPr lang="en-GB" dirty="0"/>
              <a:t>Effect on daily lives</a:t>
            </a:r>
          </a:p>
          <a:p>
            <a:pPr lvl="1" algn="just"/>
            <a:endParaRPr lang="en-GB" kern="0" dirty="0"/>
          </a:p>
          <a:p>
            <a:pPr lvl="1" algn="just"/>
            <a:r>
              <a:rPr lang="en-GB" kern="0" dirty="0"/>
              <a:t>Some investment decisions rely on assumptions about energy prices</a:t>
            </a:r>
          </a:p>
          <a:p>
            <a:pPr lvl="1" algn="just"/>
            <a:endParaRPr lang="en-GB" kern="0" dirty="0"/>
          </a:p>
          <a:p>
            <a:pPr lvl="1" algn="just"/>
            <a:endParaRPr lang="en-GB" kern="0" dirty="0"/>
          </a:p>
          <a:p>
            <a:pPr lvl="1" algn="just"/>
            <a:endParaRPr lang="en-GB" kern="0" dirty="0"/>
          </a:p>
          <a:p>
            <a:pPr lvl="1" algn="just"/>
            <a:endParaRPr lang="en-GB" kern="0" dirty="0"/>
          </a:p>
        </p:txBody>
      </p:sp>
      <p:pic>
        <p:nvPicPr>
          <p:cNvPr id="16" name="Grafik 15">
            <a:extLst>
              <a:ext uri="{FF2B5EF4-FFF2-40B4-BE49-F238E27FC236}">
                <a16:creationId xmlns:a16="http://schemas.microsoft.com/office/drawing/2014/main" id="{2182EF28-B1F4-511B-EC8A-691A79CF77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38251" y="4190723"/>
            <a:ext cx="4070350" cy="1323179"/>
          </a:xfrm>
          <a:prstGeom prst="roundRect">
            <a:avLst>
              <a:gd name="adj" fmla="val 16667"/>
            </a:avLst>
          </a:prstGeom>
          <a:ln>
            <a:solidFill>
              <a:srgbClr val="038A5E"/>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7" name="Textfeld 16">
            <a:extLst>
              <a:ext uri="{FF2B5EF4-FFF2-40B4-BE49-F238E27FC236}">
                <a16:creationId xmlns:a16="http://schemas.microsoft.com/office/drawing/2014/main" id="{925827C3-EB47-9C47-76F7-6CB51C081439}"/>
              </a:ext>
            </a:extLst>
          </p:cNvPr>
          <p:cNvSpPr txBox="1"/>
          <p:nvPr/>
        </p:nvSpPr>
        <p:spPr>
          <a:xfrm>
            <a:off x="5838251" y="5552244"/>
            <a:ext cx="4149518" cy="415498"/>
          </a:xfrm>
          <a:prstGeom prst="rect">
            <a:avLst/>
          </a:prstGeom>
          <a:noFill/>
        </p:spPr>
        <p:txBody>
          <a:bodyPr wrap="square" rtlCol="0">
            <a:spAutoFit/>
          </a:bodyPr>
          <a:lstStyle/>
          <a:p>
            <a:r>
              <a:rPr lang="en-GB" sz="700" noProof="0" dirty="0">
                <a:solidFill>
                  <a:schemeClr val="tx1">
                    <a:lumMod val="50000"/>
                    <a:lumOff val="50000"/>
                  </a:schemeClr>
                </a:solidFill>
              </a:rPr>
              <a:t>Source: Eddy, M., &amp; Alderman, L. (2022). "How Europeans Are Responding to Exorbitant Gas and Power Bills." The New York Times. </a:t>
            </a:r>
            <a:r>
              <a:rPr lang="en-GB" sz="700" noProof="0" dirty="0">
                <a:solidFill>
                  <a:schemeClr val="tx1">
                    <a:lumMod val="50000"/>
                    <a:lumOff val="50000"/>
                  </a:schemeClr>
                </a:solidFill>
                <a:hlinkClick r:id="rId6"/>
              </a:rPr>
              <a:t>https://www.nytimes.com/issue/todayspaper/2022/02/22/todays-new-york-times?eafs_enabled=false</a:t>
            </a:r>
            <a:endParaRPr lang="en-GB" sz="700" noProof="0" dirty="0">
              <a:solidFill>
                <a:schemeClr val="tx1">
                  <a:lumMod val="50000"/>
                  <a:lumOff val="50000"/>
                </a:schemeClr>
              </a:solidFill>
            </a:endParaRPr>
          </a:p>
        </p:txBody>
      </p:sp>
    </p:spTree>
    <p:extLst>
      <p:ext uri="{BB962C8B-B14F-4D97-AF65-F5344CB8AC3E}">
        <p14:creationId xmlns:p14="http://schemas.microsoft.com/office/powerpoint/2010/main" val="205597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01866-831E-CBF4-037C-BA442B48858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19A124BE-EF03-49DF-9B69-DF82D51A2B18}"/>
              </a:ext>
            </a:extLst>
          </p:cNvPr>
          <p:cNvSpPr>
            <a:spLocks noGrp="1"/>
          </p:cNvSpPr>
          <p:nvPr>
            <p:ph type="title"/>
          </p:nvPr>
        </p:nvSpPr>
        <p:spPr/>
        <p:txBody>
          <a:bodyPr/>
          <a:lstStyle/>
          <a:p>
            <a:r>
              <a:rPr lang="en-GB" b="1" noProof="0" dirty="0"/>
              <a:t>Introduction</a:t>
            </a:r>
            <a:r>
              <a:rPr lang="en-GB" noProof="0" dirty="0"/>
              <a:t> I Overview</a:t>
            </a:r>
          </a:p>
        </p:txBody>
      </p:sp>
      <p:sp>
        <p:nvSpPr>
          <p:cNvPr id="3" name="Textplatzhalter 2">
            <a:extLst>
              <a:ext uri="{FF2B5EF4-FFF2-40B4-BE49-F238E27FC236}">
                <a16:creationId xmlns:a16="http://schemas.microsoft.com/office/drawing/2014/main" id="{C2C0B6A6-DF59-8EF2-E732-134BCD3CD734}"/>
              </a:ext>
            </a:extLst>
          </p:cNvPr>
          <p:cNvSpPr>
            <a:spLocks noGrp="1"/>
          </p:cNvSpPr>
          <p:nvPr>
            <p:ph type="body" sz="quarter" idx="11"/>
          </p:nvPr>
        </p:nvSpPr>
        <p:spPr>
          <a:xfrm>
            <a:off x="320040" y="976596"/>
            <a:ext cx="9975866" cy="1287634"/>
          </a:xfrm>
        </p:spPr>
        <p:txBody>
          <a:bodyPr/>
          <a:lstStyle/>
          <a:p>
            <a:pPr algn="just"/>
            <a:r>
              <a:rPr lang="en-GB" noProof="0" dirty="0"/>
              <a:t>Methodology</a:t>
            </a:r>
          </a:p>
          <a:p>
            <a:pPr lvl="1" algn="just"/>
            <a:r>
              <a:rPr lang="en-GB" noProof="0" dirty="0"/>
              <a:t>Time Series Analysis in R: German/Luxemburg Wholesale Energy Price Series</a:t>
            </a:r>
          </a:p>
          <a:p>
            <a:pPr lvl="1" algn="just"/>
            <a:r>
              <a:rPr lang="en-GB" noProof="0" dirty="0"/>
              <a:t>Methodology based on Metcalfe &amp; </a:t>
            </a:r>
            <a:r>
              <a:rPr lang="en-GB" noProof="0" dirty="0" err="1"/>
              <a:t>Cowpertwait</a:t>
            </a:r>
            <a:r>
              <a:rPr lang="en-GB" noProof="0" dirty="0"/>
              <a:t> Book on Time Series Analysis.</a:t>
            </a:r>
            <a:r>
              <a:rPr lang="en-GB" baseline="30000" noProof="0" dirty="0"/>
              <a:t>1</a:t>
            </a:r>
          </a:p>
          <a:p>
            <a:pPr lvl="1" algn="just"/>
            <a:endParaRPr lang="en-GB" noProof="0" dirty="0"/>
          </a:p>
        </p:txBody>
      </p:sp>
      <p:sp>
        <p:nvSpPr>
          <p:cNvPr id="4" name="Textplatzhalter 3">
            <a:extLst>
              <a:ext uri="{FF2B5EF4-FFF2-40B4-BE49-F238E27FC236}">
                <a16:creationId xmlns:a16="http://schemas.microsoft.com/office/drawing/2014/main" id="{0B5F6EB3-6893-D2AC-1AB6-C1CAF1B06925}"/>
              </a:ext>
            </a:extLst>
          </p:cNvPr>
          <p:cNvSpPr>
            <a:spLocks noGrp="1"/>
          </p:cNvSpPr>
          <p:nvPr>
            <p:ph type="body" sz="quarter" idx="12"/>
          </p:nvPr>
        </p:nvSpPr>
        <p:spPr/>
        <p:txBody>
          <a:bodyPr/>
          <a:lstStyle/>
          <a:p>
            <a:r>
              <a:rPr lang="en-GB" dirty="0"/>
              <a:t>2</a:t>
            </a:r>
            <a:endParaRPr lang="en-GB" noProof="0" dirty="0"/>
          </a:p>
        </p:txBody>
      </p:sp>
      <p:sp>
        <p:nvSpPr>
          <p:cNvPr id="6" name="Textfeld 5">
            <a:extLst>
              <a:ext uri="{FF2B5EF4-FFF2-40B4-BE49-F238E27FC236}">
                <a16:creationId xmlns:a16="http://schemas.microsoft.com/office/drawing/2014/main" id="{B9EF6BA8-5F70-5468-C4D5-301D73070502}"/>
              </a:ext>
            </a:extLst>
          </p:cNvPr>
          <p:cNvSpPr txBox="1"/>
          <p:nvPr/>
        </p:nvSpPr>
        <p:spPr>
          <a:xfrm>
            <a:off x="222265" y="6164719"/>
            <a:ext cx="5253249" cy="215444"/>
          </a:xfrm>
          <a:prstGeom prst="rect">
            <a:avLst/>
          </a:prstGeom>
          <a:noFill/>
        </p:spPr>
        <p:txBody>
          <a:bodyPr wrap="square" rtlCol="0">
            <a:spAutoFit/>
          </a:bodyPr>
          <a:lstStyle/>
          <a:p>
            <a:r>
              <a:rPr lang="en-GB" baseline="30000" noProof="0" dirty="0"/>
              <a:t>1 </a:t>
            </a:r>
            <a:r>
              <a:rPr lang="en-GB" baseline="30000" noProof="0" dirty="0" err="1"/>
              <a:t>Cowpertwait</a:t>
            </a:r>
            <a:r>
              <a:rPr lang="en-GB" baseline="30000" noProof="0" dirty="0"/>
              <a:t>, P. S. P., &amp; Metcalfe, A. V. (2009). Introductory time series with R. Springer.    </a:t>
            </a:r>
          </a:p>
        </p:txBody>
      </p:sp>
      <p:cxnSp>
        <p:nvCxnSpPr>
          <p:cNvPr id="7" name="Gerade Verbindung 6">
            <a:extLst>
              <a:ext uri="{FF2B5EF4-FFF2-40B4-BE49-F238E27FC236}">
                <a16:creationId xmlns:a16="http://schemas.microsoft.com/office/drawing/2014/main" id="{40A3FEBC-FDAB-4EAC-896C-6C00B90AC899}"/>
              </a:ext>
            </a:extLst>
          </p:cNvPr>
          <p:cNvCxnSpPr>
            <a:cxnSpLocks/>
          </p:cNvCxnSpPr>
          <p:nvPr/>
        </p:nvCxnSpPr>
        <p:spPr bwMode="auto">
          <a:xfrm>
            <a:off x="309156" y="6109272"/>
            <a:ext cx="5166359" cy="0"/>
          </a:xfrm>
          <a:prstGeom prst="lin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Textplatzhalter 2">
            <a:extLst>
              <a:ext uri="{FF2B5EF4-FFF2-40B4-BE49-F238E27FC236}">
                <a16:creationId xmlns:a16="http://schemas.microsoft.com/office/drawing/2014/main" id="{74BA85C1-D85A-6CA7-D706-DD01A0DCF167}"/>
              </a:ext>
            </a:extLst>
          </p:cNvPr>
          <p:cNvSpPr txBox="1">
            <a:spLocks/>
          </p:cNvSpPr>
          <p:nvPr/>
        </p:nvSpPr>
        <p:spPr>
          <a:xfrm>
            <a:off x="363583" y="2277277"/>
            <a:ext cx="6093117" cy="402768"/>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algn="just"/>
            <a:r>
              <a:rPr lang="en-GB" kern="0" noProof="0" dirty="0"/>
              <a:t>Structure</a:t>
            </a:r>
          </a:p>
        </p:txBody>
      </p:sp>
      <p:sp>
        <p:nvSpPr>
          <p:cNvPr id="8" name="Abgerundetes Rechteck 7">
            <a:extLst>
              <a:ext uri="{FF2B5EF4-FFF2-40B4-BE49-F238E27FC236}">
                <a16:creationId xmlns:a16="http://schemas.microsoft.com/office/drawing/2014/main" id="{61D2835D-52CD-2991-29B3-A7F157510C39}"/>
              </a:ext>
            </a:extLst>
          </p:cNvPr>
          <p:cNvSpPr/>
          <p:nvPr/>
        </p:nvSpPr>
        <p:spPr bwMode="auto">
          <a:xfrm>
            <a:off x="468085" y="2707155"/>
            <a:ext cx="326572" cy="349768"/>
          </a:xfrm>
          <a:prstGeom prst="roundRect">
            <a:avLst/>
          </a:prstGeom>
          <a:solidFill>
            <a:srgbClr val="038A5E"/>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lang="en-GB" sz="1600" noProof="0" dirty="0">
                <a:solidFill>
                  <a:schemeClr val="bg1"/>
                </a:solidFill>
              </a:rPr>
              <a:t>1</a:t>
            </a:r>
            <a:endParaRPr kumimoji="0" lang="en-GB" sz="1600" b="0" i="0" u="none" strike="noStrike" cap="none" normalizeH="0" baseline="0" noProof="0" dirty="0">
              <a:ln>
                <a:noFill/>
              </a:ln>
              <a:solidFill>
                <a:schemeClr val="bg1"/>
              </a:solidFill>
              <a:effectLst/>
              <a:latin typeface="Arial" pitchFamily="34" charset="0"/>
            </a:endParaRPr>
          </a:p>
        </p:txBody>
      </p:sp>
      <p:sp>
        <p:nvSpPr>
          <p:cNvPr id="9" name="Abgerundetes Rechteck 8">
            <a:extLst>
              <a:ext uri="{FF2B5EF4-FFF2-40B4-BE49-F238E27FC236}">
                <a16:creationId xmlns:a16="http://schemas.microsoft.com/office/drawing/2014/main" id="{FBE6228D-A797-BD80-D255-9D54F92439BB}"/>
              </a:ext>
            </a:extLst>
          </p:cNvPr>
          <p:cNvSpPr/>
          <p:nvPr/>
        </p:nvSpPr>
        <p:spPr bwMode="auto">
          <a:xfrm>
            <a:off x="468085" y="3438657"/>
            <a:ext cx="326572" cy="349768"/>
          </a:xfrm>
          <a:prstGeom prst="roundRect">
            <a:avLst/>
          </a:prstGeom>
          <a:solidFill>
            <a:srgbClr val="038A5E"/>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noProof="0" dirty="0">
                <a:ln>
                  <a:noFill/>
                </a:ln>
                <a:solidFill>
                  <a:schemeClr val="bg1"/>
                </a:solidFill>
                <a:effectLst/>
                <a:latin typeface="Arial" pitchFamily="34" charset="0"/>
              </a:rPr>
              <a:t>2</a:t>
            </a:r>
          </a:p>
        </p:txBody>
      </p:sp>
      <p:sp>
        <p:nvSpPr>
          <p:cNvPr id="10" name="Abgerundetes Rechteck 9">
            <a:extLst>
              <a:ext uri="{FF2B5EF4-FFF2-40B4-BE49-F238E27FC236}">
                <a16:creationId xmlns:a16="http://schemas.microsoft.com/office/drawing/2014/main" id="{5FEFDB51-757B-B41D-68FC-04BDF500F6EF}"/>
              </a:ext>
            </a:extLst>
          </p:cNvPr>
          <p:cNvSpPr/>
          <p:nvPr/>
        </p:nvSpPr>
        <p:spPr bwMode="auto">
          <a:xfrm>
            <a:off x="468085" y="4144071"/>
            <a:ext cx="326572" cy="349768"/>
          </a:xfrm>
          <a:prstGeom prst="roundRect">
            <a:avLst/>
          </a:prstGeom>
          <a:solidFill>
            <a:srgbClr val="038A5E"/>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noProof="0" dirty="0">
                <a:ln>
                  <a:noFill/>
                </a:ln>
                <a:solidFill>
                  <a:schemeClr val="bg1"/>
                </a:solidFill>
                <a:effectLst/>
                <a:latin typeface="Arial" pitchFamily="34" charset="0"/>
              </a:rPr>
              <a:t>3</a:t>
            </a:r>
          </a:p>
        </p:txBody>
      </p:sp>
      <p:sp>
        <p:nvSpPr>
          <p:cNvPr id="11" name="Abgerundetes Rechteck 10">
            <a:extLst>
              <a:ext uri="{FF2B5EF4-FFF2-40B4-BE49-F238E27FC236}">
                <a16:creationId xmlns:a16="http://schemas.microsoft.com/office/drawing/2014/main" id="{EA591CA6-74A4-FD20-0FD6-607AE496C255}"/>
              </a:ext>
            </a:extLst>
          </p:cNvPr>
          <p:cNvSpPr/>
          <p:nvPr/>
        </p:nvSpPr>
        <p:spPr bwMode="auto">
          <a:xfrm>
            <a:off x="468085" y="4875573"/>
            <a:ext cx="326572" cy="349768"/>
          </a:xfrm>
          <a:prstGeom prst="roundRect">
            <a:avLst/>
          </a:prstGeom>
          <a:solidFill>
            <a:srgbClr val="038A5E"/>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noProof="0" dirty="0">
                <a:ln>
                  <a:noFill/>
                </a:ln>
                <a:solidFill>
                  <a:schemeClr val="bg1"/>
                </a:solidFill>
                <a:effectLst/>
                <a:latin typeface="Arial" pitchFamily="34" charset="0"/>
              </a:rPr>
              <a:t>4</a:t>
            </a:r>
          </a:p>
        </p:txBody>
      </p:sp>
      <p:sp>
        <p:nvSpPr>
          <p:cNvPr id="12" name="Abgerundetes Rechteck 11">
            <a:extLst>
              <a:ext uri="{FF2B5EF4-FFF2-40B4-BE49-F238E27FC236}">
                <a16:creationId xmlns:a16="http://schemas.microsoft.com/office/drawing/2014/main" id="{2E773061-8855-8998-203C-CA9EBB933E38}"/>
              </a:ext>
            </a:extLst>
          </p:cNvPr>
          <p:cNvSpPr/>
          <p:nvPr/>
        </p:nvSpPr>
        <p:spPr bwMode="auto">
          <a:xfrm>
            <a:off x="468085" y="5607075"/>
            <a:ext cx="326572" cy="349768"/>
          </a:xfrm>
          <a:prstGeom prst="roundRect">
            <a:avLst/>
          </a:prstGeom>
          <a:solidFill>
            <a:srgbClr val="038A5E"/>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noProof="0" dirty="0">
                <a:ln>
                  <a:noFill/>
                </a:ln>
                <a:solidFill>
                  <a:schemeClr val="bg1"/>
                </a:solidFill>
                <a:effectLst/>
                <a:latin typeface="Arial" pitchFamily="34" charset="0"/>
              </a:rPr>
              <a:t>5</a:t>
            </a:r>
          </a:p>
        </p:txBody>
      </p:sp>
      <p:sp>
        <p:nvSpPr>
          <p:cNvPr id="13" name="Abgerundetes Rechteck 12">
            <a:extLst>
              <a:ext uri="{FF2B5EF4-FFF2-40B4-BE49-F238E27FC236}">
                <a16:creationId xmlns:a16="http://schemas.microsoft.com/office/drawing/2014/main" id="{87F8A912-A85A-FEBE-8D34-73E3DA487B5A}"/>
              </a:ext>
            </a:extLst>
          </p:cNvPr>
          <p:cNvSpPr/>
          <p:nvPr/>
        </p:nvSpPr>
        <p:spPr bwMode="auto">
          <a:xfrm>
            <a:off x="1175657" y="2708229"/>
            <a:ext cx="502920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normalizeH="0" baseline="0" noProof="0" dirty="0">
                <a:latin typeface="Arial" pitchFamily="34" charset="0"/>
              </a:rPr>
              <a:t>Decomposition</a:t>
            </a:r>
          </a:p>
        </p:txBody>
      </p:sp>
      <p:sp>
        <p:nvSpPr>
          <p:cNvPr id="14" name="Abgerundetes Rechteck 13">
            <a:extLst>
              <a:ext uri="{FF2B5EF4-FFF2-40B4-BE49-F238E27FC236}">
                <a16:creationId xmlns:a16="http://schemas.microsoft.com/office/drawing/2014/main" id="{EF3AE6DD-4B8D-91B6-2D65-ED191954C46F}"/>
              </a:ext>
            </a:extLst>
          </p:cNvPr>
          <p:cNvSpPr/>
          <p:nvPr/>
        </p:nvSpPr>
        <p:spPr bwMode="auto">
          <a:xfrm>
            <a:off x="1186543" y="3428041"/>
            <a:ext cx="502920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normalizeH="0" baseline="0" noProof="0" dirty="0">
                <a:latin typeface="Arial" pitchFamily="34" charset="0"/>
              </a:rPr>
              <a:t>Autocorrelation and Residuals </a:t>
            </a:r>
          </a:p>
        </p:txBody>
      </p:sp>
      <p:sp>
        <p:nvSpPr>
          <p:cNvPr id="15" name="Abgerundetes Rechteck 14">
            <a:extLst>
              <a:ext uri="{FF2B5EF4-FFF2-40B4-BE49-F238E27FC236}">
                <a16:creationId xmlns:a16="http://schemas.microsoft.com/office/drawing/2014/main" id="{744D49EB-6EF4-DEED-0E61-FF38AE0CEEB8}"/>
              </a:ext>
            </a:extLst>
          </p:cNvPr>
          <p:cNvSpPr/>
          <p:nvPr/>
        </p:nvSpPr>
        <p:spPr bwMode="auto">
          <a:xfrm>
            <a:off x="1175657" y="4144071"/>
            <a:ext cx="502920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normalizeH="0" baseline="0" noProof="0" dirty="0">
                <a:latin typeface="Arial" pitchFamily="34" charset="0"/>
              </a:rPr>
              <a:t>Forecasting</a:t>
            </a:r>
          </a:p>
        </p:txBody>
      </p:sp>
      <p:sp>
        <p:nvSpPr>
          <p:cNvPr id="17" name="Abgerundetes Rechteck 16">
            <a:extLst>
              <a:ext uri="{FF2B5EF4-FFF2-40B4-BE49-F238E27FC236}">
                <a16:creationId xmlns:a16="http://schemas.microsoft.com/office/drawing/2014/main" id="{4167F193-A6A4-AEF2-DE82-A092790E624A}"/>
              </a:ext>
            </a:extLst>
          </p:cNvPr>
          <p:cNvSpPr/>
          <p:nvPr/>
        </p:nvSpPr>
        <p:spPr bwMode="auto">
          <a:xfrm>
            <a:off x="1186543" y="4884498"/>
            <a:ext cx="502920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normalizeH="0" baseline="0" noProof="0" dirty="0">
                <a:latin typeface="Arial" pitchFamily="34" charset="0"/>
              </a:rPr>
              <a:t>GARCH </a:t>
            </a:r>
          </a:p>
        </p:txBody>
      </p:sp>
      <p:sp>
        <p:nvSpPr>
          <p:cNvPr id="18" name="Abgerundetes Rechteck 17">
            <a:extLst>
              <a:ext uri="{FF2B5EF4-FFF2-40B4-BE49-F238E27FC236}">
                <a16:creationId xmlns:a16="http://schemas.microsoft.com/office/drawing/2014/main" id="{A86E6A65-7494-5EA0-5A97-51E100A4722A}"/>
              </a:ext>
            </a:extLst>
          </p:cNvPr>
          <p:cNvSpPr/>
          <p:nvPr/>
        </p:nvSpPr>
        <p:spPr bwMode="auto">
          <a:xfrm>
            <a:off x="1186543" y="5612768"/>
            <a:ext cx="502920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GB" sz="1600" noProof="0" dirty="0"/>
              <a:t>Limitations</a:t>
            </a:r>
            <a:r>
              <a:rPr kumimoji="0" lang="en-GB" sz="1600" i="0" u="none" strike="noStrike" normalizeH="0" baseline="0" noProof="0" dirty="0">
                <a:latin typeface="Arial" pitchFamily="34" charset="0"/>
              </a:rPr>
              <a:t> &amp; Outlook</a:t>
            </a:r>
          </a:p>
        </p:txBody>
      </p:sp>
      <p:sp>
        <p:nvSpPr>
          <p:cNvPr id="19" name="Geschweifte Klammer rechts 18">
            <a:extLst>
              <a:ext uri="{FF2B5EF4-FFF2-40B4-BE49-F238E27FC236}">
                <a16:creationId xmlns:a16="http://schemas.microsoft.com/office/drawing/2014/main" id="{BC14E20C-EB3A-0B23-87D5-A67A19F02732}"/>
              </a:ext>
            </a:extLst>
          </p:cNvPr>
          <p:cNvSpPr/>
          <p:nvPr/>
        </p:nvSpPr>
        <p:spPr bwMode="auto">
          <a:xfrm>
            <a:off x="6456699" y="2707155"/>
            <a:ext cx="656619" cy="3258466"/>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34" name="Abgerundetes Rechteck 33">
            <a:extLst>
              <a:ext uri="{FF2B5EF4-FFF2-40B4-BE49-F238E27FC236}">
                <a16:creationId xmlns:a16="http://schemas.microsoft.com/office/drawing/2014/main" id="{8729C39F-EE95-C0A5-3ED9-FE881759E3E1}"/>
              </a:ext>
            </a:extLst>
          </p:cNvPr>
          <p:cNvSpPr/>
          <p:nvPr/>
        </p:nvSpPr>
        <p:spPr bwMode="auto">
          <a:xfrm>
            <a:off x="7365160" y="4159961"/>
            <a:ext cx="3048380"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en-GB" sz="1600" b="1" i="0" u="none" strike="noStrike" normalizeH="0" baseline="0" noProof="0" dirty="0">
                <a:latin typeface="Arial" pitchFamily="34" charset="0"/>
              </a:rPr>
              <a:t>Research Question</a:t>
            </a:r>
          </a:p>
        </p:txBody>
      </p:sp>
      <p:cxnSp>
        <p:nvCxnSpPr>
          <p:cNvPr id="36" name="Gekrümmte Verbindung 35">
            <a:extLst>
              <a:ext uri="{FF2B5EF4-FFF2-40B4-BE49-F238E27FC236}">
                <a16:creationId xmlns:a16="http://schemas.microsoft.com/office/drawing/2014/main" id="{FB12C905-C43C-5A7F-EEAC-A20BCB6E8C0B}"/>
              </a:ext>
            </a:extLst>
          </p:cNvPr>
          <p:cNvCxnSpPr>
            <a:stCxn id="34" idx="2"/>
            <a:endCxn id="4" idx="0"/>
          </p:cNvCxnSpPr>
          <p:nvPr/>
        </p:nvCxnSpPr>
        <p:spPr bwMode="auto">
          <a:xfrm rot="5400000">
            <a:off x="7633315" y="5124127"/>
            <a:ext cx="1867349" cy="644723"/>
          </a:xfrm>
          <a:prstGeom prst="curvedConnector3">
            <a:avLst>
              <a:gd name="adj1" fmla="val 50000"/>
            </a:avLst>
          </a:prstGeom>
          <a:noFill/>
          <a:ln w="15875" cap="flat" cmpd="sng" algn="ctr">
            <a:solidFill>
              <a:schemeClr val="accent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67274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8A5E">
            <a:alpha val="0"/>
          </a:srgbClr>
        </a:solidFill>
        <a:effectLst/>
      </p:bgPr>
    </p:bg>
    <p:spTree>
      <p:nvGrpSpPr>
        <p:cNvPr id="1" name="">
          <a:extLst>
            <a:ext uri="{FF2B5EF4-FFF2-40B4-BE49-F238E27FC236}">
              <a16:creationId xmlns:a16="http://schemas.microsoft.com/office/drawing/2014/main" id="{0DBD9F37-9EB7-A407-7554-F1EA7DF4C77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C536F2C-1830-EE27-D325-F02D82175787}"/>
              </a:ext>
            </a:extLst>
          </p:cNvPr>
          <p:cNvSpPr>
            <a:spLocks noGrp="1"/>
          </p:cNvSpPr>
          <p:nvPr>
            <p:ph type="title"/>
          </p:nvPr>
        </p:nvSpPr>
        <p:spPr/>
        <p:txBody>
          <a:bodyPr/>
          <a:lstStyle/>
          <a:p>
            <a:r>
              <a:rPr lang="en-GB" b="1" dirty="0"/>
              <a:t>Preliminary </a:t>
            </a:r>
            <a:r>
              <a:rPr lang="en-GB" b="1" noProof="0" dirty="0"/>
              <a:t>Research Question</a:t>
            </a:r>
          </a:p>
        </p:txBody>
      </p:sp>
      <p:sp>
        <p:nvSpPr>
          <p:cNvPr id="3" name="Textplatzhalter 2">
            <a:extLst>
              <a:ext uri="{FF2B5EF4-FFF2-40B4-BE49-F238E27FC236}">
                <a16:creationId xmlns:a16="http://schemas.microsoft.com/office/drawing/2014/main" id="{1A87F87B-9A99-562C-34EA-9623E243CCDA}"/>
              </a:ext>
            </a:extLst>
          </p:cNvPr>
          <p:cNvSpPr>
            <a:spLocks noGrp="1"/>
          </p:cNvSpPr>
          <p:nvPr>
            <p:ph type="body" sz="quarter" idx="11"/>
          </p:nvPr>
        </p:nvSpPr>
        <p:spPr>
          <a:xfrm>
            <a:off x="320040" y="1100421"/>
            <a:ext cx="10330962" cy="5279742"/>
          </a:xfrm>
        </p:spPr>
        <p:txBody>
          <a:bodyPr/>
          <a:lstStyle/>
          <a:p>
            <a:endParaRPr lang="en-GB" noProof="0" dirty="0"/>
          </a:p>
          <a:p>
            <a:endParaRPr lang="en-GB" noProof="0" dirty="0"/>
          </a:p>
          <a:p>
            <a:endParaRPr lang="en-GB" noProof="0" dirty="0"/>
          </a:p>
          <a:p>
            <a:endParaRPr lang="en-GB" dirty="0"/>
          </a:p>
          <a:p>
            <a:endParaRPr lang="en-GB" noProof="0" dirty="0"/>
          </a:p>
          <a:p>
            <a:pPr marL="85725" lvl="1" indent="0" algn="ctr">
              <a:buNone/>
            </a:pPr>
            <a:r>
              <a:rPr lang="en-GB" sz="2800" i="1" noProof="0" dirty="0">
                <a:solidFill>
                  <a:srgbClr val="038A5E"/>
                </a:solidFill>
              </a:rPr>
              <a:t>Does including the 2022 energy crisis period degrade forecast accuracy</a:t>
            </a:r>
            <a:r>
              <a:rPr lang="en-GB" sz="2800" i="1" dirty="0">
                <a:solidFill>
                  <a:srgbClr val="038A5E"/>
                </a:solidFill>
              </a:rPr>
              <a:t> of energy prices and does the same hold for countries relying on different primary energy consumption patterns?</a:t>
            </a:r>
            <a:endParaRPr lang="en-GB" sz="2800" noProof="0" dirty="0"/>
          </a:p>
        </p:txBody>
      </p:sp>
      <p:sp>
        <p:nvSpPr>
          <p:cNvPr id="4" name="Textplatzhalter 3">
            <a:extLst>
              <a:ext uri="{FF2B5EF4-FFF2-40B4-BE49-F238E27FC236}">
                <a16:creationId xmlns:a16="http://schemas.microsoft.com/office/drawing/2014/main" id="{A1B975A3-6D2E-75D9-6722-079E6568CA2D}"/>
              </a:ext>
            </a:extLst>
          </p:cNvPr>
          <p:cNvSpPr>
            <a:spLocks noGrp="1"/>
          </p:cNvSpPr>
          <p:nvPr>
            <p:ph type="body" sz="quarter" idx="12"/>
          </p:nvPr>
        </p:nvSpPr>
        <p:spPr/>
        <p:txBody>
          <a:bodyPr/>
          <a:lstStyle/>
          <a:p>
            <a:r>
              <a:rPr lang="en-GB" dirty="0"/>
              <a:t>4</a:t>
            </a:r>
            <a:endParaRPr lang="en-GB" noProof="0" dirty="0"/>
          </a:p>
        </p:txBody>
      </p:sp>
    </p:spTree>
    <p:extLst>
      <p:ext uri="{BB962C8B-B14F-4D97-AF65-F5344CB8AC3E}">
        <p14:creationId xmlns:p14="http://schemas.microsoft.com/office/powerpoint/2010/main" val="22987945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FAD6A-6E9C-740E-5A54-27ED232B512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99F72FF-5E75-38E0-1B17-02D3805621FA}"/>
              </a:ext>
            </a:extLst>
          </p:cNvPr>
          <p:cNvSpPr>
            <a:spLocks noGrp="1"/>
          </p:cNvSpPr>
          <p:nvPr>
            <p:ph type="title"/>
          </p:nvPr>
        </p:nvSpPr>
        <p:spPr/>
        <p:txBody>
          <a:bodyPr/>
          <a:lstStyle/>
          <a:p>
            <a:r>
              <a:rPr lang="en-GB" b="1" noProof="0" dirty="0"/>
              <a:t>Introduction</a:t>
            </a:r>
            <a:r>
              <a:rPr lang="en-GB" noProof="0" dirty="0"/>
              <a:t> I </a:t>
            </a:r>
            <a:r>
              <a:rPr lang="en-GB" dirty="0"/>
              <a:t>German Energy Overview</a:t>
            </a:r>
            <a:endParaRPr lang="en-GB" noProof="0" dirty="0"/>
          </a:p>
        </p:txBody>
      </p:sp>
      <p:sp>
        <p:nvSpPr>
          <p:cNvPr id="3" name="Textplatzhalter 2">
            <a:extLst>
              <a:ext uri="{FF2B5EF4-FFF2-40B4-BE49-F238E27FC236}">
                <a16:creationId xmlns:a16="http://schemas.microsoft.com/office/drawing/2014/main" id="{959E5963-5691-1CA4-E91B-C8A680A74BEE}"/>
              </a:ext>
            </a:extLst>
          </p:cNvPr>
          <p:cNvSpPr>
            <a:spLocks noGrp="1"/>
          </p:cNvSpPr>
          <p:nvPr>
            <p:ph type="body" sz="quarter" idx="11"/>
          </p:nvPr>
        </p:nvSpPr>
        <p:spPr>
          <a:xfrm>
            <a:off x="320040" y="976595"/>
            <a:ext cx="4520901" cy="5262839"/>
          </a:xfrm>
        </p:spPr>
        <p:txBody>
          <a:bodyPr>
            <a:noAutofit/>
          </a:bodyPr>
          <a:lstStyle/>
          <a:p>
            <a:pPr algn="just"/>
            <a:r>
              <a:rPr lang="en-GB" noProof="0" dirty="0"/>
              <a:t>Energy in Germany</a:t>
            </a:r>
            <a:endParaRPr lang="en-GB" dirty="0"/>
          </a:p>
          <a:p>
            <a:pPr lvl="1" algn="just"/>
            <a:r>
              <a:rPr lang="en-GB" dirty="0"/>
              <a:t>Prior to February 24</a:t>
            </a:r>
            <a:r>
              <a:rPr lang="en-GB" baseline="30000" dirty="0"/>
              <a:t>th</a:t>
            </a:r>
            <a:r>
              <a:rPr lang="en-GB" dirty="0"/>
              <a:t>, 2022</a:t>
            </a:r>
          </a:p>
          <a:p>
            <a:pPr lvl="1" algn="just">
              <a:buFont typeface="Wingdings" pitchFamily="2" charset="2"/>
              <a:buChar char="è"/>
            </a:pPr>
            <a:r>
              <a:rPr lang="en-GB" dirty="0"/>
              <a:t>Reliance on natural gas imports from Russia</a:t>
            </a:r>
          </a:p>
          <a:p>
            <a:pPr marL="85725" lvl="1" indent="0" algn="just">
              <a:buNone/>
            </a:pPr>
            <a:endParaRPr lang="en-GB" dirty="0"/>
          </a:p>
          <a:p>
            <a:pPr lvl="1" algn="just"/>
            <a:r>
              <a:rPr lang="en-GB" dirty="0"/>
              <a:t>Russian Invasion </a:t>
            </a:r>
            <a:r>
              <a:rPr lang="en-GB" dirty="0" err="1"/>
              <a:t>fueled</a:t>
            </a:r>
            <a:r>
              <a:rPr lang="en-GB" dirty="0"/>
              <a:t> energy price crisis</a:t>
            </a:r>
          </a:p>
          <a:p>
            <a:pPr marL="85725" lvl="1" indent="0" algn="just">
              <a:buNone/>
            </a:pPr>
            <a:endParaRPr lang="en-GB" dirty="0"/>
          </a:p>
          <a:p>
            <a:pPr lvl="1" algn="just"/>
            <a:r>
              <a:rPr lang="en-GB" dirty="0"/>
              <a:t>Similar energy price movements &amp; crisis in other European countries</a:t>
            </a:r>
          </a:p>
          <a:p>
            <a:pPr lvl="1" algn="just"/>
            <a:endParaRPr lang="en-GB" dirty="0"/>
          </a:p>
          <a:p>
            <a:pPr marL="85725" marR="0" lvl="1" indent="0" algn="just" defTabSz="914400" rtl="0" eaLnBrk="1" fontAlgn="base" latinLnBrk="0" hangingPunct="1">
              <a:lnSpc>
                <a:spcPct val="100000"/>
              </a:lnSpc>
              <a:spcBef>
                <a:spcPct val="30000"/>
              </a:spcBef>
              <a:spcAft>
                <a:spcPct val="0"/>
              </a:spcAft>
              <a:buClr>
                <a:srgbClr val="038A5E"/>
              </a:buClr>
              <a:buSzTx/>
              <a:buNone/>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ndParaRPr>
          </a:p>
          <a:p>
            <a:pPr algn="just"/>
            <a:endParaRPr lang="en-GB" noProof="0" dirty="0"/>
          </a:p>
        </p:txBody>
      </p:sp>
      <p:sp>
        <p:nvSpPr>
          <p:cNvPr id="4" name="Textplatzhalter 3">
            <a:extLst>
              <a:ext uri="{FF2B5EF4-FFF2-40B4-BE49-F238E27FC236}">
                <a16:creationId xmlns:a16="http://schemas.microsoft.com/office/drawing/2014/main" id="{A357DD30-8569-138E-6063-BED7003AE097}"/>
              </a:ext>
            </a:extLst>
          </p:cNvPr>
          <p:cNvSpPr>
            <a:spLocks noGrp="1"/>
          </p:cNvSpPr>
          <p:nvPr>
            <p:ph type="body" sz="quarter" idx="12"/>
          </p:nvPr>
        </p:nvSpPr>
        <p:spPr/>
        <p:txBody>
          <a:bodyPr/>
          <a:lstStyle/>
          <a:p>
            <a:r>
              <a:rPr lang="en-GB" dirty="0"/>
              <a:t>3</a:t>
            </a:r>
            <a:endParaRPr lang="en-GB" noProof="0" dirty="0"/>
          </a:p>
        </p:txBody>
      </p:sp>
      <p:pic>
        <p:nvPicPr>
          <p:cNvPr id="6" name="Grafik 5">
            <a:extLst>
              <a:ext uri="{FF2B5EF4-FFF2-40B4-BE49-F238E27FC236}">
                <a16:creationId xmlns:a16="http://schemas.microsoft.com/office/drawing/2014/main" id="{19B193D6-EA1E-30D3-8EF0-CFB093D2E2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33141" y="976595"/>
            <a:ext cx="5638456" cy="2819228"/>
          </a:xfrm>
          <a:prstGeom prst="rect">
            <a:avLst/>
          </a:prstGeom>
        </p:spPr>
      </p:pic>
      <p:sp>
        <p:nvSpPr>
          <p:cNvPr id="8" name="Textfeld 7">
            <a:extLst>
              <a:ext uri="{FF2B5EF4-FFF2-40B4-BE49-F238E27FC236}">
                <a16:creationId xmlns:a16="http://schemas.microsoft.com/office/drawing/2014/main" id="{B7FD235B-C136-F5DE-F96E-632052BA7917}"/>
              </a:ext>
            </a:extLst>
          </p:cNvPr>
          <p:cNvSpPr txBox="1"/>
          <p:nvPr/>
        </p:nvSpPr>
        <p:spPr>
          <a:xfrm>
            <a:off x="222266" y="6051113"/>
            <a:ext cx="5253250" cy="461665"/>
          </a:xfrm>
          <a:prstGeom prst="rect">
            <a:avLst/>
          </a:prstGeom>
          <a:noFill/>
        </p:spPr>
        <p:txBody>
          <a:bodyPr wrap="square" rtlCol="0">
            <a:spAutoFit/>
          </a:bodyPr>
          <a:lstStyle/>
          <a:p>
            <a:r>
              <a:rPr lang="en-GB" baseline="30000" noProof="0" dirty="0"/>
              <a:t>Graph: International Energy Agency. Germany: Energy Mix. </a:t>
            </a:r>
            <a:r>
              <a:rPr lang="en-GB" baseline="30000" noProof="0" dirty="0">
                <a:hlinkClick r:id="rId4"/>
              </a:rPr>
              <a:t>https://www.iea.org/countries/germany/</a:t>
            </a:r>
            <a:r>
              <a:rPr lang="en-GB" baseline="30000" dirty="0">
                <a:hlinkClick r:id="rId4"/>
              </a:rPr>
              <a:t>energy-mix</a:t>
            </a:r>
            <a:r>
              <a:rPr lang="en-GB" baseline="30000" dirty="0"/>
              <a:t>, accessed July 4, 2026. </a:t>
            </a:r>
          </a:p>
          <a:p>
            <a:r>
              <a:rPr lang="en-GB" baseline="30000" noProof="0" dirty="0"/>
              <a:t>1 ibid.</a:t>
            </a:r>
          </a:p>
        </p:txBody>
      </p:sp>
      <p:cxnSp>
        <p:nvCxnSpPr>
          <p:cNvPr id="9" name="Gerade Verbindung 8">
            <a:extLst>
              <a:ext uri="{FF2B5EF4-FFF2-40B4-BE49-F238E27FC236}">
                <a16:creationId xmlns:a16="http://schemas.microsoft.com/office/drawing/2014/main" id="{3A3B7AE7-A118-972A-00CC-8B5F5836D245}"/>
              </a:ext>
            </a:extLst>
          </p:cNvPr>
          <p:cNvCxnSpPr>
            <a:cxnSpLocks/>
          </p:cNvCxnSpPr>
          <p:nvPr/>
        </p:nvCxnSpPr>
        <p:spPr bwMode="auto">
          <a:xfrm>
            <a:off x="309157" y="5992314"/>
            <a:ext cx="5166359" cy="0"/>
          </a:xfrm>
          <a:prstGeom prst="lin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1" name="Textfeld 10">
            <a:extLst>
              <a:ext uri="{FF2B5EF4-FFF2-40B4-BE49-F238E27FC236}">
                <a16:creationId xmlns:a16="http://schemas.microsoft.com/office/drawing/2014/main" id="{786679B8-1955-74A1-8E49-A6B98C448CF0}"/>
              </a:ext>
            </a:extLst>
          </p:cNvPr>
          <p:cNvSpPr txBox="1"/>
          <p:nvPr/>
        </p:nvSpPr>
        <p:spPr>
          <a:xfrm>
            <a:off x="5474631" y="4144759"/>
            <a:ext cx="5155476" cy="1736646"/>
          </a:xfrm>
          <a:prstGeom prst="roundRect">
            <a:avLst/>
          </a:prstGeom>
          <a:solidFill>
            <a:srgbClr val="038A5E">
              <a:alpha val="25000"/>
            </a:srgbClr>
          </a:solidFill>
          <a:ln>
            <a:solidFill>
              <a:srgbClr val="038A5E"/>
            </a:solidFill>
          </a:ln>
        </p:spPr>
        <p:txBody>
          <a:bodyPr wrap="square">
            <a:spAutoFit/>
          </a:bodyPr>
          <a:lstStyle/>
          <a:p>
            <a:r>
              <a:rPr lang="en-GB" noProof="0" dirty="0"/>
              <a:t>&gt; </a:t>
            </a:r>
            <a:r>
              <a:rPr lang="en-GB" noProof="0" dirty="0" err="1"/>
              <a:t>cor</a:t>
            </a:r>
            <a:r>
              <a:rPr lang="en-GB" noProof="0" dirty="0"/>
              <a:t>(</a:t>
            </a:r>
            <a:r>
              <a:rPr lang="en-GB" noProof="0" dirty="0" err="1"/>
              <a:t>weeklyDE</a:t>
            </a:r>
            <a:r>
              <a:rPr lang="en-GB" noProof="0" dirty="0"/>
              <a:t>, weekly$`</a:t>
            </a:r>
            <a:r>
              <a:rPr lang="en-GB" noProof="0" dirty="0" err="1"/>
              <a:t>Frankreich</a:t>
            </a:r>
            <a:r>
              <a:rPr lang="en-GB" noProof="0" dirty="0"/>
              <a:t> [€/MWh]`)</a:t>
            </a:r>
          </a:p>
          <a:p>
            <a:r>
              <a:rPr lang="en-GB" dirty="0"/>
              <a:t>[1] </a:t>
            </a:r>
            <a:r>
              <a:rPr lang="en-GB" b="1" noProof="0" dirty="0"/>
              <a:t>0.9647013</a:t>
            </a:r>
          </a:p>
          <a:p>
            <a:endParaRPr lang="en-GB" noProof="0" dirty="0"/>
          </a:p>
          <a:p>
            <a:r>
              <a:rPr lang="en-GB" noProof="0" dirty="0"/>
              <a:t>&gt; </a:t>
            </a:r>
            <a:r>
              <a:rPr lang="en-GB" noProof="0" dirty="0" err="1"/>
              <a:t>cor</a:t>
            </a:r>
            <a:r>
              <a:rPr lang="en-GB" dirty="0"/>
              <a:t>(</a:t>
            </a:r>
            <a:r>
              <a:rPr lang="en-GB" dirty="0" err="1"/>
              <a:t>weeklyDE</a:t>
            </a:r>
            <a:r>
              <a:rPr lang="en-GB" dirty="0"/>
              <a:t> , weekly</a:t>
            </a:r>
            <a:r>
              <a:rPr lang="en-GB" noProof="0" dirty="0" err="1"/>
              <a:t>$`Österreich</a:t>
            </a:r>
            <a:r>
              <a:rPr lang="en-GB" noProof="0" dirty="0"/>
              <a:t> [€/MWh]`)</a:t>
            </a:r>
          </a:p>
          <a:p>
            <a:r>
              <a:rPr lang="en-GB" dirty="0"/>
              <a:t>[1] </a:t>
            </a:r>
            <a:r>
              <a:rPr lang="en-GB" b="1" noProof="0" dirty="0"/>
              <a:t>0.9897348</a:t>
            </a:r>
          </a:p>
          <a:p>
            <a:endParaRPr lang="en-GB" b="1" dirty="0"/>
          </a:p>
          <a:p>
            <a:r>
              <a:rPr lang="en-GB" dirty="0"/>
              <a:t>&gt; </a:t>
            </a:r>
            <a:r>
              <a:rPr lang="en-GB" dirty="0" err="1"/>
              <a:t>cor</a:t>
            </a:r>
            <a:r>
              <a:rPr lang="en-GB" dirty="0"/>
              <a:t>(</a:t>
            </a:r>
            <a:r>
              <a:rPr lang="en-GB" dirty="0" err="1"/>
              <a:t>weeklyDE</a:t>
            </a:r>
            <a:r>
              <a:rPr lang="en-GB" dirty="0"/>
              <a:t>, weekly$`</a:t>
            </a:r>
            <a:r>
              <a:rPr lang="en-GB" dirty="0" err="1"/>
              <a:t>Norwegen</a:t>
            </a:r>
            <a:r>
              <a:rPr lang="en-GB" dirty="0"/>
              <a:t> 2 [€/MWh]`)     </a:t>
            </a:r>
          </a:p>
          <a:p>
            <a:r>
              <a:rPr lang="en-GB" dirty="0"/>
              <a:t>[1]</a:t>
            </a:r>
            <a:r>
              <a:rPr lang="en-GB" b="1" dirty="0"/>
              <a:t> 0.9529006</a:t>
            </a:r>
          </a:p>
        </p:txBody>
      </p:sp>
      <p:sp>
        <p:nvSpPr>
          <p:cNvPr id="13" name="Abgerundetes Rechteck 12">
            <a:extLst>
              <a:ext uri="{FF2B5EF4-FFF2-40B4-BE49-F238E27FC236}">
                <a16:creationId xmlns:a16="http://schemas.microsoft.com/office/drawing/2014/main" id="{B21FBF15-455A-24F4-0D4C-FFE4E7F2FB7C}"/>
              </a:ext>
            </a:extLst>
          </p:cNvPr>
          <p:cNvSpPr/>
          <p:nvPr/>
        </p:nvSpPr>
        <p:spPr bwMode="auto">
          <a:xfrm>
            <a:off x="309157" y="4983722"/>
            <a:ext cx="2359451" cy="89768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GB" sz="1600" noProof="0" dirty="0"/>
              <a:t>Average Consumption:</a:t>
            </a:r>
          </a:p>
          <a:p>
            <a:pPr marL="0" marR="0" indent="0" algn="l" defTabSz="914400" rtl="0" eaLnBrk="1" fontAlgn="base" latinLnBrk="0" hangingPunct="1">
              <a:lnSpc>
                <a:spcPct val="100000"/>
              </a:lnSpc>
              <a:spcBef>
                <a:spcPct val="0"/>
              </a:spcBef>
              <a:spcAft>
                <a:spcPct val="0"/>
              </a:spcAft>
              <a:buClrTx/>
              <a:buSzTx/>
              <a:buFontTx/>
              <a:buNone/>
              <a:tabLst/>
            </a:pPr>
            <a:r>
              <a:rPr lang="en-GB" sz="1600" b="1" noProof="0" dirty="0"/>
              <a:t>3.5 MWh/ year</a:t>
            </a:r>
            <a:endParaRPr lang="en-GB" sz="1600" b="1" baseline="30000" noProof="0" dirty="0"/>
          </a:p>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cap="none" normalizeH="0" baseline="0" noProof="0" dirty="0">
                <a:ln>
                  <a:noFill/>
                </a:ln>
                <a:solidFill>
                  <a:schemeClr val="tx1"/>
                </a:solidFill>
                <a:effectLst/>
                <a:latin typeface="Arial" pitchFamily="34" charset="0"/>
              </a:rPr>
              <a:t>2</a:t>
            </a:r>
            <a:r>
              <a:rPr lang="en-GB" sz="1600" noProof="0" dirty="0"/>
              <a:t>-</a:t>
            </a:r>
            <a:r>
              <a:rPr kumimoji="0" lang="en-GB" sz="1600" i="0" u="none" strike="noStrike" cap="none" normalizeH="0" baseline="0" noProof="0" dirty="0">
                <a:ln>
                  <a:noFill/>
                </a:ln>
                <a:solidFill>
                  <a:schemeClr val="tx1"/>
                </a:solidFill>
                <a:effectLst/>
                <a:latin typeface="Arial" pitchFamily="34" charset="0"/>
              </a:rPr>
              <a:t>Person Household</a:t>
            </a:r>
          </a:p>
        </p:txBody>
      </p:sp>
      <p:sp>
        <p:nvSpPr>
          <p:cNvPr id="15" name="Abgerundetes Rechteck 14">
            <a:extLst>
              <a:ext uri="{FF2B5EF4-FFF2-40B4-BE49-F238E27FC236}">
                <a16:creationId xmlns:a16="http://schemas.microsoft.com/office/drawing/2014/main" id="{A9B6DF8A-95CD-175E-9011-485876B5E77C}"/>
              </a:ext>
            </a:extLst>
          </p:cNvPr>
          <p:cNvSpPr/>
          <p:nvPr/>
        </p:nvSpPr>
        <p:spPr bwMode="auto">
          <a:xfrm>
            <a:off x="2852150" y="4983722"/>
            <a:ext cx="2278526" cy="89768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GB" sz="1600" noProof="0" dirty="0"/>
              <a:t>Average Yearly Costs:</a:t>
            </a:r>
          </a:p>
          <a:p>
            <a:pPr marL="0" marR="0" indent="0" algn="l" defTabSz="914400" rtl="0" eaLnBrk="1" fontAlgn="base" latinLnBrk="0" hangingPunct="1">
              <a:lnSpc>
                <a:spcPct val="100000"/>
              </a:lnSpc>
              <a:spcBef>
                <a:spcPct val="0"/>
              </a:spcBef>
              <a:spcAft>
                <a:spcPct val="0"/>
              </a:spcAft>
              <a:buClrTx/>
              <a:buSzTx/>
              <a:buFontTx/>
              <a:buNone/>
              <a:tabLst/>
            </a:pPr>
            <a:r>
              <a:rPr lang="en-GB" sz="1600" b="1" noProof="0" dirty="0"/>
              <a:t>1150 – 1450 €/ year</a:t>
            </a:r>
          </a:p>
          <a:p>
            <a:pPr marL="0" marR="0" indent="0" algn="l" defTabSz="914400" rtl="0" eaLnBrk="1" fontAlgn="base" latinLnBrk="0" hangingPunct="1">
              <a:lnSpc>
                <a:spcPct val="100000"/>
              </a:lnSpc>
              <a:spcBef>
                <a:spcPct val="0"/>
              </a:spcBef>
              <a:spcAft>
                <a:spcPct val="0"/>
              </a:spcAft>
              <a:buClrTx/>
              <a:buSzTx/>
              <a:buFontTx/>
              <a:buNone/>
              <a:tabLst/>
            </a:pPr>
            <a:r>
              <a:rPr kumimoji="0" lang="en-GB" sz="1600" i="0" u="none" strike="noStrike" cap="none" normalizeH="0" baseline="0" noProof="0" dirty="0">
                <a:ln>
                  <a:noFill/>
                </a:ln>
                <a:solidFill>
                  <a:schemeClr val="tx1"/>
                </a:solidFill>
                <a:effectLst/>
                <a:latin typeface="Arial" pitchFamily="34" charset="0"/>
              </a:rPr>
              <a:t>2</a:t>
            </a:r>
            <a:r>
              <a:rPr lang="en-GB" sz="1600" noProof="0" dirty="0"/>
              <a:t>-</a:t>
            </a:r>
            <a:r>
              <a:rPr kumimoji="0" lang="en-GB" sz="1600" i="0" u="none" strike="noStrike" cap="none" normalizeH="0" baseline="0" noProof="0" dirty="0">
                <a:ln>
                  <a:noFill/>
                </a:ln>
                <a:solidFill>
                  <a:schemeClr val="tx1"/>
                </a:solidFill>
                <a:effectLst/>
                <a:latin typeface="Arial" pitchFamily="34" charset="0"/>
              </a:rPr>
              <a:t>Person Household</a:t>
            </a:r>
          </a:p>
        </p:txBody>
      </p:sp>
      <p:sp>
        <p:nvSpPr>
          <p:cNvPr id="5" name="Abgerundetes Rechteck 4">
            <a:extLst>
              <a:ext uri="{FF2B5EF4-FFF2-40B4-BE49-F238E27FC236}">
                <a16:creationId xmlns:a16="http://schemas.microsoft.com/office/drawing/2014/main" id="{7CFFB340-BA7B-F90F-D678-6BCE50D7C7C2}"/>
              </a:ext>
            </a:extLst>
          </p:cNvPr>
          <p:cNvSpPr/>
          <p:nvPr/>
        </p:nvSpPr>
        <p:spPr bwMode="auto">
          <a:xfrm>
            <a:off x="309157" y="4144759"/>
            <a:ext cx="4821519" cy="625268"/>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marL="0" marR="0" indent="0" algn="l" defTabSz="914400" rtl="0" eaLnBrk="1" fontAlgn="base" latinLnBrk="0" hangingPunct="1">
              <a:lnSpc>
                <a:spcPct val="100000"/>
              </a:lnSpc>
              <a:spcBef>
                <a:spcPct val="0"/>
              </a:spcBef>
              <a:spcAft>
                <a:spcPct val="0"/>
              </a:spcAft>
              <a:buClrTx/>
              <a:buSzTx/>
              <a:buFontTx/>
              <a:buNone/>
              <a:tabLst/>
            </a:pPr>
            <a:r>
              <a:rPr lang="en-GB" sz="1600" noProof="0" dirty="0"/>
              <a:t>Total Yearly German Energy Demand:</a:t>
            </a:r>
          </a:p>
          <a:p>
            <a:pPr marL="0" marR="0" indent="0" algn="l" defTabSz="9144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noProof="0" dirty="0">
                <a:ln>
                  <a:noFill/>
                </a:ln>
                <a:solidFill>
                  <a:schemeClr val="tx1"/>
                </a:solidFill>
                <a:effectLst/>
                <a:latin typeface="Arial" pitchFamily="34" charset="0"/>
              </a:rPr>
              <a:t>476.000.000 MWh</a:t>
            </a:r>
            <a:r>
              <a:rPr kumimoji="0" lang="en-GB" sz="1600" b="1" i="0" u="none" strike="noStrike" cap="none" normalizeH="0" baseline="30000" noProof="0" dirty="0">
                <a:ln>
                  <a:noFill/>
                </a:ln>
                <a:solidFill>
                  <a:schemeClr val="tx1"/>
                </a:solidFill>
                <a:effectLst/>
                <a:latin typeface="Arial" pitchFamily="34" charset="0"/>
              </a:rPr>
              <a:t>1</a:t>
            </a:r>
            <a:endParaRPr kumimoji="0" lang="en-GB" sz="1600" b="1" i="0" u="none" strike="noStrike" cap="none" normalizeH="0" baseline="0" noProof="0" dirty="0">
              <a:ln>
                <a:noFill/>
              </a:ln>
              <a:solidFill>
                <a:schemeClr val="tx1"/>
              </a:solidFill>
              <a:effectLst/>
              <a:latin typeface="Arial" pitchFamily="34" charset="0"/>
            </a:endParaRPr>
          </a:p>
        </p:txBody>
      </p:sp>
    </p:spTree>
    <p:extLst>
      <p:ext uri="{BB962C8B-B14F-4D97-AF65-F5344CB8AC3E}">
        <p14:creationId xmlns:p14="http://schemas.microsoft.com/office/powerpoint/2010/main" val="2897853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CA826-955F-8845-1EC8-1E176090121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32F5C11-673C-6082-1B89-014BCBE2541D}"/>
              </a:ext>
            </a:extLst>
          </p:cNvPr>
          <p:cNvSpPr>
            <a:spLocks noGrp="1"/>
          </p:cNvSpPr>
          <p:nvPr>
            <p:ph type="title"/>
          </p:nvPr>
        </p:nvSpPr>
        <p:spPr/>
        <p:txBody>
          <a:bodyPr/>
          <a:lstStyle/>
          <a:p>
            <a:r>
              <a:rPr lang="en-GB" b="1" noProof="0" dirty="0"/>
              <a:t>Data</a:t>
            </a:r>
            <a:r>
              <a:rPr lang="en-GB" noProof="0" dirty="0"/>
              <a:t> I Overview</a:t>
            </a:r>
          </a:p>
        </p:txBody>
      </p:sp>
      <p:sp>
        <p:nvSpPr>
          <p:cNvPr id="4" name="Textplatzhalter 3">
            <a:extLst>
              <a:ext uri="{FF2B5EF4-FFF2-40B4-BE49-F238E27FC236}">
                <a16:creationId xmlns:a16="http://schemas.microsoft.com/office/drawing/2014/main" id="{BA2E2DB0-5DD7-FB4C-9C87-B03F91F1D904}"/>
              </a:ext>
            </a:extLst>
          </p:cNvPr>
          <p:cNvSpPr>
            <a:spLocks noGrp="1"/>
          </p:cNvSpPr>
          <p:nvPr>
            <p:ph type="body" sz="quarter" idx="12"/>
          </p:nvPr>
        </p:nvSpPr>
        <p:spPr/>
        <p:txBody>
          <a:bodyPr/>
          <a:lstStyle/>
          <a:p>
            <a:r>
              <a:rPr lang="en-GB" dirty="0"/>
              <a:t>5</a:t>
            </a:r>
            <a:endParaRPr lang="en-GB" noProof="0" dirty="0"/>
          </a:p>
        </p:txBody>
      </p:sp>
      <p:sp>
        <p:nvSpPr>
          <p:cNvPr id="6" name="Textfeld 5">
            <a:extLst>
              <a:ext uri="{FF2B5EF4-FFF2-40B4-BE49-F238E27FC236}">
                <a16:creationId xmlns:a16="http://schemas.microsoft.com/office/drawing/2014/main" id="{B4BFCDAA-9FDE-90D5-CA20-0FABA6BDA02E}"/>
              </a:ext>
            </a:extLst>
          </p:cNvPr>
          <p:cNvSpPr txBox="1"/>
          <p:nvPr/>
        </p:nvSpPr>
        <p:spPr>
          <a:xfrm>
            <a:off x="233150" y="5927437"/>
            <a:ext cx="5253250" cy="338554"/>
          </a:xfrm>
          <a:prstGeom prst="rect">
            <a:avLst/>
          </a:prstGeom>
          <a:noFill/>
        </p:spPr>
        <p:txBody>
          <a:bodyPr wrap="square" rtlCol="0">
            <a:spAutoFit/>
          </a:bodyPr>
          <a:lstStyle/>
          <a:p>
            <a:r>
              <a:rPr lang="en-GB" baseline="30000" noProof="0" dirty="0">
                <a:solidFill>
                  <a:schemeClr val="tx1">
                    <a:lumMod val="50000"/>
                    <a:lumOff val="50000"/>
                  </a:schemeClr>
                </a:solidFill>
              </a:rPr>
              <a:t>1 </a:t>
            </a:r>
            <a:r>
              <a:rPr lang="en-GB" baseline="30000" noProof="0" dirty="0" err="1">
                <a:solidFill>
                  <a:schemeClr val="tx1">
                    <a:lumMod val="50000"/>
                    <a:lumOff val="50000"/>
                  </a:schemeClr>
                </a:solidFill>
              </a:rPr>
              <a:t>Bundesnetzagentur</a:t>
            </a:r>
            <a:r>
              <a:rPr lang="en-GB" baseline="30000" noProof="0" dirty="0">
                <a:solidFill>
                  <a:schemeClr val="tx1">
                    <a:lumMod val="50000"/>
                    <a:lumOff val="50000"/>
                  </a:schemeClr>
                </a:solidFill>
              </a:rPr>
              <a:t>. </a:t>
            </a:r>
            <a:r>
              <a:rPr lang="en-GB" i="1" baseline="30000" noProof="0" dirty="0">
                <a:solidFill>
                  <a:schemeClr val="tx1">
                    <a:lumMod val="50000"/>
                    <a:lumOff val="50000"/>
                  </a:schemeClr>
                </a:solidFill>
              </a:rPr>
              <a:t>SMARD: Electricity and gas market data</a:t>
            </a:r>
            <a:r>
              <a:rPr lang="en-GB" baseline="30000" noProof="0" dirty="0"/>
              <a:t>. </a:t>
            </a:r>
          </a:p>
          <a:p>
            <a:r>
              <a:rPr lang="en-GB" baseline="30000" noProof="0" dirty="0">
                <a:solidFill>
                  <a:schemeClr val="tx1">
                    <a:lumMod val="50000"/>
                    <a:lumOff val="50000"/>
                  </a:schemeClr>
                </a:solidFill>
              </a:rPr>
              <a:t>2 </a:t>
            </a:r>
            <a:r>
              <a:rPr lang="en-GB" baseline="30000" noProof="0" dirty="0" err="1">
                <a:solidFill>
                  <a:schemeClr val="tx1">
                    <a:lumMod val="50000"/>
                    <a:lumOff val="50000"/>
                  </a:schemeClr>
                </a:solidFill>
              </a:rPr>
              <a:t>Statistisches</a:t>
            </a:r>
            <a:r>
              <a:rPr lang="en-GB" baseline="30000" noProof="0" dirty="0">
                <a:solidFill>
                  <a:schemeClr val="tx1">
                    <a:lumMod val="50000"/>
                    <a:lumOff val="50000"/>
                  </a:schemeClr>
                </a:solidFill>
              </a:rPr>
              <a:t> </a:t>
            </a:r>
            <a:r>
              <a:rPr lang="en-GB" baseline="30000" noProof="0" dirty="0" err="1">
                <a:solidFill>
                  <a:schemeClr val="tx1">
                    <a:lumMod val="50000"/>
                    <a:lumOff val="50000"/>
                  </a:schemeClr>
                </a:solidFill>
              </a:rPr>
              <a:t>Bundesamt</a:t>
            </a:r>
            <a:r>
              <a:rPr lang="en-GB" baseline="30000" noProof="0" dirty="0">
                <a:solidFill>
                  <a:schemeClr val="tx1">
                    <a:lumMod val="50000"/>
                    <a:lumOff val="50000"/>
                  </a:schemeClr>
                </a:solidFill>
              </a:rPr>
              <a:t>. (2023). </a:t>
            </a:r>
            <a:r>
              <a:rPr lang="en-GB" i="1" baseline="30000" noProof="0" dirty="0" err="1">
                <a:solidFill>
                  <a:schemeClr val="tx1">
                    <a:lumMod val="50000"/>
                    <a:lumOff val="50000"/>
                  </a:schemeClr>
                </a:solidFill>
              </a:rPr>
              <a:t>Stromverbrauch</a:t>
            </a:r>
            <a:r>
              <a:rPr lang="en-GB" i="1" baseline="30000" noProof="0" dirty="0">
                <a:solidFill>
                  <a:schemeClr val="tx1">
                    <a:lumMod val="50000"/>
                    <a:lumOff val="50000"/>
                  </a:schemeClr>
                </a:solidFill>
              </a:rPr>
              <a:t> der </a:t>
            </a:r>
            <a:r>
              <a:rPr lang="en-GB" i="1" baseline="30000" noProof="0" dirty="0" err="1">
                <a:solidFill>
                  <a:schemeClr val="tx1">
                    <a:lumMod val="50000"/>
                    <a:lumOff val="50000"/>
                  </a:schemeClr>
                </a:solidFill>
              </a:rPr>
              <a:t>privaten</a:t>
            </a:r>
            <a:r>
              <a:rPr lang="en-GB" i="1" baseline="30000" noProof="0" dirty="0">
                <a:solidFill>
                  <a:schemeClr val="tx1">
                    <a:lumMod val="50000"/>
                    <a:lumOff val="50000"/>
                  </a:schemeClr>
                </a:solidFill>
              </a:rPr>
              <a:t> </a:t>
            </a:r>
            <a:r>
              <a:rPr lang="en-GB" i="1" baseline="30000" noProof="0" dirty="0" err="1">
                <a:solidFill>
                  <a:schemeClr val="tx1">
                    <a:lumMod val="50000"/>
                    <a:lumOff val="50000"/>
                  </a:schemeClr>
                </a:solidFill>
              </a:rPr>
              <a:t>Haushalte</a:t>
            </a:r>
            <a:r>
              <a:rPr lang="en-GB" i="1" baseline="30000" noProof="0" dirty="0">
                <a:solidFill>
                  <a:schemeClr val="tx1">
                    <a:lumMod val="50000"/>
                    <a:lumOff val="50000"/>
                  </a:schemeClr>
                </a:solidFill>
              </a:rPr>
              <a:t> </a:t>
            </a:r>
            <a:r>
              <a:rPr lang="en-GB" i="1" baseline="30000" noProof="0" dirty="0" err="1">
                <a:solidFill>
                  <a:schemeClr val="tx1">
                    <a:lumMod val="50000"/>
                    <a:lumOff val="50000"/>
                  </a:schemeClr>
                </a:solidFill>
              </a:rPr>
              <a:t>nach</a:t>
            </a:r>
            <a:r>
              <a:rPr lang="en-GB" i="1" baseline="30000" noProof="0" dirty="0">
                <a:solidFill>
                  <a:schemeClr val="tx1">
                    <a:lumMod val="50000"/>
                    <a:lumOff val="50000"/>
                  </a:schemeClr>
                </a:solidFill>
              </a:rPr>
              <a:t> </a:t>
            </a:r>
            <a:r>
              <a:rPr lang="en-GB" i="1" baseline="30000" noProof="0" dirty="0" err="1">
                <a:solidFill>
                  <a:schemeClr val="tx1">
                    <a:lumMod val="50000"/>
                    <a:lumOff val="50000"/>
                  </a:schemeClr>
                </a:solidFill>
              </a:rPr>
              <a:t>Haushaltsgrößenklassen</a:t>
            </a:r>
            <a:r>
              <a:rPr lang="en-GB" baseline="30000" noProof="0" dirty="0"/>
              <a:t>. </a:t>
            </a:r>
          </a:p>
        </p:txBody>
      </p:sp>
      <p:cxnSp>
        <p:nvCxnSpPr>
          <p:cNvPr id="7" name="Gerade Verbindung 6">
            <a:extLst>
              <a:ext uri="{FF2B5EF4-FFF2-40B4-BE49-F238E27FC236}">
                <a16:creationId xmlns:a16="http://schemas.microsoft.com/office/drawing/2014/main" id="{280FC30A-33B0-9430-EF3E-A43FF417385B}"/>
              </a:ext>
            </a:extLst>
          </p:cNvPr>
          <p:cNvCxnSpPr>
            <a:cxnSpLocks/>
          </p:cNvCxnSpPr>
          <p:nvPr/>
        </p:nvCxnSpPr>
        <p:spPr bwMode="auto">
          <a:xfrm>
            <a:off x="320041" y="5871990"/>
            <a:ext cx="5166359" cy="0"/>
          </a:xfrm>
          <a:prstGeom prst="lin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 name="Textplatzhalter 2">
            <a:extLst>
              <a:ext uri="{FF2B5EF4-FFF2-40B4-BE49-F238E27FC236}">
                <a16:creationId xmlns:a16="http://schemas.microsoft.com/office/drawing/2014/main" id="{2FD7DD1E-24B2-1AF7-0198-C817DCB3671B}"/>
              </a:ext>
            </a:extLst>
          </p:cNvPr>
          <p:cNvSpPr>
            <a:spLocks noGrp="1"/>
          </p:cNvSpPr>
          <p:nvPr>
            <p:ph type="body" sz="quarter" idx="11"/>
          </p:nvPr>
        </p:nvSpPr>
        <p:spPr>
          <a:xfrm>
            <a:off x="320042" y="986009"/>
            <a:ext cx="5166358" cy="4823840"/>
          </a:xfrm>
        </p:spPr>
        <p:txBody>
          <a:bodyPr/>
          <a:lstStyle/>
          <a:p>
            <a:r>
              <a:rPr lang="en-GB" noProof="0" dirty="0"/>
              <a:t>Data Source</a:t>
            </a:r>
          </a:p>
          <a:p>
            <a:pPr lvl="1"/>
            <a:r>
              <a:rPr lang="en-GB" noProof="0" dirty="0"/>
              <a:t>SMARD Electricity and Gas Market Data </a:t>
            </a:r>
            <a:r>
              <a:rPr lang="en-GB" baseline="30000" noProof="0" dirty="0"/>
              <a:t>1 </a:t>
            </a:r>
          </a:p>
          <a:p>
            <a:pPr lvl="1">
              <a:buFont typeface="Wingdings" pitchFamily="2" charset="2"/>
              <a:buChar char="è"/>
              <a:defRPr/>
            </a:pPr>
            <a:r>
              <a:rPr lang="en-GB" noProof="0" dirty="0"/>
              <a:t>Federal Bureau for Grids and Energy Systems (</a:t>
            </a:r>
            <a:r>
              <a:rPr lang="en-GB" noProof="0" dirty="0" err="1"/>
              <a:t>Bundesnetzagentur</a:t>
            </a:r>
            <a:r>
              <a:rPr lang="en-GB" noProof="0" dirty="0"/>
              <a:t>)</a:t>
            </a:r>
          </a:p>
          <a:p>
            <a:endParaRPr lang="en-GB" noProof="0" dirty="0"/>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kumimoji="0" lang="en-GB" sz="1600" b="0" i="0" u="none" strike="noStrike" kern="0" cap="none" spc="0" normalizeH="0" baseline="0" noProof="0" dirty="0">
                <a:ln>
                  <a:noFill/>
                </a:ln>
                <a:solidFill>
                  <a:srgbClr val="000000"/>
                </a:solidFill>
                <a:effectLst/>
                <a:uLnTx/>
                <a:uFillTx/>
                <a:latin typeface="Arial"/>
              </a:rPr>
              <a:t>Provides granular energy price data for monthly, weekly, </a:t>
            </a:r>
            <a:r>
              <a:rPr kumimoji="0" lang="en-GB" sz="1600" i="0" u="none" strike="noStrike" kern="0" cap="none" spc="0" normalizeH="0" baseline="0" noProof="0" dirty="0">
                <a:ln>
                  <a:noFill/>
                </a:ln>
                <a:effectLst/>
                <a:uLnTx/>
                <a:uFillTx/>
                <a:latin typeface="Arial"/>
              </a:rPr>
              <a:t>hourly</a:t>
            </a:r>
            <a:r>
              <a:rPr kumimoji="0" lang="en-GB" sz="1600" b="0" i="0" u="none" strike="noStrike" kern="0" cap="none" spc="0" normalizeH="0" baseline="0" noProof="0" dirty="0">
                <a:ln>
                  <a:noFill/>
                </a:ln>
                <a:solidFill>
                  <a:srgbClr val="000000"/>
                </a:solidFill>
                <a:effectLst/>
                <a:uLnTx/>
                <a:uFillTx/>
                <a:latin typeface="Arial"/>
              </a:rPr>
              <a:t> and 15-minute intervals</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noProof="0" dirty="0">
              <a:solidFill>
                <a:srgbClr val="000000"/>
              </a:solidFill>
              <a:latin typeface="Arial"/>
            </a:endParaRPr>
          </a:p>
          <a:p>
            <a:pPr lvl="1">
              <a:defRPr/>
            </a:pPr>
            <a:r>
              <a:rPr kumimoji="0" lang="en-GB" sz="1600" b="0" i="0" u="none" strike="noStrike" kern="0" cap="none" spc="0" normalizeH="0" baseline="0" noProof="0" dirty="0">
                <a:ln>
                  <a:noFill/>
                </a:ln>
                <a:solidFill>
                  <a:srgbClr val="000000"/>
                </a:solidFill>
                <a:effectLst/>
                <a:uLnTx/>
                <a:uFillTx/>
                <a:latin typeface="Arial"/>
              </a:rPr>
              <a:t>German and Luxembourg Wholesale Prices per MWh </a:t>
            </a:r>
            <a:r>
              <a:rPr lang="en-GB" b="1" noProof="0" dirty="0">
                <a:solidFill>
                  <a:srgbClr val="038A5E"/>
                </a:solidFill>
              </a:rPr>
              <a:t>[€/MWh] </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30000" noProof="0" dirty="0">
              <a:ln>
                <a:noFill/>
              </a:ln>
              <a:solidFill>
                <a:srgbClr val="000000"/>
              </a:solidFill>
              <a:effectLst/>
              <a:uLnTx/>
              <a:uFillTx/>
              <a:latin typeface="Arial"/>
            </a:endParaRPr>
          </a:p>
          <a:p>
            <a:pPr marL="85725" lvl="1" indent="0">
              <a:buNone/>
            </a:pPr>
            <a:endParaRPr lang="en-GB" noProof="0" dirty="0"/>
          </a:p>
          <a:p>
            <a:endParaRPr lang="en-GB" noProof="0" dirty="0"/>
          </a:p>
        </p:txBody>
      </p:sp>
      <p:pic>
        <p:nvPicPr>
          <p:cNvPr id="10" name="Grafik 9" descr="SMARD | Marktdaten visualisieren">
            <a:extLst>
              <a:ext uri="{FF2B5EF4-FFF2-40B4-BE49-F238E27FC236}">
                <a16:creationId xmlns:a16="http://schemas.microsoft.com/office/drawing/2014/main" id="{0B4C964C-D699-FEA5-CC5F-77C769F96AC4}"/>
              </a:ext>
            </a:extLst>
          </p:cNvPr>
          <p:cNvPicPr>
            <a:picLocks noChangeAspect="1"/>
          </p:cNvPicPr>
          <p:nvPr/>
        </p:nvPicPr>
        <p:blipFill>
          <a:blip r:embed="rId2"/>
          <a:stretch>
            <a:fillRect/>
          </a:stretch>
        </p:blipFill>
        <p:spPr>
          <a:xfrm>
            <a:off x="7016452" y="987519"/>
            <a:ext cx="3777343" cy="1183378"/>
          </a:xfrm>
          <a:prstGeom prst="rect">
            <a:avLst/>
          </a:prstGeom>
        </p:spPr>
      </p:pic>
      <p:sp>
        <p:nvSpPr>
          <p:cNvPr id="12" name="Textfeld 11">
            <a:extLst>
              <a:ext uri="{FF2B5EF4-FFF2-40B4-BE49-F238E27FC236}">
                <a16:creationId xmlns:a16="http://schemas.microsoft.com/office/drawing/2014/main" id="{14F75CE9-D4AB-D831-C049-F14396315980}"/>
              </a:ext>
            </a:extLst>
          </p:cNvPr>
          <p:cNvSpPr txBox="1"/>
          <p:nvPr/>
        </p:nvSpPr>
        <p:spPr>
          <a:xfrm>
            <a:off x="477639" y="4481826"/>
            <a:ext cx="5008761" cy="1328023"/>
          </a:xfrm>
          <a:prstGeom prst="roundRect">
            <a:avLst/>
          </a:prstGeom>
          <a:solidFill>
            <a:srgbClr val="038A5E">
              <a:alpha val="25000"/>
            </a:srgbClr>
          </a:solidFill>
          <a:ln>
            <a:solidFill>
              <a:srgbClr val="038A5E"/>
            </a:solidFill>
          </a:ln>
        </p:spPr>
        <p:txBody>
          <a:bodyPr wrap="square">
            <a:spAutoFit/>
          </a:bodyPr>
          <a:lstStyle/>
          <a:p>
            <a:r>
              <a:rPr lang="en-GB" noProof="0" dirty="0"/>
              <a:t>&gt; head(weekly[ "Deutschland/Luxemburg [€/MWh]")], 3)</a:t>
            </a:r>
          </a:p>
          <a:p>
            <a:endParaRPr lang="en-GB" noProof="0" dirty="0"/>
          </a:p>
          <a:p>
            <a:r>
              <a:rPr lang="en-GB" noProof="0" dirty="0"/>
              <a:t>    `Deutschland/Luxemburg [€/MWh]`</a:t>
            </a:r>
          </a:p>
          <a:p>
            <a:r>
              <a:rPr lang="en-GB" noProof="0" dirty="0"/>
              <a:t>1                     51.4</a:t>
            </a:r>
          </a:p>
          <a:p>
            <a:r>
              <a:rPr lang="en-GB" noProof="0" dirty="0"/>
              <a:t>2                     54.5</a:t>
            </a:r>
          </a:p>
          <a:p>
            <a:r>
              <a:rPr lang="en-GB" noProof="0" dirty="0"/>
              <a:t>3                      64 </a:t>
            </a:r>
          </a:p>
        </p:txBody>
      </p:sp>
      <p:sp>
        <p:nvSpPr>
          <p:cNvPr id="5" name="Textfeld 4">
            <a:extLst>
              <a:ext uri="{FF2B5EF4-FFF2-40B4-BE49-F238E27FC236}">
                <a16:creationId xmlns:a16="http://schemas.microsoft.com/office/drawing/2014/main" id="{DB9DE311-79BC-0B07-C8B4-096A6CF4E83C}"/>
              </a:ext>
            </a:extLst>
          </p:cNvPr>
          <p:cNvSpPr txBox="1"/>
          <p:nvPr/>
        </p:nvSpPr>
        <p:spPr>
          <a:xfrm>
            <a:off x="6836400" y="2977616"/>
            <a:ext cx="3658762" cy="646986"/>
          </a:xfrm>
          <a:prstGeom prst="roundRect">
            <a:avLst/>
          </a:prstGeom>
          <a:solidFill>
            <a:srgbClr val="038A5E">
              <a:alpha val="25000"/>
            </a:srgbClr>
          </a:solidFill>
          <a:ln>
            <a:solidFill>
              <a:srgbClr val="038A5E"/>
            </a:solidFill>
          </a:ln>
        </p:spPr>
        <p:txBody>
          <a:bodyPr wrap="square">
            <a:spAutoFit/>
          </a:bodyPr>
          <a:lstStyle/>
          <a:p>
            <a:pPr algn="ctr"/>
            <a:r>
              <a:rPr lang="en-GB" sz="1600" noProof="0" dirty="0"/>
              <a:t> Min.   Median    Mean   Max. </a:t>
            </a:r>
          </a:p>
          <a:p>
            <a:pPr algn="ctr"/>
            <a:r>
              <a:rPr lang="en-GB" sz="1600" b="1" noProof="0" dirty="0"/>
              <a:t>11.19   73.85      93.23   585.92 </a:t>
            </a:r>
            <a:endParaRPr lang="en-GB" sz="1600" noProof="0" dirty="0"/>
          </a:p>
        </p:txBody>
      </p:sp>
      <p:sp>
        <p:nvSpPr>
          <p:cNvPr id="13" name="Textfeld 12">
            <a:extLst>
              <a:ext uri="{FF2B5EF4-FFF2-40B4-BE49-F238E27FC236}">
                <a16:creationId xmlns:a16="http://schemas.microsoft.com/office/drawing/2014/main" id="{0466E54A-7A12-399A-5D13-58F964B815FB}"/>
              </a:ext>
            </a:extLst>
          </p:cNvPr>
          <p:cNvSpPr txBox="1"/>
          <p:nvPr/>
        </p:nvSpPr>
        <p:spPr>
          <a:xfrm>
            <a:off x="6836399" y="2158632"/>
            <a:ext cx="1754723" cy="646986"/>
          </a:xfrm>
          <a:prstGeom prst="roundRect">
            <a:avLst/>
          </a:prstGeom>
          <a:solidFill>
            <a:srgbClr val="038A5E">
              <a:alpha val="25000"/>
            </a:srgbClr>
          </a:solidFill>
          <a:ln>
            <a:solidFill>
              <a:srgbClr val="038A5E"/>
            </a:solidFill>
          </a:ln>
        </p:spPr>
        <p:txBody>
          <a:bodyPr wrap="square">
            <a:spAutoFit/>
          </a:bodyPr>
          <a:lstStyle/>
          <a:p>
            <a:pPr algn="ctr"/>
            <a:r>
              <a:rPr lang="en-GB" sz="1600" noProof="0" dirty="0"/>
              <a:t>NA’s</a:t>
            </a:r>
          </a:p>
          <a:p>
            <a:pPr algn="ctr"/>
            <a:r>
              <a:rPr lang="en-GB" sz="1600" b="1" noProof="0" dirty="0"/>
              <a:t>0</a:t>
            </a:r>
            <a:endParaRPr lang="en-GB" sz="1600" noProof="0" dirty="0"/>
          </a:p>
        </p:txBody>
      </p:sp>
      <p:sp>
        <p:nvSpPr>
          <p:cNvPr id="14" name="Textfeld 13">
            <a:extLst>
              <a:ext uri="{FF2B5EF4-FFF2-40B4-BE49-F238E27FC236}">
                <a16:creationId xmlns:a16="http://schemas.microsoft.com/office/drawing/2014/main" id="{5F4D4A87-0FCA-3868-19DC-98BEB8742D3E}"/>
              </a:ext>
            </a:extLst>
          </p:cNvPr>
          <p:cNvSpPr txBox="1"/>
          <p:nvPr/>
        </p:nvSpPr>
        <p:spPr>
          <a:xfrm>
            <a:off x="8740439" y="2170897"/>
            <a:ext cx="1754723" cy="646986"/>
          </a:xfrm>
          <a:prstGeom prst="roundRect">
            <a:avLst/>
          </a:prstGeom>
          <a:solidFill>
            <a:srgbClr val="038A5E">
              <a:alpha val="25000"/>
            </a:srgbClr>
          </a:solidFill>
          <a:ln>
            <a:solidFill>
              <a:srgbClr val="038A5E"/>
            </a:solidFill>
          </a:ln>
        </p:spPr>
        <p:txBody>
          <a:bodyPr wrap="square">
            <a:spAutoFit/>
          </a:bodyPr>
          <a:lstStyle/>
          <a:p>
            <a:pPr algn="ctr"/>
            <a:r>
              <a:rPr lang="en-GB" sz="1600" noProof="0" dirty="0"/>
              <a:t>Observations</a:t>
            </a:r>
          </a:p>
          <a:p>
            <a:pPr algn="ctr"/>
            <a:r>
              <a:rPr lang="en-GB" sz="1600" b="1" dirty="0"/>
              <a:t>379</a:t>
            </a:r>
            <a:endParaRPr lang="en-GB" sz="1600" b="1" noProof="0" dirty="0"/>
          </a:p>
        </p:txBody>
      </p:sp>
      <p:pic>
        <p:nvPicPr>
          <p:cNvPr id="17" name="Grafik 16">
            <a:extLst>
              <a:ext uri="{FF2B5EF4-FFF2-40B4-BE49-F238E27FC236}">
                <a16:creationId xmlns:a16="http://schemas.microsoft.com/office/drawing/2014/main" id="{37555DDF-AC81-4B86-928A-41CB6ED84E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4576" y="3818184"/>
            <a:ext cx="2131726" cy="2131726"/>
          </a:xfrm>
          <a:prstGeom prst="rect">
            <a:avLst/>
          </a:prstGeom>
        </p:spPr>
      </p:pic>
    </p:spTree>
    <p:extLst>
      <p:ext uri="{BB962C8B-B14F-4D97-AF65-F5344CB8AC3E}">
        <p14:creationId xmlns:p14="http://schemas.microsoft.com/office/powerpoint/2010/main" val="16412956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b="1" noProof="0" dirty="0"/>
              <a:t>Data</a:t>
            </a:r>
            <a:r>
              <a:rPr lang="en-GB" noProof="0" dirty="0"/>
              <a:t> I Energy Price Series</a:t>
            </a:r>
          </a:p>
        </p:txBody>
      </p:sp>
      <p:sp>
        <p:nvSpPr>
          <p:cNvPr id="3" name="Textplatzhalter 2"/>
          <p:cNvSpPr>
            <a:spLocks noGrp="1"/>
          </p:cNvSpPr>
          <p:nvPr>
            <p:ph type="body" sz="quarter" idx="11"/>
          </p:nvPr>
        </p:nvSpPr>
        <p:spPr>
          <a:xfrm>
            <a:off x="320041" y="798606"/>
            <a:ext cx="10330962" cy="5279742"/>
          </a:xfrm>
        </p:spPr>
        <p:txBody>
          <a:bodyPr/>
          <a:lstStyle/>
          <a:p>
            <a:pPr marL="85725" lvl="1" indent="0">
              <a:buNone/>
            </a:pPr>
            <a:r>
              <a:rPr lang="en-GB" sz="1800" b="1" noProof="0" dirty="0">
                <a:solidFill>
                  <a:srgbClr val="038A5E"/>
                </a:solidFill>
              </a:rPr>
              <a:t>Wholesale Energy Price Series</a:t>
            </a:r>
          </a:p>
          <a:p>
            <a:pPr lvl="1"/>
            <a:r>
              <a:rPr lang="en-GB" noProof="0" dirty="0"/>
              <a:t>Energy Price Crisis after Russian invasion of Ukraine</a:t>
            </a:r>
          </a:p>
        </p:txBody>
      </p:sp>
      <p:sp>
        <p:nvSpPr>
          <p:cNvPr id="4" name="Textplatzhalter 3"/>
          <p:cNvSpPr>
            <a:spLocks noGrp="1"/>
          </p:cNvSpPr>
          <p:nvPr>
            <p:ph type="body" sz="quarter" idx="12"/>
          </p:nvPr>
        </p:nvSpPr>
        <p:spPr/>
        <p:txBody>
          <a:bodyPr/>
          <a:lstStyle/>
          <a:p>
            <a:r>
              <a:rPr lang="en-GB" dirty="0"/>
              <a:t>6</a:t>
            </a:r>
            <a:endParaRPr lang="en-GB" noProof="0" dirty="0"/>
          </a:p>
        </p:txBody>
      </p:sp>
      <p:pic>
        <p:nvPicPr>
          <p:cNvPr id="5" name="Grafik 4">
            <a:extLst>
              <a:ext uri="{FF2B5EF4-FFF2-40B4-BE49-F238E27FC236}">
                <a16:creationId xmlns:a16="http://schemas.microsoft.com/office/drawing/2014/main" id="{3B65280C-36D1-E821-1ABD-0C631579F98E}"/>
              </a:ext>
            </a:extLst>
          </p:cNvPr>
          <p:cNvPicPr>
            <a:picLocks noChangeAspect="1"/>
          </p:cNvPicPr>
          <p:nvPr/>
        </p:nvPicPr>
        <p:blipFill>
          <a:blip r:embed="rId3"/>
          <a:stretch>
            <a:fillRect/>
          </a:stretch>
        </p:blipFill>
        <p:spPr>
          <a:xfrm>
            <a:off x="584660" y="1583098"/>
            <a:ext cx="9801724" cy="4656289"/>
          </a:xfrm>
          <a:prstGeom prst="rect">
            <a:avLst/>
          </a:prstGeom>
        </p:spPr>
      </p:pic>
    </p:spTree>
    <p:extLst>
      <p:ext uri="{BB962C8B-B14F-4D97-AF65-F5344CB8AC3E}">
        <p14:creationId xmlns:p14="http://schemas.microsoft.com/office/powerpoint/2010/main" val="4081491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36C19-FC48-CDD5-78B9-D8F346C7619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5144FF2-0D80-6CB3-9BC8-5F4DC081A29B}"/>
              </a:ext>
            </a:extLst>
          </p:cNvPr>
          <p:cNvSpPr>
            <a:spLocks noGrp="1"/>
          </p:cNvSpPr>
          <p:nvPr>
            <p:ph type="title"/>
          </p:nvPr>
        </p:nvSpPr>
        <p:spPr/>
        <p:txBody>
          <a:bodyPr/>
          <a:lstStyle/>
          <a:p>
            <a:r>
              <a:rPr lang="en-GB" b="1" noProof="0" dirty="0"/>
              <a:t>Data </a:t>
            </a:r>
            <a:r>
              <a:rPr lang="en-GB" noProof="0" dirty="0"/>
              <a:t>I Selection &amp; Choices</a:t>
            </a:r>
          </a:p>
        </p:txBody>
      </p:sp>
      <p:sp>
        <p:nvSpPr>
          <p:cNvPr id="4" name="Textplatzhalter 3">
            <a:extLst>
              <a:ext uri="{FF2B5EF4-FFF2-40B4-BE49-F238E27FC236}">
                <a16:creationId xmlns:a16="http://schemas.microsoft.com/office/drawing/2014/main" id="{8047CA15-8E5D-2C38-F656-58C25FE3C368}"/>
              </a:ext>
            </a:extLst>
          </p:cNvPr>
          <p:cNvSpPr>
            <a:spLocks noGrp="1"/>
          </p:cNvSpPr>
          <p:nvPr>
            <p:ph type="body" sz="quarter" idx="12"/>
          </p:nvPr>
        </p:nvSpPr>
        <p:spPr/>
        <p:txBody>
          <a:bodyPr/>
          <a:lstStyle/>
          <a:p>
            <a:r>
              <a:rPr lang="en-GB" dirty="0"/>
              <a:t>7</a:t>
            </a:r>
            <a:endParaRPr lang="en-GB" noProof="0" dirty="0"/>
          </a:p>
        </p:txBody>
      </p:sp>
      <p:sp>
        <p:nvSpPr>
          <p:cNvPr id="6" name="Textfeld 5">
            <a:extLst>
              <a:ext uri="{FF2B5EF4-FFF2-40B4-BE49-F238E27FC236}">
                <a16:creationId xmlns:a16="http://schemas.microsoft.com/office/drawing/2014/main" id="{D00A4C05-2C89-3123-26AC-248176A4D0F8}"/>
              </a:ext>
            </a:extLst>
          </p:cNvPr>
          <p:cNvSpPr txBox="1"/>
          <p:nvPr/>
        </p:nvSpPr>
        <p:spPr>
          <a:xfrm>
            <a:off x="233150" y="5927437"/>
            <a:ext cx="5253249" cy="215444"/>
          </a:xfrm>
          <a:prstGeom prst="rect">
            <a:avLst/>
          </a:prstGeom>
          <a:noFill/>
        </p:spPr>
        <p:txBody>
          <a:bodyPr wrap="square" rtlCol="0">
            <a:spAutoFit/>
          </a:bodyPr>
          <a:lstStyle/>
          <a:p>
            <a:r>
              <a:rPr lang="en-GB" baseline="30000" noProof="0" dirty="0">
                <a:solidFill>
                  <a:schemeClr val="tx1">
                    <a:lumMod val="50000"/>
                    <a:lumOff val="50000"/>
                  </a:schemeClr>
                </a:solidFill>
              </a:rPr>
              <a:t>2 </a:t>
            </a:r>
            <a:r>
              <a:rPr lang="en-GB" baseline="30000" noProof="0" dirty="0" err="1">
                <a:solidFill>
                  <a:schemeClr val="tx1">
                    <a:lumMod val="50000"/>
                    <a:lumOff val="50000"/>
                  </a:schemeClr>
                </a:solidFill>
              </a:rPr>
              <a:t>Bundesnetzagentur</a:t>
            </a:r>
            <a:r>
              <a:rPr lang="en-GB" baseline="30000" noProof="0" dirty="0">
                <a:solidFill>
                  <a:schemeClr val="tx1">
                    <a:lumMod val="50000"/>
                    <a:lumOff val="50000"/>
                  </a:schemeClr>
                </a:solidFill>
              </a:rPr>
              <a:t>. </a:t>
            </a:r>
            <a:r>
              <a:rPr lang="en-GB" i="1" baseline="30000" noProof="0" dirty="0" err="1">
                <a:solidFill>
                  <a:schemeClr val="tx1">
                    <a:lumMod val="50000"/>
                    <a:lumOff val="50000"/>
                  </a:schemeClr>
                </a:solidFill>
              </a:rPr>
              <a:t>Engpassbewirtschaftung</a:t>
            </a:r>
            <a:r>
              <a:rPr lang="en-GB" i="1" baseline="30000" noProof="0" dirty="0">
                <a:solidFill>
                  <a:schemeClr val="tx1">
                    <a:lumMod val="50000"/>
                    <a:lumOff val="50000"/>
                  </a:schemeClr>
                </a:solidFill>
              </a:rPr>
              <a:t> an der </a:t>
            </a:r>
            <a:r>
              <a:rPr lang="en-GB" i="1" baseline="30000" noProof="0" dirty="0" err="1">
                <a:solidFill>
                  <a:schemeClr val="tx1">
                    <a:lumMod val="50000"/>
                    <a:lumOff val="50000"/>
                  </a:schemeClr>
                </a:solidFill>
              </a:rPr>
              <a:t>Grenze</a:t>
            </a:r>
            <a:r>
              <a:rPr lang="en-GB" i="1" baseline="30000" noProof="0" dirty="0">
                <a:solidFill>
                  <a:schemeClr val="tx1">
                    <a:lumMod val="50000"/>
                    <a:lumOff val="50000"/>
                  </a:schemeClr>
                </a:solidFill>
              </a:rPr>
              <a:t> </a:t>
            </a:r>
            <a:r>
              <a:rPr lang="en-GB" i="1" baseline="30000" noProof="0" dirty="0" err="1">
                <a:solidFill>
                  <a:schemeClr val="tx1">
                    <a:lumMod val="50000"/>
                    <a:lumOff val="50000"/>
                  </a:schemeClr>
                </a:solidFill>
              </a:rPr>
              <a:t>zu</a:t>
            </a:r>
            <a:r>
              <a:rPr lang="en-GB" i="1" baseline="30000" noProof="0" dirty="0">
                <a:solidFill>
                  <a:schemeClr val="tx1">
                    <a:lumMod val="50000"/>
                    <a:lumOff val="50000"/>
                  </a:schemeClr>
                </a:solidFill>
              </a:rPr>
              <a:t> Österreich</a:t>
            </a:r>
            <a:r>
              <a:rPr lang="en-GB" baseline="30000" noProof="0" dirty="0">
                <a:solidFill>
                  <a:schemeClr val="tx1">
                    <a:lumMod val="50000"/>
                    <a:lumOff val="50000"/>
                  </a:schemeClr>
                </a:solidFill>
              </a:rPr>
              <a:t>. SMARD.    </a:t>
            </a:r>
          </a:p>
        </p:txBody>
      </p:sp>
      <p:cxnSp>
        <p:nvCxnSpPr>
          <p:cNvPr id="7" name="Gerade Verbindung 6">
            <a:extLst>
              <a:ext uri="{FF2B5EF4-FFF2-40B4-BE49-F238E27FC236}">
                <a16:creationId xmlns:a16="http://schemas.microsoft.com/office/drawing/2014/main" id="{7A9E6E1C-2350-F10D-B3A8-4BEAFFF63D94}"/>
              </a:ext>
            </a:extLst>
          </p:cNvPr>
          <p:cNvCxnSpPr>
            <a:cxnSpLocks/>
          </p:cNvCxnSpPr>
          <p:nvPr/>
        </p:nvCxnSpPr>
        <p:spPr bwMode="auto">
          <a:xfrm>
            <a:off x="320041" y="5871990"/>
            <a:ext cx="5166359" cy="0"/>
          </a:xfrm>
          <a:prstGeom prst="lin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Abgerundetes Rechteck 13">
            <a:extLst>
              <a:ext uri="{FF2B5EF4-FFF2-40B4-BE49-F238E27FC236}">
                <a16:creationId xmlns:a16="http://schemas.microsoft.com/office/drawing/2014/main" id="{C60F3FC3-1E6D-8F65-95D5-A1DC17976E25}"/>
              </a:ext>
            </a:extLst>
          </p:cNvPr>
          <p:cNvSpPr/>
          <p:nvPr/>
        </p:nvSpPr>
        <p:spPr bwMode="auto">
          <a:xfrm>
            <a:off x="4004127" y="1725830"/>
            <a:ext cx="6522360" cy="352853"/>
          </a:xfrm>
          <a:prstGeom prst="roundRect">
            <a:avLst/>
          </a:prstGeom>
          <a:solidFill>
            <a:schemeClr val="bg1">
              <a:alpha val="25000"/>
            </a:scheme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Change of Price Regions from GER/LUX/AUS to GER/LUX</a:t>
            </a:r>
            <a:r>
              <a:rPr lang="en-GB" sz="1600" baseline="30000" noProof="0" dirty="0"/>
              <a:t>1</a:t>
            </a:r>
            <a:endParaRPr lang="en-GB" sz="1600" noProof="0" dirty="0"/>
          </a:p>
        </p:txBody>
      </p:sp>
      <p:sp>
        <p:nvSpPr>
          <p:cNvPr id="17" name="Geschweifte Klammer rechts 16">
            <a:extLst>
              <a:ext uri="{FF2B5EF4-FFF2-40B4-BE49-F238E27FC236}">
                <a16:creationId xmlns:a16="http://schemas.microsoft.com/office/drawing/2014/main" id="{1AA5B434-D9C5-1C97-1AF0-940AF918C864}"/>
              </a:ext>
            </a:extLst>
          </p:cNvPr>
          <p:cNvSpPr/>
          <p:nvPr/>
        </p:nvSpPr>
        <p:spPr bwMode="auto">
          <a:xfrm>
            <a:off x="3594734" y="2569582"/>
            <a:ext cx="305008" cy="567047"/>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19" name="Abgerundetes Rechteck 18">
            <a:extLst>
              <a:ext uri="{FF2B5EF4-FFF2-40B4-BE49-F238E27FC236}">
                <a16:creationId xmlns:a16="http://schemas.microsoft.com/office/drawing/2014/main" id="{C91E79FB-39CE-1FA3-1271-3E9608D3F7D3}"/>
              </a:ext>
            </a:extLst>
          </p:cNvPr>
          <p:cNvSpPr/>
          <p:nvPr/>
        </p:nvSpPr>
        <p:spPr bwMode="auto">
          <a:xfrm>
            <a:off x="4004126" y="2681130"/>
            <a:ext cx="6512729" cy="352853"/>
          </a:xfrm>
          <a:prstGeom prst="roundRect">
            <a:avLst/>
          </a:prstGeom>
          <a:solidFill>
            <a:schemeClr val="bg1">
              <a:alpha val="25000"/>
            </a:scheme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Avoids daily noise and preserves visibility of seasonality</a:t>
            </a:r>
          </a:p>
        </p:txBody>
      </p:sp>
      <p:sp>
        <p:nvSpPr>
          <p:cNvPr id="20" name="Abgerundetes Rechteck 19">
            <a:extLst>
              <a:ext uri="{FF2B5EF4-FFF2-40B4-BE49-F238E27FC236}">
                <a16:creationId xmlns:a16="http://schemas.microsoft.com/office/drawing/2014/main" id="{1967465A-2C7E-F34F-8EEF-3493601D10D8}"/>
              </a:ext>
            </a:extLst>
          </p:cNvPr>
          <p:cNvSpPr/>
          <p:nvPr/>
        </p:nvSpPr>
        <p:spPr bwMode="auto">
          <a:xfrm>
            <a:off x="4004126" y="3599562"/>
            <a:ext cx="6512729" cy="352853"/>
          </a:xfrm>
          <a:prstGeom prst="roundRect">
            <a:avLst/>
          </a:prstGeom>
          <a:solidFill>
            <a:schemeClr val="bg1">
              <a:alpha val="25000"/>
            </a:scheme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Household energy prices depend on provider</a:t>
            </a:r>
          </a:p>
        </p:txBody>
      </p:sp>
      <p:sp>
        <p:nvSpPr>
          <p:cNvPr id="21" name="Geschweifte Klammer rechts 20">
            <a:extLst>
              <a:ext uri="{FF2B5EF4-FFF2-40B4-BE49-F238E27FC236}">
                <a16:creationId xmlns:a16="http://schemas.microsoft.com/office/drawing/2014/main" id="{C32CCCE3-9E98-93D8-E833-53FF52BE8731}"/>
              </a:ext>
            </a:extLst>
          </p:cNvPr>
          <p:cNvSpPr/>
          <p:nvPr/>
        </p:nvSpPr>
        <p:spPr bwMode="auto">
          <a:xfrm>
            <a:off x="3594734" y="1623532"/>
            <a:ext cx="305008" cy="567047"/>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22" name="Geschweifte Klammer rechts 21">
            <a:extLst>
              <a:ext uri="{FF2B5EF4-FFF2-40B4-BE49-F238E27FC236}">
                <a16:creationId xmlns:a16="http://schemas.microsoft.com/office/drawing/2014/main" id="{00511A90-A285-A3F5-2A1E-91C6684C3879}"/>
              </a:ext>
            </a:extLst>
          </p:cNvPr>
          <p:cNvSpPr/>
          <p:nvPr/>
        </p:nvSpPr>
        <p:spPr bwMode="auto">
          <a:xfrm>
            <a:off x="3594734" y="3492466"/>
            <a:ext cx="305008" cy="567047"/>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24" name="Geschweifte Klammer rechts 23">
            <a:extLst>
              <a:ext uri="{FF2B5EF4-FFF2-40B4-BE49-F238E27FC236}">
                <a16:creationId xmlns:a16="http://schemas.microsoft.com/office/drawing/2014/main" id="{59B51F3E-9F6A-CB61-9B71-8B8E3A209A86}"/>
              </a:ext>
            </a:extLst>
          </p:cNvPr>
          <p:cNvSpPr/>
          <p:nvPr/>
        </p:nvSpPr>
        <p:spPr bwMode="auto">
          <a:xfrm>
            <a:off x="3594734" y="4411638"/>
            <a:ext cx="305008" cy="567047"/>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25" name="Abgerundetes Rechteck 24">
            <a:extLst>
              <a:ext uri="{FF2B5EF4-FFF2-40B4-BE49-F238E27FC236}">
                <a16:creationId xmlns:a16="http://schemas.microsoft.com/office/drawing/2014/main" id="{E9094655-BE91-BEC4-3C3D-0D389E6EC776}"/>
              </a:ext>
            </a:extLst>
          </p:cNvPr>
          <p:cNvSpPr/>
          <p:nvPr/>
        </p:nvSpPr>
        <p:spPr bwMode="auto">
          <a:xfrm>
            <a:off x="320041" y="1737068"/>
            <a:ext cx="3266829"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Time Series starting 1.10.2018</a:t>
            </a:r>
          </a:p>
        </p:txBody>
      </p:sp>
      <p:sp>
        <p:nvSpPr>
          <p:cNvPr id="26" name="Abgerundetes Rechteck 25">
            <a:extLst>
              <a:ext uri="{FF2B5EF4-FFF2-40B4-BE49-F238E27FC236}">
                <a16:creationId xmlns:a16="http://schemas.microsoft.com/office/drawing/2014/main" id="{B0F19972-C7C7-49F3-698C-1158CB69C45F}"/>
              </a:ext>
            </a:extLst>
          </p:cNvPr>
          <p:cNvSpPr/>
          <p:nvPr/>
        </p:nvSpPr>
        <p:spPr bwMode="auto">
          <a:xfrm>
            <a:off x="320042" y="2683118"/>
            <a:ext cx="3266829"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b="1" noProof="0" dirty="0"/>
              <a:t>Weekly</a:t>
            </a:r>
            <a:r>
              <a:rPr lang="en-GB" sz="1600" noProof="0" dirty="0"/>
              <a:t> Price Data</a:t>
            </a:r>
          </a:p>
        </p:txBody>
      </p:sp>
      <p:sp>
        <p:nvSpPr>
          <p:cNvPr id="27" name="Abgerundetes Rechteck 26">
            <a:extLst>
              <a:ext uri="{FF2B5EF4-FFF2-40B4-BE49-F238E27FC236}">
                <a16:creationId xmlns:a16="http://schemas.microsoft.com/office/drawing/2014/main" id="{CE7C2FF0-D0F7-D2BF-6642-836ACD2BEB9D}"/>
              </a:ext>
            </a:extLst>
          </p:cNvPr>
          <p:cNvSpPr/>
          <p:nvPr/>
        </p:nvSpPr>
        <p:spPr bwMode="auto">
          <a:xfrm>
            <a:off x="320041" y="3606002"/>
            <a:ext cx="3266829"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German </a:t>
            </a:r>
            <a:r>
              <a:rPr lang="en-GB" sz="1600" b="1" noProof="0" dirty="0"/>
              <a:t>Wholesale Prices</a:t>
            </a:r>
          </a:p>
        </p:txBody>
      </p:sp>
      <p:sp>
        <p:nvSpPr>
          <p:cNvPr id="28" name="Abgerundetes Rechteck 27">
            <a:extLst>
              <a:ext uri="{FF2B5EF4-FFF2-40B4-BE49-F238E27FC236}">
                <a16:creationId xmlns:a16="http://schemas.microsoft.com/office/drawing/2014/main" id="{0AD934A5-AE86-C748-A6E1-C7F630242C7C}"/>
              </a:ext>
            </a:extLst>
          </p:cNvPr>
          <p:cNvSpPr/>
          <p:nvPr/>
        </p:nvSpPr>
        <p:spPr bwMode="auto">
          <a:xfrm>
            <a:off x="320041" y="4522191"/>
            <a:ext cx="3266829"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Frequency = 52</a:t>
            </a:r>
          </a:p>
        </p:txBody>
      </p:sp>
      <p:sp>
        <p:nvSpPr>
          <p:cNvPr id="8" name="Abgerundetes Rechteck 7">
            <a:extLst>
              <a:ext uri="{FF2B5EF4-FFF2-40B4-BE49-F238E27FC236}">
                <a16:creationId xmlns:a16="http://schemas.microsoft.com/office/drawing/2014/main" id="{F6811D39-3383-5DBC-C5AD-6421E8715EE6}"/>
              </a:ext>
            </a:extLst>
          </p:cNvPr>
          <p:cNvSpPr/>
          <p:nvPr/>
        </p:nvSpPr>
        <p:spPr bwMode="auto">
          <a:xfrm>
            <a:off x="4013759" y="4522191"/>
            <a:ext cx="6512729" cy="352853"/>
          </a:xfrm>
          <a:prstGeom prst="roundRect">
            <a:avLst/>
          </a:prstGeom>
          <a:solidFill>
            <a:schemeClr val="bg1">
              <a:alpha val="25000"/>
            </a:scheme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Simplification, instead of approx. 52.18 weeks/year</a:t>
            </a:r>
          </a:p>
        </p:txBody>
      </p:sp>
      <p:sp>
        <p:nvSpPr>
          <p:cNvPr id="13" name="Textfeld 12">
            <a:extLst>
              <a:ext uri="{FF2B5EF4-FFF2-40B4-BE49-F238E27FC236}">
                <a16:creationId xmlns:a16="http://schemas.microsoft.com/office/drawing/2014/main" id="{BA2663FF-749A-33A5-EB6B-F6CEE91D288B}"/>
              </a:ext>
            </a:extLst>
          </p:cNvPr>
          <p:cNvSpPr txBox="1"/>
          <p:nvPr/>
        </p:nvSpPr>
        <p:spPr>
          <a:xfrm>
            <a:off x="1130152" y="989066"/>
            <a:ext cx="1646605" cy="369332"/>
          </a:xfrm>
          <a:prstGeom prst="rect">
            <a:avLst/>
          </a:prstGeom>
          <a:noFill/>
        </p:spPr>
        <p:txBody>
          <a:bodyPr wrap="none" rtlCol="0">
            <a:spAutoFit/>
          </a:bodyPr>
          <a:lstStyle/>
          <a:p>
            <a:pPr algn="l"/>
            <a:r>
              <a:rPr lang="en-GB" sz="1800" b="1" noProof="0" dirty="0">
                <a:solidFill>
                  <a:srgbClr val="038A5E"/>
                </a:solidFill>
              </a:rPr>
              <a:t>Assumptions</a:t>
            </a:r>
          </a:p>
        </p:txBody>
      </p:sp>
      <p:sp>
        <p:nvSpPr>
          <p:cNvPr id="15" name="Textfeld 14">
            <a:extLst>
              <a:ext uri="{FF2B5EF4-FFF2-40B4-BE49-F238E27FC236}">
                <a16:creationId xmlns:a16="http://schemas.microsoft.com/office/drawing/2014/main" id="{9DF6B61C-B5E2-3978-2FA6-681D5CC031C8}"/>
              </a:ext>
            </a:extLst>
          </p:cNvPr>
          <p:cNvSpPr txBox="1"/>
          <p:nvPr/>
        </p:nvSpPr>
        <p:spPr>
          <a:xfrm>
            <a:off x="6437187" y="988588"/>
            <a:ext cx="1364476" cy="369332"/>
          </a:xfrm>
          <a:prstGeom prst="rect">
            <a:avLst/>
          </a:prstGeom>
          <a:noFill/>
        </p:spPr>
        <p:txBody>
          <a:bodyPr wrap="none" rtlCol="0">
            <a:spAutoFit/>
          </a:bodyPr>
          <a:lstStyle/>
          <a:p>
            <a:pPr algn="l"/>
            <a:r>
              <a:rPr lang="en-GB" sz="1800" b="1" noProof="0" dirty="0">
                <a:solidFill>
                  <a:srgbClr val="038A5E"/>
                </a:solidFill>
              </a:rPr>
              <a:t>Reasoning</a:t>
            </a:r>
          </a:p>
        </p:txBody>
      </p:sp>
      <p:sp>
        <p:nvSpPr>
          <p:cNvPr id="3" name="Geschweifte Klammer rechts 2">
            <a:extLst>
              <a:ext uri="{FF2B5EF4-FFF2-40B4-BE49-F238E27FC236}">
                <a16:creationId xmlns:a16="http://schemas.microsoft.com/office/drawing/2014/main" id="{C4971C30-C529-82D7-E67B-0ECBA78B5559}"/>
              </a:ext>
            </a:extLst>
          </p:cNvPr>
          <p:cNvSpPr/>
          <p:nvPr/>
        </p:nvSpPr>
        <p:spPr bwMode="auto">
          <a:xfrm>
            <a:off x="3594733" y="5221284"/>
            <a:ext cx="305008" cy="567047"/>
          </a:xfrm>
          <a:prstGeom prst="rightBrac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GB" noProof="0" dirty="0"/>
          </a:p>
        </p:txBody>
      </p:sp>
      <p:sp>
        <p:nvSpPr>
          <p:cNvPr id="5" name="Abgerundetes Rechteck 4">
            <a:extLst>
              <a:ext uri="{FF2B5EF4-FFF2-40B4-BE49-F238E27FC236}">
                <a16:creationId xmlns:a16="http://schemas.microsoft.com/office/drawing/2014/main" id="{C150B0F3-118B-E73D-D544-C89B33181038}"/>
              </a:ext>
            </a:extLst>
          </p:cNvPr>
          <p:cNvSpPr/>
          <p:nvPr/>
        </p:nvSpPr>
        <p:spPr bwMode="auto">
          <a:xfrm>
            <a:off x="320040" y="5331837"/>
            <a:ext cx="3266829" cy="352853"/>
          </a:xfrm>
          <a:prstGeom prst="roundRect">
            <a:avLst/>
          </a:prstGeom>
          <a:solidFill>
            <a:srgbClr val="038A5E">
              <a:alpha val="25000"/>
            </a:srgb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Log transformed prices</a:t>
            </a:r>
          </a:p>
        </p:txBody>
      </p:sp>
      <p:sp>
        <p:nvSpPr>
          <p:cNvPr id="9" name="Abgerundetes Rechteck 8">
            <a:extLst>
              <a:ext uri="{FF2B5EF4-FFF2-40B4-BE49-F238E27FC236}">
                <a16:creationId xmlns:a16="http://schemas.microsoft.com/office/drawing/2014/main" id="{6008C16B-868E-04EC-4932-694F12F29FE0}"/>
              </a:ext>
            </a:extLst>
          </p:cNvPr>
          <p:cNvSpPr/>
          <p:nvPr/>
        </p:nvSpPr>
        <p:spPr bwMode="auto">
          <a:xfrm>
            <a:off x="4013758" y="5331837"/>
            <a:ext cx="6512729" cy="352853"/>
          </a:xfrm>
          <a:prstGeom prst="roundRect">
            <a:avLst/>
          </a:prstGeom>
          <a:solidFill>
            <a:schemeClr val="bg1">
              <a:alpha val="25000"/>
            </a:schemeClr>
          </a:solidFill>
          <a:ln w="15875" cap="flat" cmpd="sng" algn="ctr">
            <a:solidFill>
              <a:srgbClr val="038A5E"/>
            </a:solidFill>
            <a:prstDash val="solid"/>
            <a:round/>
            <a:headEnd type="none" w="med" len="med"/>
            <a:tailEnd type="none" w="med" len="med"/>
          </a:ln>
          <a:effectLst/>
        </p:spPr>
        <p:txBody>
          <a:bodyPr vert="horz" wrap="square" lIns="36000" tIns="36000" rIns="36000" bIns="36000" numCol="1" rtlCol="0" anchor="t" anchorCtr="0" compatLnSpc="1">
            <a:prstTxWarp prst="textNoShape">
              <a:avLst/>
            </a:prstTxWarp>
            <a:spAutoFit/>
          </a:bodyPr>
          <a:lstStyle/>
          <a:p>
            <a:pPr algn="ctr"/>
            <a:r>
              <a:rPr lang="en-GB" sz="1600" noProof="0" dirty="0"/>
              <a:t>Stabilises variance and normalizes large spikes &amp; differences</a:t>
            </a:r>
          </a:p>
        </p:txBody>
      </p:sp>
    </p:spTree>
    <p:extLst>
      <p:ext uri="{BB962C8B-B14F-4D97-AF65-F5344CB8AC3E}">
        <p14:creationId xmlns:p14="http://schemas.microsoft.com/office/powerpoint/2010/main" val="923186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E5B61-11B5-8C22-8D1C-F318B9733CB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D4AC988-7240-36CF-314F-7929F743B50F}"/>
              </a:ext>
            </a:extLst>
          </p:cNvPr>
          <p:cNvSpPr>
            <a:spLocks noGrp="1"/>
          </p:cNvSpPr>
          <p:nvPr>
            <p:ph type="title"/>
          </p:nvPr>
        </p:nvSpPr>
        <p:spPr/>
        <p:txBody>
          <a:bodyPr/>
          <a:lstStyle/>
          <a:p>
            <a:r>
              <a:rPr lang="en-GB" b="1" noProof="0" dirty="0"/>
              <a:t>Decomposition</a:t>
            </a:r>
            <a:r>
              <a:rPr lang="en-GB" noProof="0" dirty="0"/>
              <a:t> I Energy Price Series</a:t>
            </a:r>
          </a:p>
        </p:txBody>
      </p:sp>
      <p:sp>
        <p:nvSpPr>
          <p:cNvPr id="3" name="Textplatzhalter 2">
            <a:extLst>
              <a:ext uri="{FF2B5EF4-FFF2-40B4-BE49-F238E27FC236}">
                <a16:creationId xmlns:a16="http://schemas.microsoft.com/office/drawing/2014/main" id="{3FCDF358-B74C-375A-275A-39764E06118B}"/>
              </a:ext>
            </a:extLst>
          </p:cNvPr>
          <p:cNvSpPr>
            <a:spLocks noGrp="1"/>
          </p:cNvSpPr>
          <p:nvPr>
            <p:ph type="body" sz="quarter" idx="11"/>
          </p:nvPr>
        </p:nvSpPr>
        <p:spPr>
          <a:xfrm>
            <a:off x="320041" y="798606"/>
            <a:ext cx="10330962" cy="5279742"/>
          </a:xfrm>
        </p:spPr>
        <p:txBody>
          <a:bodyPr/>
          <a:lstStyle/>
          <a:p>
            <a:pPr marL="85725" lvl="1" indent="0">
              <a:buNone/>
            </a:pPr>
            <a:r>
              <a:rPr lang="en-GB" sz="1800" b="1" noProof="0" dirty="0">
                <a:solidFill>
                  <a:srgbClr val="038A5E"/>
                </a:solidFill>
              </a:rPr>
              <a:t>Log- Transformed Series Comparison</a:t>
            </a:r>
          </a:p>
        </p:txBody>
      </p:sp>
      <p:sp>
        <p:nvSpPr>
          <p:cNvPr id="4" name="Textplatzhalter 3">
            <a:extLst>
              <a:ext uri="{FF2B5EF4-FFF2-40B4-BE49-F238E27FC236}">
                <a16:creationId xmlns:a16="http://schemas.microsoft.com/office/drawing/2014/main" id="{64F70A2F-350F-BA68-A5A3-F7F2FB875B65}"/>
              </a:ext>
            </a:extLst>
          </p:cNvPr>
          <p:cNvSpPr>
            <a:spLocks noGrp="1"/>
          </p:cNvSpPr>
          <p:nvPr>
            <p:ph type="body" sz="quarter" idx="12"/>
          </p:nvPr>
        </p:nvSpPr>
        <p:spPr/>
        <p:txBody>
          <a:bodyPr/>
          <a:lstStyle/>
          <a:p>
            <a:r>
              <a:rPr lang="en-GB" dirty="0"/>
              <a:t>8</a:t>
            </a:r>
            <a:endParaRPr lang="en-GB" noProof="0" dirty="0"/>
          </a:p>
        </p:txBody>
      </p:sp>
      <p:pic>
        <p:nvPicPr>
          <p:cNvPr id="8" name="Grafik 7">
            <a:extLst>
              <a:ext uri="{FF2B5EF4-FFF2-40B4-BE49-F238E27FC236}">
                <a16:creationId xmlns:a16="http://schemas.microsoft.com/office/drawing/2014/main" id="{2CB2851E-701D-15C5-3441-74B91D610EAE}"/>
              </a:ext>
            </a:extLst>
          </p:cNvPr>
          <p:cNvPicPr>
            <a:picLocks noChangeAspect="1"/>
          </p:cNvPicPr>
          <p:nvPr/>
        </p:nvPicPr>
        <p:blipFill>
          <a:blip r:embed="rId3"/>
          <a:stretch>
            <a:fillRect/>
          </a:stretch>
        </p:blipFill>
        <p:spPr>
          <a:xfrm>
            <a:off x="320041" y="1265663"/>
            <a:ext cx="10281647" cy="4812685"/>
          </a:xfrm>
          <a:prstGeom prst="rect">
            <a:avLst/>
          </a:prstGeom>
        </p:spPr>
      </p:pic>
    </p:spTree>
    <p:extLst>
      <p:ext uri="{BB962C8B-B14F-4D97-AF65-F5344CB8AC3E}">
        <p14:creationId xmlns:p14="http://schemas.microsoft.com/office/powerpoint/2010/main" val="15793970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861D5-77A9-793E-A73D-E16EF9615A58}"/>
            </a:ext>
          </a:extLst>
        </p:cNvPr>
        <p:cNvGrpSpPr/>
        <p:nvPr/>
      </p:nvGrpSpPr>
      <p:grpSpPr>
        <a:xfrm>
          <a:off x="0" y="0"/>
          <a:ext cx="0" cy="0"/>
          <a:chOff x="0" y="0"/>
          <a:chExt cx="0" cy="0"/>
        </a:xfrm>
      </p:grpSpPr>
      <p:sp>
        <p:nvSpPr>
          <p:cNvPr id="4" name="Textplatzhalter 3">
            <a:extLst>
              <a:ext uri="{FF2B5EF4-FFF2-40B4-BE49-F238E27FC236}">
                <a16:creationId xmlns:a16="http://schemas.microsoft.com/office/drawing/2014/main" id="{E3BC4D85-99CC-5109-89CF-B0E586D2EFB4}"/>
              </a:ext>
            </a:extLst>
          </p:cNvPr>
          <p:cNvSpPr>
            <a:spLocks noGrp="1"/>
          </p:cNvSpPr>
          <p:nvPr>
            <p:ph type="body" sz="quarter" idx="12"/>
          </p:nvPr>
        </p:nvSpPr>
        <p:spPr/>
        <p:txBody>
          <a:bodyPr/>
          <a:lstStyle/>
          <a:p>
            <a:r>
              <a:rPr lang="en-GB" dirty="0"/>
              <a:t>9</a:t>
            </a:r>
            <a:endParaRPr lang="en-GB" noProof="0" dirty="0"/>
          </a:p>
        </p:txBody>
      </p:sp>
      <p:sp>
        <p:nvSpPr>
          <p:cNvPr id="8" name="Textfeld 7">
            <a:extLst>
              <a:ext uri="{FF2B5EF4-FFF2-40B4-BE49-F238E27FC236}">
                <a16:creationId xmlns:a16="http://schemas.microsoft.com/office/drawing/2014/main" id="{878A92A6-7923-679A-61AE-8248C754DC4C}"/>
              </a:ext>
            </a:extLst>
          </p:cNvPr>
          <p:cNvSpPr txBox="1"/>
          <p:nvPr/>
        </p:nvSpPr>
        <p:spPr>
          <a:xfrm>
            <a:off x="6289219" y="858965"/>
            <a:ext cx="3910814" cy="3416320"/>
          </a:xfrm>
          <a:prstGeom prst="rect">
            <a:avLst/>
          </a:prstGeom>
          <a:noFill/>
        </p:spPr>
        <p:txBody>
          <a:bodyPr wrap="square">
            <a:spAutoFit/>
          </a:bodyPr>
          <a:lstStyle/>
          <a:p>
            <a:r>
              <a:rPr lang="en-GB" noProof="0" dirty="0"/>
              <a:t>=========================================</a:t>
            </a:r>
          </a:p>
          <a:p>
            <a:r>
              <a:rPr lang="en-GB" noProof="0" dirty="0"/>
              <a:t>                          Dependent variable:          </a:t>
            </a:r>
          </a:p>
          <a:p>
            <a:r>
              <a:rPr lang="en-GB" noProof="0" dirty="0"/>
              <a:t>                   ---------------------------------------</a:t>
            </a:r>
          </a:p>
          <a:p>
            <a:r>
              <a:rPr lang="en-GB" noProof="0" dirty="0"/>
              <a:t>                    log(Weekly electricity price)</a:t>
            </a:r>
          </a:p>
          <a:p>
            <a:r>
              <a:rPr lang="en-GB" noProof="0" dirty="0"/>
              <a:t>-----------------------------------------------------------------------</a:t>
            </a:r>
          </a:p>
          <a:p>
            <a:r>
              <a:rPr lang="en-GB" noProof="0" dirty="0"/>
              <a:t>Time                           </a:t>
            </a:r>
            <a:r>
              <a:rPr lang="en-GB" b="1" dirty="0">
                <a:solidFill>
                  <a:srgbClr val="038A5E"/>
                </a:solidFill>
              </a:rPr>
              <a:t>0.15840</a:t>
            </a:r>
            <a:r>
              <a:rPr lang="en-GB" noProof="0" dirty="0"/>
              <a:t>                 </a:t>
            </a:r>
          </a:p>
          <a:p>
            <a:r>
              <a:rPr lang="en-GB" noProof="0" dirty="0"/>
              <a:t>                                   </a:t>
            </a:r>
            <a:r>
              <a:rPr lang="en-GB" dirty="0"/>
              <a:t>(0.01494)                </a:t>
            </a:r>
            <a:endParaRPr lang="en-GB" noProof="0" dirty="0"/>
          </a:p>
          <a:p>
            <a:r>
              <a:rPr lang="en-GB" noProof="0" dirty="0"/>
              <a:t>                                p = 0.00000              </a:t>
            </a:r>
          </a:p>
          <a:p>
            <a:r>
              <a:rPr lang="en-GB" noProof="0" dirty="0"/>
              <a:t>                                                    </a:t>
            </a:r>
          </a:p>
          <a:p>
            <a:r>
              <a:rPr lang="en-GB" noProof="0" dirty="0"/>
              <a:t>Constant                 </a:t>
            </a:r>
            <a:r>
              <a:rPr lang="en-GB" dirty="0"/>
              <a:t>-316.06668</a:t>
            </a:r>
            <a:r>
              <a:rPr lang="en-GB" noProof="0" dirty="0"/>
              <a:t>             </a:t>
            </a:r>
          </a:p>
          <a:p>
            <a:r>
              <a:rPr lang="en-GB" noProof="0" dirty="0"/>
              <a:t>                                </a:t>
            </a:r>
            <a:r>
              <a:rPr lang="en-GB" dirty="0"/>
              <a:t>(30.20782)              </a:t>
            </a:r>
            <a:endParaRPr lang="en-GB" noProof="0" dirty="0"/>
          </a:p>
          <a:p>
            <a:r>
              <a:rPr lang="en-GB" noProof="0" dirty="0"/>
              <a:t>                                  p = 0.000                                                               </a:t>
            </a:r>
          </a:p>
          <a:p>
            <a:r>
              <a:rPr lang="en-GB" noProof="0" dirty="0"/>
              <a:t>-----------------------------------------------------------------------</a:t>
            </a:r>
          </a:p>
          <a:p>
            <a:r>
              <a:rPr lang="en-GB" noProof="0" dirty="0"/>
              <a:t>Observations                  379                  </a:t>
            </a:r>
          </a:p>
          <a:p>
            <a:r>
              <a:rPr lang="en-GB" noProof="0" dirty="0"/>
              <a:t>R2                                </a:t>
            </a:r>
            <a:r>
              <a:rPr lang="en-GB" dirty="0"/>
              <a:t>0.2298                 </a:t>
            </a:r>
            <a:endParaRPr lang="en-GB" noProof="0" dirty="0"/>
          </a:p>
          <a:p>
            <a:r>
              <a:rPr lang="en-GB" noProof="0" dirty="0"/>
              <a:t>Adjusted R2                 </a:t>
            </a:r>
            <a:r>
              <a:rPr lang="en-GB" dirty="0"/>
              <a:t>0.2277</a:t>
            </a:r>
            <a:r>
              <a:rPr lang="en-GB" noProof="0" dirty="0"/>
              <a:t>                 </a:t>
            </a:r>
          </a:p>
          <a:p>
            <a:r>
              <a:rPr lang="en-GB" noProof="0" dirty="0"/>
              <a:t>=========================================</a:t>
            </a:r>
          </a:p>
          <a:p>
            <a:r>
              <a:rPr lang="en-GB" noProof="0" dirty="0"/>
              <a:t>Note:       *p&lt;0.1; **p&lt;0.05; ***p&lt;0.01</a:t>
            </a:r>
          </a:p>
        </p:txBody>
      </p:sp>
      <p:sp>
        <p:nvSpPr>
          <p:cNvPr id="6" name="Textplatzhalter 2">
            <a:extLst>
              <a:ext uri="{FF2B5EF4-FFF2-40B4-BE49-F238E27FC236}">
                <a16:creationId xmlns:a16="http://schemas.microsoft.com/office/drawing/2014/main" id="{B14D0254-EA2E-85ED-15C5-C6366CE96CA4}"/>
              </a:ext>
            </a:extLst>
          </p:cNvPr>
          <p:cNvSpPr txBox="1">
            <a:spLocks/>
          </p:cNvSpPr>
          <p:nvPr/>
        </p:nvSpPr>
        <p:spPr>
          <a:xfrm>
            <a:off x="292350" y="858965"/>
            <a:ext cx="5834052" cy="2911651"/>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algn="just"/>
            <a:r>
              <a:rPr lang="en-GB" kern="0" noProof="0" dirty="0"/>
              <a:t>Theoretical Interpretation</a:t>
            </a:r>
          </a:p>
          <a:p>
            <a:pPr lvl="1" algn="just"/>
            <a:r>
              <a:rPr lang="en-GB" kern="0" noProof="0" dirty="0" err="1"/>
              <a:t>C.p.</a:t>
            </a:r>
            <a:r>
              <a:rPr lang="en-GB" kern="0" noProof="0" dirty="0"/>
              <a:t> every year electricity price increases by 17.2 %.</a:t>
            </a:r>
          </a:p>
          <a:p>
            <a:pPr marL="85725" lvl="1" indent="0" algn="just">
              <a:buNone/>
            </a:pPr>
            <a:endParaRPr lang="en-GB" kern="0" noProof="0" dirty="0"/>
          </a:p>
          <a:p>
            <a:pPr marL="85725" lvl="1" indent="0" algn="just">
              <a:buNone/>
            </a:pPr>
            <a:r>
              <a:rPr lang="en-GB" sz="1800" b="1" kern="0" noProof="0" dirty="0">
                <a:solidFill>
                  <a:srgbClr val="038A5E"/>
                </a:solidFill>
              </a:rPr>
              <a:t>Limitation</a:t>
            </a:r>
            <a:endParaRPr lang="en-GB" kern="0" noProof="0" dirty="0"/>
          </a:p>
          <a:p>
            <a:pPr lvl="1" algn="just"/>
            <a:r>
              <a:rPr lang="en-GB" kern="0" dirty="0"/>
              <a:t>Slope is </a:t>
            </a:r>
            <a:r>
              <a:rPr lang="en-GB" kern="0" noProof="0" dirty="0"/>
              <a:t>driven by crisis period </a:t>
            </a:r>
            <a:r>
              <a:rPr lang="en-GB" kern="0" dirty="0"/>
              <a:t>after Russian invasion</a:t>
            </a:r>
          </a:p>
          <a:p>
            <a:pPr lvl="1" algn="just"/>
            <a:endParaRPr lang="en-GB" kern="0" dirty="0"/>
          </a:p>
          <a:p>
            <a:pPr lvl="1" algn="just"/>
            <a:r>
              <a:rPr lang="en-GB" kern="0" dirty="0"/>
              <a:t>Lacks explanatory power and forecasting quality</a:t>
            </a:r>
          </a:p>
          <a:p>
            <a:pPr lvl="1" algn="just"/>
            <a:endParaRPr lang="en-GB" kern="0" noProof="0" dirty="0"/>
          </a:p>
          <a:p>
            <a:pPr lvl="1" algn="just"/>
            <a:endParaRPr lang="en-GB" kern="0" noProof="0" dirty="0"/>
          </a:p>
          <a:p>
            <a:pPr marL="85725" lvl="1" indent="0" algn="just">
              <a:buNone/>
            </a:pPr>
            <a:endParaRPr lang="en-GB" kern="0" noProof="0" dirty="0"/>
          </a:p>
          <a:p>
            <a:pPr marL="85725" lvl="1" indent="0" algn="just">
              <a:buFont typeface="Wingdings" panose="05000000000000000000" pitchFamily="2" charset="2"/>
              <a:buNone/>
            </a:pPr>
            <a:endParaRPr lang="en-GB" kern="0" noProof="0" dirty="0"/>
          </a:p>
        </p:txBody>
      </p:sp>
      <p:sp>
        <p:nvSpPr>
          <p:cNvPr id="10" name="Titel 1">
            <a:extLst>
              <a:ext uri="{FF2B5EF4-FFF2-40B4-BE49-F238E27FC236}">
                <a16:creationId xmlns:a16="http://schemas.microsoft.com/office/drawing/2014/main" id="{751CD39C-2623-A1DF-BBA6-2DAB2D842B2F}"/>
              </a:ext>
            </a:extLst>
          </p:cNvPr>
          <p:cNvSpPr txBox="1">
            <a:spLocks/>
          </p:cNvSpPr>
          <p:nvPr/>
        </p:nvSpPr>
        <p:spPr>
          <a:xfrm>
            <a:off x="292350" y="108504"/>
            <a:ext cx="8117478" cy="583666"/>
          </a:xfrm>
          <a:prstGeom prst="rect">
            <a:avLst/>
          </a:prstGeom>
        </p:spPr>
        <p:txBody>
          <a:bodyPr lIns="108000" tIns="36000" rIns="108000" bIns="0" anchor="b" anchorCtr="0"/>
          <a:lstStyle>
            <a:lvl1pPr algn="l" rtl="0" fontAlgn="base">
              <a:spcBef>
                <a:spcPct val="0"/>
              </a:spcBef>
              <a:spcAft>
                <a:spcPct val="0"/>
              </a:spcAft>
              <a:defRPr sz="1800" b="0">
                <a:solidFill>
                  <a:schemeClr val="tx1"/>
                </a:solidFill>
                <a:latin typeface="+mj-lt"/>
                <a:ea typeface="+mj-ea"/>
                <a:cs typeface="+mj-cs"/>
              </a:defRPr>
            </a:lvl1pPr>
            <a:lvl2pPr algn="l" rtl="0" fontAlgn="base">
              <a:spcBef>
                <a:spcPct val="0"/>
              </a:spcBef>
              <a:spcAft>
                <a:spcPct val="0"/>
              </a:spcAft>
              <a:defRPr sz="2000" b="1">
                <a:solidFill>
                  <a:srgbClr val="009BD2"/>
                </a:solidFill>
                <a:latin typeface="Arial" pitchFamily="34" charset="0"/>
              </a:defRPr>
            </a:lvl2pPr>
            <a:lvl3pPr algn="l" rtl="0" fontAlgn="base">
              <a:spcBef>
                <a:spcPct val="0"/>
              </a:spcBef>
              <a:spcAft>
                <a:spcPct val="0"/>
              </a:spcAft>
              <a:defRPr sz="2000" b="1">
                <a:solidFill>
                  <a:srgbClr val="009BD2"/>
                </a:solidFill>
                <a:latin typeface="Arial" pitchFamily="34" charset="0"/>
              </a:defRPr>
            </a:lvl3pPr>
            <a:lvl4pPr algn="l" rtl="0" fontAlgn="base">
              <a:spcBef>
                <a:spcPct val="0"/>
              </a:spcBef>
              <a:spcAft>
                <a:spcPct val="0"/>
              </a:spcAft>
              <a:defRPr sz="2000" b="1">
                <a:solidFill>
                  <a:srgbClr val="009BD2"/>
                </a:solidFill>
                <a:latin typeface="Arial" pitchFamily="34" charset="0"/>
              </a:defRPr>
            </a:lvl4pPr>
            <a:lvl5pPr algn="l" rtl="0" fontAlgn="base">
              <a:spcBef>
                <a:spcPct val="0"/>
              </a:spcBef>
              <a:spcAft>
                <a:spcPct val="0"/>
              </a:spcAft>
              <a:defRPr sz="2000" b="1">
                <a:solidFill>
                  <a:srgbClr val="009BD2"/>
                </a:solidFill>
                <a:latin typeface="Arial" pitchFamily="34" charset="0"/>
              </a:defRPr>
            </a:lvl5pPr>
            <a:lvl6pPr marL="457200" algn="l" rtl="0" fontAlgn="base">
              <a:spcBef>
                <a:spcPct val="0"/>
              </a:spcBef>
              <a:spcAft>
                <a:spcPct val="0"/>
              </a:spcAft>
              <a:defRPr sz="2000" b="1">
                <a:solidFill>
                  <a:srgbClr val="009BD2"/>
                </a:solidFill>
                <a:latin typeface="Arial" pitchFamily="34" charset="0"/>
              </a:defRPr>
            </a:lvl6pPr>
            <a:lvl7pPr marL="914400" algn="l" rtl="0" fontAlgn="base">
              <a:spcBef>
                <a:spcPct val="0"/>
              </a:spcBef>
              <a:spcAft>
                <a:spcPct val="0"/>
              </a:spcAft>
              <a:defRPr sz="2000" b="1">
                <a:solidFill>
                  <a:srgbClr val="009BD2"/>
                </a:solidFill>
                <a:latin typeface="Arial" pitchFamily="34" charset="0"/>
              </a:defRPr>
            </a:lvl7pPr>
            <a:lvl8pPr marL="1371600" algn="l" rtl="0" fontAlgn="base">
              <a:spcBef>
                <a:spcPct val="0"/>
              </a:spcBef>
              <a:spcAft>
                <a:spcPct val="0"/>
              </a:spcAft>
              <a:defRPr sz="2000" b="1">
                <a:solidFill>
                  <a:srgbClr val="009BD2"/>
                </a:solidFill>
                <a:latin typeface="Arial" pitchFamily="34" charset="0"/>
              </a:defRPr>
            </a:lvl8pPr>
            <a:lvl9pPr marL="1828800" algn="l" rtl="0" fontAlgn="base">
              <a:spcBef>
                <a:spcPct val="0"/>
              </a:spcBef>
              <a:spcAft>
                <a:spcPct val="0"/>
              </a:spcAft>
              <a:defRPr sz="2000" b="1">
                <a:solidFill>
                  <a:srgbClr val="009BD2"/>
                </a:solidFill>
                <a:latin typeface="Arial" pitchFamily="34" charset="0"/>
              </a:defRPr>
            </a:lvl9pPr>
          </a:lstStyle>
          <a:p>
            <a:r>
              <a:rPr lang="en-GB" b="1" kern="0" noProof="0" dirty="0"/>
              <a:t>Linear Regression </a:t>
            </a:r>
            <a:r>
              <a:rPr lang="en-GB" kern="0" noProof="0" dirty="0"/>
              <a:t>I Overview &amp; Interpretation </a:t>
            </a:r>
          </a:p>
        </p:txBody>
      </p:sp>
      <p:pic>
        <p:nvPicPr>
          <p:cNvPr id="3" name="Grafik 2">
            <a:extLst>
              <a:ext uri="{FF2B5EF4-FFF2-40B4-BE49-F238E27FC236}">
                <a16:creationId xmlns:a16="http://schemas.microsoft.com/office/drawing/2014/main" id="{BAE21466-05C8-8794-1B29-6F13E8173E53}"/>
              </a:ext>
            </a:extLst>
          </p:cNvPr>
          <p:cNvPicPr>
            <a:picLocks noChangeAspect="1"/>
          </p:cNvPicPr>
          <p:nvPr/>
        </p:nvPicPr>
        <p:blipFill>
          <a:blip r:embed="rId3"/>
          <a:stretch>
            <a:fillRect/>
          </a:stretch>
        </p:blipFill>
        <p:spPr>
          <a:xfrm>
            <a:off x="552038" y="3210006"/>
            <a:ext cx="5314675" cy="3170157"/>
          </a:xfrm>
          <a:prstGeom prst="rect">
            <a:avLst/>
          </a:prstGeom>
        </p:spPr>
      </p:pic>
    </p:spTree>
    <p:extLst>
      <p:ext uri="{BB962C8B-B14F-4D97-AF65-F5344CB8AC3E}">
        <p14:creationId xmlns:p14="http://schemas.microsoft.com/office/powerpoint/2010/main" val="272592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CB34F-047E-34BC-4BDE-C786A5D7B5C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AF5B003-062E-C992-219F-5030F739D07F}"/>
              </a:ext>
            </a:extLst>
          </p:cNvPr>
          <p:cNvSpPr>
            <a:spLocks noGrp="1"/>
          </p:cNvSpPr>
          <p:nvPr>
            <p:ph type="title"/>
          </p:nvPr>
        </p:nvSpPr>
        <p:spPr/>
        <p:txBody>
          <a:bodyPr/>
          <a:lstStyle/>
          <a:p>
            <a:r>
              <a:rPr lang="en-GB" b="1" noProof="0" dirty="0"/>
              <a:t>Decomposition</a:t>
            </a:r>
            <a:r>
              <a:rPr lang="en-GB" noProof="0" dirty="0"/>
              <a:t> I Approach</a:t>
            </a:r>
          </a:p>
        </p:txBody>
      </p:sp>
      <p:sp>
        <p:nvSpPr>
          <p:cNvPr id="4" name="Textplatzhalter 3">
            <a:extLst>
              <a:ext uri="{FF2B5EF4-FFF2-40B4-BE49-F238E27FC236}">
                <a16:creationId xmlns:a16="http://schemas.microsoft.com/office/drawing/2014/main" id="{B6E93213-52AA-CF6F-1D42-4ADD38C67EDA}"/>
              </a:ext>
            </a:extLst>
          </p:cNvPr>
          <p:cNvSpPr>
            <a:spLocks noGrp="1"/>
          </p:cNvSpPr>
          <p:nvPr>
            <p:ph type="body" sz="quarter" idx="12"/>
          </p:nvPr>
        </p:nvSpPr>
        <p:spPr/>
        <p:txBody>
          <a:bodyPr/>
          <a:lstStyle/>
          <a:p>
            <a:r>
              <a:rPr lang="en-GB" dirty="0"/>
              <a:t>10</a:t>
            </a:r>
            <a:endParaRPr lang="en-GB" noProof="0" dirty="0"/>
          </a:p>
        </p:txBody>
      </p:sp>
      <mc:AlternateContent xmlns:mc="http://schemas.openxmlformats.org/markup-compatibility/2006" xmlns:a14="http://schemas.microsoft.com/office/drawing/2010/main">
        <mc:Choice Requires="a14">
          <p:sp>
            <p:nvSpPr>
              <p:cNvPr id="5" name="Textplatzhalter 2">
                <a:extLst>
                  <a:ext uri="{FF2B5EF4-FFF2-40B4-BE49-F238E27FC236}">
                    <a16:creationId xmlns:a16="http://schemas.microsoft.com/office/drawing/2014/main" id="{D0D87DA8-491F-AF3B-F6D9-9B47F2E2A91E}"/>
                  </a:ext>
                </a:extLst>
              </p:cNvPr>
              <p:cNvSpPr>
                <a:spLocks noGrp="1"/>
              </p:cNvSpPr>
              <p:nvPr>
                <p:ph type="body" sz="quarter" idx="11"/>
              </p:nvPr>
            </p:nvSpPr>
            <p:spPr>
              <a:xfrm>
                <a:off x="320041" y="1017080"/>
                <a:ext cx="5709284" cy="1077218"/>
              </a:xfrm>
            </p:spPr>
            <p:txBody>
              <a:bodyPr/>
              <a:lstStyle/>
              <a:p>
                <a:r>
                  <a:rPr lang="en-GB" noProof="0" dirty="0"/>
                  <a:t>Additive Decomposition: </a:t>
                </a:r>
                <a14:m>
                  <m:oMath xmlns:m="http://schemas.openxmlformats.org/officeDocument/2006/math">
                    <m:r>
                      <a:rPr lang="en-GB" b="1" i="0" noProof="0" smtClean="0">
                        <a:latin typeface="Cambria Math" panose="02040503050406030204" pitchFamily="18" charset="0"/>
                      </a:rPr>
                      <m:t> </m:t>
                    </m:r>
                    <m:r>
                      <m:rPr>
                        <m:sty m:val="p"/>
                      </m:rPr>
                      <a:rPr lang="en-GB" b="1" i="0" noProof="0" smtClean="0">
                        <a:solidFill>
                          <a:schemeClr val="tx1"/>
                        </a:solidFill>
                        <a:latin typeface="Cambria Math" panose="02040503050406030204" pitchFamily="18" charset="0"/>
                      </a:rPr>
                      <m:t>log</m:t>
                    </m:r>
                    <m:r>
                      <a:rPr lang="en-GB" b="1" i="1" noProof="0" smtClean="0">
                        <a:solidFill>
                          <a:schemeClr val="tx1"/>
                        </a:solidFill>
                        <a:latin typeface="Cambria Math" panose="02040503050406030204" pitchFamily="18" charset="0"/>
                      </a:rPr>
                      <m:t>(</m:t>
                    </m:r>
                    <m:sSub>
                      <m:sSubPr>
                        <m:ctrlPr>
                          <a:rPr lang="en-GB" b="0" i="1" noProof="0" smtClean="0">
                            <a:solidFill>
                              <a:schemeClr val="tx1"/>
                            </a:solidFill>
                            <a:latin typeface="Cambria Math" panose="02040503050406030204" pitchFamily="18" charset="0"/>
                          </a:rPr>
                        </m:ctrlPr>
                      </m:sSubPr>
                      <m:e>
                        <m:r>
                          <m:rPr>
                            <m:sty m:val="p"/>
                          </m:rPr>
                          <a:rPr lang="en-GB" b="0" i="1" noProof="0" smtClean="0">
                            <a:solidFill>
                              <a:schemeClr val="tx1"/>
                            </a:solidFill>
                            <a:latin typeface="Cambria Math" panose="02040503050406030204" pitchFamily="18" charset="0"/>
                          </a:rPr>
                          <m:t>x</m:t>
                        </m:r>
                      </m:e>
                      <m:sub>
                        <m:r>
                          <m:rPr>
                            <m:sty m:val="p"/>
                          </m:rPr>
                          <a:rPr lang="en-GB" i="1" noProof="0" smtClean="0">
                            <a:solidFill>
                              <a:schemeClr val="tx1"/>
                            </a:solidFill>
                            <a:latin typeface="Cambria Math" panose="02040503050406030204" pitchFamily="18" charset="0"/>
                          </a:rPr>
                          <m:t>t</m:t>
                        </m:r>
                      </m:sub>
                    </m:sSub>
                    <m:r>
                      <a:rPr lang="en-GB" b="1" i="1" noProof="0" smtClean="0">
                        <a:solidFill>
                          <a:schemeClr val="tx1"/>
                        </a:solidFill>
                        <a:latin typeface="Cambria Math" panose="02040503050406030204" pitchFamily="18" charset="0"/>
                      </a:rPr>
                      <m:t>)</m:t>
                    </m:r>
                    <m:r>
                      <a:rPr lang="en-GB" i="1" noProof="0" smtClean="0">
                        <a:solidFill>
                          <a:schemeClr val="tx1"/>
                        </a:solidFill>
                        <a:latin typeface="Cambria Math" panose="02040503050406030204" pitchFamily="18" charset="0"/>
                      </a:rPr>
                      <m:t>=</m:t>
                    </m:r>
                    <m:sSub>
                      <m:sSubPr>
                        <m:ctrlPr>
                          <a:rPr lang="en-GB" b="0" i="1" noProof="0" smtClean="0">
                            <a:solidFill>
                              <a:schemeClr val="tx1"/>
                            </a:solidFill>
                            <a:latin typeface="Cambria Math" panose="02040503050406030204" pitchFamily="18" charset="0"/>
                          </a:rPr>
                        </m:ctrlPr>
                      </m:sSubPr>
                      <m:e>
                        <m:r>
                          <m:rPr>
                            <m:sty m:val="p"/>
                          </m:rPr>
                          <a:rPr lang="en-GB" b="0" i="1" noProof="0" smtClean="0">
                            <a:solidFill>
                              <a:schemeClr val="tx1"/>
                            </a:solidFill>
                            <a:latin typeface="Cambria Math" panose="02040503050406030204" pitchFamily="18" charset="0"/>
                          </a:rPr>
                          <m:t>m</m:t>
                        </m:r>
                      </m:e>
                      <m:sub>
                        <m:r>
                          <m:rPr>
                            <m:sty m:val="p"/>
                          </m:rPr>
                          <a:rPr lang="en-GB" b="0" i="1" noProof="0" smtClean="0">
                            <a:solidFill>
                              <a:schemeClr val="tx1"/>
                            </a:solidFill>
                            <a:latin typeface="Cambria Math" panose="02040503050406030204" pitchFamily="18" charset="0"/>
                          </a:rPr>
                          <m:t>t</m:t>
                        </m:r>
                      </m:sub>
                    </m:sSub>
                    <m:r>
                      <a:rPr lang="en-GB" i="1" noProof="0" smtClean="0">
                        <a:solidFill>
                          <a:schemeClr val="tx1"/>
                        </a:solidFill>
                        <a:latin typeface="Cambria Math" panose="02040503050406030204" pitchFamily="18" charset="0"/>
                      </a:rPr>
                      <m:t>+</m:t>
                    </m:r>
                    <m:sSub>
                      <m:sSubPr>
                        <m:ctrlPr>
                          <a:rPr lang="en-GB" b="0" i="1" noProof="0" smtClean="0">
                            <a:solidFill>
                              <a:schemeClr val="tx1"/>
                            </a:solidFill>
                            <a:latin typeface="Cambria Math" panose="02040503050406030204" pitchFamily="18" charset="0"/>
                          </a:rPr>
                        </m:ctrlPr>
                      </m:sSubPr>
                      <m:e>
                        <m:r>
                          <m:rPr>
                            <m:sty m:val="p"/>
                          </m:rPr>
                          <a:rPr lang="en-GB" b="0" i="1" noProof="0" smtClean="0">
                            <a:solidFill>
                              <a:schemeClr val="tx1"/>
                            </a:solidFill>
                            <a:latin typeface="Cambria Math" panose="02040503050406030204" pitchFamily="18" charset="0"/>
                          </a:rPr>
                          <m:t>s</m:t>
                        </m:r>
                      </m:e>
                      <m:sub>
                        <m:r>
                          <m:rPr>
                            <m:sty m:val="p"/>
                          </m:rPr>
                          <a:rPr lang="en-GB" i="1" noProof="0" smtClean="0">
                            <a:solidFill>
                              <a:schemeClr val="tx1"/>
                            </a:solidFill>
                            <a:latin typeface="Cambria Math" panose="02040503050406030204" pitchFamily="18" charset="0"/>
                          </a:rPr>
                          <m:t>t</m:t>
                        </m:r>
                      </m:sub>
                    </m:sSub>
                    <m:r>
                      <a:rPr lang="en-GB" i="1" noProof="0" smtClean="0">
                        <a:solidFill>
                          <a:schemeClr val="tx1"/>
                        </a:solidFill>
                        <a:latin typeface="Cambria Math" panose="02040503050406030204" pitchFamily="18" charset="0"/>
                      </a:rPr>
                      <m:t>+</m:t>
                    </m:r>
                    <m:sSub>
                      <m:sSubPr>
                        <m:ctrlPr>
                          <a:rPr lang="en-GB" b="0" i="1" noProof="0" smtClean="0">
                            <a:solidFill>
                              <a:schemeClr val="tx1"/>
                            </a:solidFill>
                            <a:latin typeface="Cambria Math" panose="02040503050406030204" pitchFamily="18" charset="0"/>
                          </a:rPr>
                        </m:ctrlPr>
                      </m:sSubPr>
                      <m:e>
                        <m:r>
                          <m:rPr>
                            <m:sty m:val="p"/>
                          </m:rPr>
                          <a:rPr lang="en-GB" b="0" i="1" noProof="0" smtClean="0">
                            <a:solidFill>
                              <a:schemeClr val="tx1"/>
                            </a:solidFill>
                            <a:latin typeface="Cambria Math" panose="02040503050406030204" pitchFamily="18" charset="0"/>
                          </a:rPr>
                          <m:t>z</m:t>
                        </m:r>
                      </m:e>
                      <m:sub>
                        <m:r>
                          <m:rPr>
                            <m:sty m:val="p"/>
                          </m:rPr>
                          <a:rPr lang="en-GB" i="1" noProof="0" smtClean="0">
                            <a:solidFill>
                              <a:schemeClr val="tx1"/>
                            </a:solidFill>
                            <a:latin typeface="Cambria Math" panose="02040503050406030204" pitchFamily="18" charset="0"/>
                          </a:rPr>
                          <m:t>t</m:t>
                        </m:r>
                      </m:sub>
                    </m:sSub>
                  </m:oMath>
                </a14:m>
                <a:endParaRPr lang="en-GB" noProof="0" dirty="0"/>
              </a:p>
              <a:p>
                <a:pPr marL="85725" lvl="1" indent="0">
                  <a:buNone/>
                </a:pPr>
                <a:endParaRPr lang="en-GB" noProof="0" dirty="0"/>
              </a:p>
              <a:p>
                <a:endParaRPr lang="en-GB" noProof="0" dirty="0"/>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30000" noProof="0" dirty="0">
                  <a:ln>
                    <a:noFill/>
                  </a:ln>
                  <a:solidFill>
                    <a:srgbClr val="000000"/>
                  </a:solidFill>
                  <a:effectLst/>
                  <a:uLnTx/>
                  <a:uFillTx/>
                  <a:latin typeface="Arial"/>
                </a:endParaRPr>
              </a:p>
              <a:p>
                <a:pPr marL="85725" lvl="1" indent="0">
                  <a:buNone/>
                </a:pPr>
                <a:endParaRPr lang="en-GB" noProof="0" dirty="0"/>
              </a:p>
              <a:p>
                <a:endParaRPr lang="en-GB" noProof="0" dirty="0"/>
              </a:p>
            </p:txBody>
          </p:sp>
        </mc:Choice>
        <mc:Fallback xmlns="">
          <p:sp>
            <p:nvSpPr>
              <p:cNvPr id="5" name="Textplatzhalter 2">
                <a:extLst>
                  <a:ext uri="{FF2B5EF4-FFF2-40B4-BE49-F238E27FC236}">
                    <a16:creationId xmlns:a16="http://schemas.microsoft.com/office/drawing/2014/main" id="{D0D87DA8-491F-AF3B-F6D9-9B47F2E2A91E}"/>
                  </a:ext>
                </a:extLst>
              </p:cNvPr>
              <p:cNvSpPr>
                <a:spLocks noGrp="1" noRot="1" noChangeAspect="1" noMove="1" noResize="1" noEditPoints="1" noAdjustHandles="1" noChangeArrowheads="1" noChangeShapeType="1" noTextEdit="1"/>
              </p:cNvSpPr>
              <p:nvPr>
                <p:ph type="body" sz="quarter" idx="11"/>
              </p:nvPr>
            </p:nvSpPr>
            <p:spPr>
              <a:xfrm>
                <a:off x="320041" y="1017080"/>
                <a:ext cx="5709284" cy="1077218"/>
              </a:xfrm>
              <a:blipFill>
                <a:blip r:embed="rId3"/>
                <a:stretch>
                  <a:fillRect l="-889" t="-3488"/>
                </a:stretch>
              </a:blipFill>
            </p:spPr>
            <p:txBody>
              <a:bodyPr/>
              <a:lstStyle/>
              <a:p>
                <a:r>
                  <a:rPr lang="en-US">
                    <a:noFill/>
                  </a:rPr>
                  <a:t> </a:t>
                </a:r>
              </a:p>
            </p:txBody>
          </p:sp>
        </mc:Fallback>
      </mc:AlternateContent>
      <p:sp>
        <p:nvSpPr>
          <p:cNvPr id="7" name="Textfeld 6">
            <a:extLst>
              <a:ext uri="{FF2B5EF4-FFF2-40B4-BE49-F238E27FC236}">
                <a16:creationId xmlns:a16="http://schemas.microsoft.com/office/drawing/2014/main" id="{FA4AF97D-80D7-845B-CE2B-1525C3FEE277}"/>
              </a:ext>
            </a:extLst>
          </p:cNvPr>
          <p:cNvSpPr txBox="1"/>
          <p:nvPr/>
        </p:nvSpPr>
        <p:spPr>
          <a:xfrm>
            <a:off x="320041" y="1555689"/>
            <a:ext cx="10330960" cy="830997"/>
          </a:xfrm>
          <a:prstGeom prst="rect">
            <a:avLst/>
          </a:prstGeom>
          <a:noFill/>
        </p:spPr>
        <p:txBody>
          <a:bodyPr wrap="square" rtlCol="0">
            <a:spAutoFit/>
          </a:bodyPr>
          <a:lstStyle/>
          <a:p>
            <a:pPr algn="l"/>
            <a:r>
              <a:rPr lang="en-GB" sz="1600" noProof="0" dirty="0"/>
              <a:t>where, at time t, log(</a:t>
            </a:r>
            <a:r>
              <a:rPr lang="en-GB" sz="1600" noProof="0" dirty="0" err="1"/>
              <a:t>x</a:t>
            </a:r>
            <a:r>
              <a:rPr lang="en-GB" sz="1600" baseline="-25000" noProof="0" dirty="0" err="1"/>
              <a:t>t</a:t>
            </a:r>
            <a:r>
              <a:rPr lang="en-GB" sz="1600" noProof="0" dirty="0"/>
              <a:t>) is the log-transformed energy price series, </a:t>
            </a:r>
            <a:r>
              <a:rPr lang="en-GB" sz="1600" noProof="0" dirty="0" err="1"/>
              <a:t>m</a:t>
            </a:r>
            <a:r>
              <a:rPr lang="en-GB" sz="1600" baseline="-25000" noProof="0" dirty="0" err="1"/>
              <a:t>t</a:t>
            </a:r>
            <a:r>
              <a:rPr lang="en-GB" sz="1600" noProof="0" dirty="0"/>
              <a:t> is the trend, s</a:t>
            </a:r>
            <a:r>
              <a:rPr lang="en-GB" sz="1600" baseline="-25000" noProof="0" dirty="0"/>
              <a:t>t</a:t>
            </a:r>
            <a:r>
              <a:rPr lang="en-GB" sz="1600" noProof="0" dirty="0"/>
              <a:t> is the seasonal eﬀect, and </a:t>
            </a:r>
            <a:r>
              <a:rPr lang="en-GB" sz="1600" noProof="0" dirty="0" err="1"/>
              <a:t>z</a:t>
            </a:r>
            <a:r>
              <a:rPr lang="en-GB" sz="1600" baseline="-25000" noProof="0" dirty="0" err="1"/>
              <a:t>t</a:t>
            </a:r>
            <a:r>
              <a:rPr lang="en-GB" sz="1600" noProof="0" dirty="0"/>
              <a:t> is an error term that is a sequence of correlated random variables with mean zero.</a:t>
            </a:r>
          </a:p>
          <a:p>
            <a:pPr algn="l"/>
            <a:endParaRPr lang="en-GB" sz="1600" noProof="0" dirty="0"/>
          </a:p>
        </p:txBody>
      </p:sp>
      <p:pic>
        <p:nvPicPr>
          <p:cNvPr id="8" name="Grafik 7">
            <a:extLst>
              <a:ext uri="{FF2B5EF4-FFF2-40B4-BE49-F238E27FC236}">
                <a16:creationId xmlns:a16="http://schemas.microsoft.com/office/drawing/2014/main" id="{C1989D5F-AD6F-1AB7-3EC3-CD35BB618D8D}"/>
              </a:ext>
            </a:extLst>
          </p:cNvPr>
          <p:cNvPicPr>
            <a:picLocks noChangeAspect="1"/>
          </p:cNvPicPr>
          <p:nvPr/>
        </p:nvPicPr>
        <p:blipFill>
          <a:blip r:embed="rId4"/>
          <a:stretch>
            <a:fillRect/>
          </a:stretch>
        </p:blipFill>
        <p:spPr>
          <a:xfrm>
            <a:off x="630361" y="2248112"/>
            <a:ext cx="9710320" cy="4132051"/>
          </a:xfrm>
          <a:prstGeom prst="rect">
            <a:avLst/>
          </a:prstGeom>
        </p:spPr>
      </p:pic>
    </p:spTree>
    <p:extLst>
      <p:ext uri="{BB962C8B-B14F-4D97-AF65-F5344CB8AC3E}">
        <p14:creationId xmlns:p14="http://schemas.microsoft.com/office/powerpoint/2010/main" val="16180897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b="1" noProof="0" dirty="0"/>
              <a:t>Decomposition</a:t>
            </a:r>
            <a:r>
              <a:rPr lang="en-GB" noProof="0" dirty="0"/>
              <a:t> I Seasonal &amp; Trend Component</a:t>
            </a:r>
          </a:p>
        </p:txBody>
      </p:sp>
      <p:sp>
        <p:nvSpPr>
          <p:cNvPr id="4" name="Textplatzhalter 3"/>
          <p:cNvSpPr>
            <a:spLocks noGrp="1"/>
          </p:cNvSpPr>
          <p:nvPr>
            <p:ph type="body" sz="quarter" idx="12"/>
          </p:nvPr>
        </p:nvSpPr>
        <p:spPr/>
        <p:txBody>
          <a:bodyPr/>
          <a:lstStyle/>
          <a:p>
            <a:r>
              <a:rPr lang="en-GB" dirty="0"/>
              <a:t>11</a:t>
            </a:r>
            <a:endParaRPr lang="en-GB" noProof="0" dirty="0"/>
          </a:p>
        </p:txBody>
      </p:sp>
      <p:sp>
        <p:nvSpPr>
          <p:cNvPr id="6" name="Textplatzhalter 5"/>
          <p:cNvSpPr>
            <a:spLocks noGrp="1"/>
          </p:cNvSpPr>
          <p:nvPr>
            <p:ph type="body" sz="quarter" idx="11"/>
          </p:nvPr>
        </p:nvSpPr>
        <p:spPr>
          <a:xfrm>
            <a:off x="320041" y="976596"/>
            <a:ext cx="10330962" cy="5262979"/>
          </a:xfrm>
        </p:spPr>
        <p:txBody>
          <a:bodyPr/>
          <a:lstStyle/>
          <a:p>
            <a:pPr marL="85725" lvl="1" indent="0">
              <a:buNone/>
            </a:pPr>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a:p>
            <a:pPr lvl="1"/>
            <a:endParaRPr lang="en-GB" noProof="0" dirty="0"/>
          </a:p>
        </p:txBody>
      </p:sp>
      <p:sp>
        <p:nvSpPr>
          <p:cNvPr id="12" name="Textplatzhalter 2">
            <a:extLst>
              <a:ext uri="{FF2B5EF4-FFF2-40B4-BE49-F238E27FC236}">
                <a16:creationId xmlns:a16="http://schemas.microsoft.com/office/drawing/2014/main" id="{B683AF82-1078-9C85-EC07-CF7AF1C2C880}"/>
              </a:ext>
            </a:extLst>
          </p:cNvPr>
          <p:cNvSpPr txBox="1">
            <a:spLocks/>
          </p:cNvSpPr>
          <p:nvPr/>
        </p:nvSpPr>
        <p:spPr>
          <a:xfrm>
            <a:off x="6167072" y="893585"/>
            <a:ext cx="4525299" cy="2713903"/>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algn="just"/>
            <a:r>
              <a:rPr lang="en-GB" kern="0" noProof="0" dirty="0"/>
              <a:t>Seasonal Component</a:t>
            </a:r>
          </a:p>
          <a:p>
            <a:pPr lvl="1" algn="just"/>
            <a:r>
              <a:rPr lang="en-GB" noProof="0" dirty="0"/>
              <a:t>Presence of annual recurring patterns</a:t>
            </a:r>
          </a:p>
          <a:p>
            <a:pPr lvl="1" algn="just">
              <a:buFont typeface="Wingdings" pitchFamily="2" charset="2"/>
              <a:buChar char="è"/>
            </a:pPr>
            <a:r>
              <a:rPr lang="en-GB" noProof="0" dirty="0"/>
              <a:t> winter peak demand, summer low demand</a:t>
            </a:r>
          </a:p>
          <a:p>
            <a:pPr lvl="1" algn="just">
              <a:buFont typeface="Wingdings" pitchFamily="2" charset="2"/>
              <a:buChar char="è"/>
            </a:pPr>
            <a:r>
              <a:rPr lang="en-GB" noProof="0" dirty="0"/>
              <a:t> renewable generation cycles</a:t>
            </a:r>
          </a:p>
          <a:p>
            <a:pPr lvl="1" algn="just">
              <a:buFont typeface="Wingdings" pitchFamily="2" charset="2"/>
              <a:buChar char="è"/>
            </a:pPr>
            <a:r>
              <a:rPr lang="en-GB" noProof="0" dirty="0"/>
              <a:t> energy system-stress periods</a:t>
            </a:r>
            <a:endParaRPr lang="en-GB" kern="0" noProof="0" dirty="0"/>
          </a:p>
          <a:p>
            <a:pPr algn="just"/>
            <a:endParaRPr lang="en-GB" kern="0" noProof="0" dirty="0"/>
          </a:p>
          <a:p>
            <a:pPr algn="just"/>
            <a:endParaRPr lang="en-GB" kern="0" noProof="0" dirty="0"/>
          </a:p>
          <a:p>
            <a:pPr marL="85725" lvl="1" indent="0" algn="just">
              <a:buFont typeface="Wingdings" panose="05000000000000000000" pitchFamily="2" charset="2"/>
              <a:buNone/>
            </a:pPr>
            <a:endParaRPr lang="en-GB" kern="0" noProof="0" dirty="0"/>
          </a:p>
        </p:txBody>
      </p:sp>
      <p:sp>
        <p:nvSpPr>
          <p:cNvPr id="10" name="Textplatzhalter 2">
            <a:extLst>
              <a:ext uri="{FF2B5EF4-FFF2-40B4-BE49-F238E27FC236}">
                <a16:creationId xmlns:a16="http://schemas.microsoft.com/office/drawing/2014/main" id="{CF83E48D-06C6-2D39-68AB-03331F182D00}"/>
              </a:ext>
            </a:extLst>
          </p:cNvPr>
          <p:cNvSpPr txBox="1">
            <a:spLocks/>
          </p:cNvSpPr>
          <p:nvPr/>
        </p:nvSpPr>
        <p:spPr>
          <a:xfrm>
            <a:off x="6167072" y="3649382"/>
            <a:ext cx="4374667" cy="2688887"/>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algn="just"/>
            <a:r>
              <a:rPr lang="en-GB" kern="0" noProof="0" dirty="0"/>
              <a:t>Trend Component</a:t>
            </a:r>
          </a:p>
          <a:p>
            <a:pPr lvl="1" algn="just"/>
            <a:r>
              <a:rPr lang="en-GB" kern="0" noProof="0" dirty="0"/>
              <a:t>Clear trend distortion during energy price crisis as a result of the Russian invasion of Ukraine.</a:t>
            </a:r>
          </a:p>
          <a:p>
            <a:pPr lvl="1" algn="just"/>
            <a:endParaRPr lang="en-GB" kern="0" noProof="0" dirty="0"/>
          </a:p>
          <a:p>
            <a:pPr lvl="1" algn="just"/>
            <a:r>
              <a:rPr lang="de-DE" dirty="0"/>
              <a:t>Pre-/post-</a:t>
            </a:r>
            <a:r>
              <a:rPr lang="de-DE" dirty="0" err="1"/>
              <a:t>crisis</a:t>
            </a:r>
            <a:r>
              <a:rPr lang="de-DE" dirty="0"/>
              <a:t> </a:t>
            </a:r>
            <a:r>
              <a:rPr lang="de-DE" dirty="0" err="1"/>
              <a:t>levels</a:t>
            </a:r>
            <a:r>
              <a:rPr lang="de-DE" dirty="0"/>
              <a:t> </a:t>
            </a:r>
            <a:r>
              <a:rPr lang="de-DE" dirty="0" err="1"/>
              <a:t>far</a:t>
            </a:r>
            <a:r>
              <a:rPr lang="de-DE" dirty="0"/>
              <a:t> </a:t>
            </a:r>
            <a:r>
              <a:rPr lang="de-DE" dirty="0" err="1"/>
              <a:t>below</a:t>
            </a:r>
            <a:r>
              <a:rPr lang="de-DE" dirty="0"/>
              <a:t> </a:t>
            </a:r>
            <a:r>
              <a:rPr lang="de-DE" dirty="0" err="1"/>
              <a:t>crisis</a:t>
            </a:r>
            <a:r>
              <a:rPr lang="de-DE" dirty="0"/>
              <a:t> </a:t>
            </a:r>
            <a:r>
              <a:rPr lang="de-DE" dirty="0" err="1"/>
              <a:t>peak</a:t>
            </a:r>
            <a:endParaRPr lang="en-GB" kern="0" noProof="0" dirty="0"/>
          </a:p>
          <a:p>
            <a:pPr lvl="1" algn="just"/>
            <a:endParaRPr lang="en-GB" kern="0" noProof="0" dirty="0"/>
          </a:p>
          <a:p>
            <a:pPr lvl="1" algn="just"/>
            <a:endParaRPr lang="en-GB" kern="0" noProof="0" dirty="0"/>
          </a:p>
          <a:p>
            <a:pPr algn="just"/>
            <a:endParaRPr lang="en-GB" kern="0" noProof="0" dirty="0"/>
          </a:p>
          <a:p>
            <a:pPr marL="85725" lvl="1" indent="0" algn="just">
              <a:buFont typeface="Wingdings" panose="05000000000000000000" pitchFamily="2" charset="2"/>
              <a:buNone/>
            </a:pPr>
            <a:endParaRPr lang="en-GB" kern="0" noProof="0" dirty="0"/>
          </a:p>
        </p:txBody>
      </p:sp>
      <p:pic>
        <p:nvPicPr>
          <p:cNvPr id="7" name="Grafik 6">
            <a:extLst>
              <a:ext uri="{FF2B5EF4-FFF2-40B4-BE49-F238E27FC236}">
                <a16:creationId xmlns:a16="http://schemas.microsoft.com/office/drawing/2014/main" id="{E3FDCCF3-CDD3-7AB2-480E-9CB006B0C5A7}"/>
              </a:ext>
            </a:extLst>
          </p:cNvPr>
          <p:cNvPicPr>
            <a:picLocks noChangeAspect="1"/>
          </p:cNvPicPr>
          <p:nvPr/>
        </p:nvPicPr>
        <p:blipFill>
          <a:blip r:embed="rId3"/>
          <a:stretch>
            <a:fillRect/>
          </a:stretch>
        </p:blipFill>
        <p:spPr>
          <a:xfrm>
            <a:off x="431061" y="3429000"/>
            <a:ext cx="5626746" cy="2813373"/>
          </a:xfrm>
          <a:prstGeom prst="rect">
            <a:avLst/>
          </a:prstGeom>
        </p:spPr>
      </p:pic>
      <p:pic>
        <p:nvPicPr>
          <p:cNvPr id="11" name="Grafik 10">
            <a:extLst>
              <a:ext uri="{FF2B5EF4-FFF2-40B4-BE49-F238E27FC236}">
                <a16:creationId xmlns:a16="http://schemas.microsoft.com/office/drawing/2014/main" id="{B7C3BC91-39FF-0110-854B-73376E0BAF08}"/>
              </a:ext>
            </a:extLst>
          </p:cNvPr>
          <p:cNvPicPr>
            <a:picLocks noChangeAspect="1"/>
          </p:cNvPicPr>
          <p:nvPr/>
        </p:nvPicPr>
        <p:blipFill>
          <a:blip r:embed="rId4"/>
          <a:stretch>
            <a:fillRect/>
          </a:stretch>
        </p:blipFill>
        <p:spPr>
          <a:xfrm>
            <a:off x="431061" y="836008"/>
            <a:ext cx="5626747" cy="2813374"/>
          </a:xfrm>
          <a:prstGeom prst="rect">
            <a:avLst/>
          </a:prstGeom>
        </p:spPr>
      </p:pic>
    </p:spTree>
    <p:extLst>
      <p:ext uri="{BB962C8B-B14F-4D97-AF65-F5344CB8AC3E}">
        <p14:creationId xmlns:p14="http://schemas.microsoft.com/office/powerpoint/2010/main" val="691303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C3D65-9360-EF45-BC20-6ED6DF1E219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C345D53-4897-89D6-84CB-42E39427FB5C}"/>
              </a:ext>
            </a:extLst>
          </p:cNvPr>
          <p:cNvSpPr>
            <a:spLocks noGrp="1"/>
          </p:cNvSpPr>
          <p:nvPr>
            <p:ph type="title"/>
          </p:nvPr>
        </p:nvSpPr>
        <p:spPr/>
        <p:txBody>
          <a:bodyPr/>
          <a:lstStyle/>
          <a:p>
            <a:r>
              <a:rPr lang="en-GB" b="1" noProof="0" dirty="0"/>
              <a:t>Decomposition</a:t>
            </a:r>
            <a:r>
              <a:rPr lang="en-GB" noProof="0" dirty="0"/>
              <a:t> I Seasonal &amp; Trend Component</a:t>
            </a:r>
          </a:p>
        </p:txBody>
      </p:sp>
      <p:sp>
        <p:nvSpPr>
          <p:cNvPr id="3" name="Textplatzhalter 2">
            <a:extLst>
              <a:ext uri="{FF2B5EF4-FFF2-40B4-BE49-F238E27FC236}">
                <a16:creationId xmlns:a16="http://schemas.microsoft.com/office/drawing/2014/main" id="{F2D33131-AE86-58BF-D6B4-34BAC508FDB4}"/>
              </a:ext>
            </a:extLst>
          </p:cNvPr>
          <p:cNvSpPr>
            <a:spLocks noGrp="1"/>
          </p:cNvSpPr>
          <p:nvPr>
            <p:ph type="body" sz="quarter" idx="11"/>
          </p:nvPr>
        </p:nvSpPr>
        <p:spPr>
          <a:xfrm>
            <a:off x="320041" y="798606"/>
            <a:ext cx="10330962" cy="5279742"/>
          </a:xfrm>
        </p:spPr>
        <p:txBody>
          <a:bodyPr/>
          <a:lstStyle/>
          <a:p>
            <a:pPr marL="85725" lvl="1" indent="0">
              <a:buNone/>
            </a:pPr>
            <a:r>
              <a:rPr lang="en-GB" sz="1800" b="1" noProof="0" dirty="0">
                <a:solidFill>
                  <a:srgbClr val="038A5E"/>
                </a:solidFill>
              </a:rPr>
              <a:t>Trend and Trend + Seasonal Plot </a:t>
            </a:r>
          </a:p>
          <a:p>
            <a:pPr lvl="1"/>
            <a:r>
              <a:rPr lang="en-GB" noProof="0" dirty="0"/>
              <a:t>Seasonal effect is small relative to the trend</a:t>
            </a:r>
          </a:p>
          <a:p>
            <a:pPr marL="85725" lvl="1" indent="0">
              <a:buNone/>
            </a:pPr>
            <a:endParaRPr lang="en-GB" sz="1800" b="1" noProof="0" dirty="0">
              <a:solidFill>
                <a:srgbClr val="038A5E"/>
              </a:solidFill>
            </a:endParaRPr>
          </a:p>
        </p:txBody>
      </p:sp>
      <p:sp>
        <p:nvSpPr>
          <p:cNvPr id="4" name="Textplatzhalter 3">
            <a:extLst>
              <a:ext uri="{FF2B5EF4-FFF2-40B4-BE49-F238E27FC236}">
                <a16:creationId xmlns:a16="http://schemas.microsoft.com/office/drawing/2014/main" id="{7EDFBCA6-3DB4-0888-E13E-624B9E7E52F7}"/>
              </a:ext>
            </a:extLst>
          </p:cNvPr>
          <p:cNvSpPr>
            <a:spLocks noGrp="1"/>
          </p:cNvSpPr>
          <p:nvPr>
            <p:ph type="body" sz="quarter" idx="12"/>
          </p:nvPr>
        </p:nvSpPr>
        <p:spPr/>
        <p:txBody>
          <a:bodyPr/>
          <a:lstStyle/>
          <a:p>
            <a:r>
              <a:rPr lang="en-GB" noProof="0" dirty="0"/>
              <a:t>1</a:t>
            </a:r>
            <a:r>
              <a:rPr lang="en-GB" dirty="0"/>
              <a:t>2</a:t>
            </a:r>
            <a:endParaRPr lang="en-GB" noProof="0" dirty="0"/>
          </a:p>
        </p:txBody>
      </p:sp>
      <p:pic>
        <p:nvPicPr>
          <p:cNvPr id="7" name="Grafik 6">
            <a:extLst>
              <a:ext uri="{FF2B5EF4-FFF2-40B4-BE49-F238E27FC236}">
                <a16:creationId xmlns:a16="http://schemas.microsoft.com/office/drawing/2014/main" id="{97F7E5AC-7D45-F4C7-5B36-1591EA2FD78A}"/>
              </a:ext>
            </a:extLst>
          </p:cNvPr>
          <p:cNvPicPr>
            <a:picLocks noChangeAspect="1"/>
          </p:cNvPicPr>
          <p:nvPr/>
        </p:nvPicPr>
        <p:blipFill>
          <a:blip r:embed="rId3"/>
          <a:stretch>
            <a:fillRect/>
          </a:stretch>
        </p:blipFill>
        <p:spPr>
          <a:xfrm>
            <a:off x="389836" y="1431744"/>
            <a:ext cx="10191372" cy="4770429"/>
          </a:xfrm>
          <a:prstGeom prst="rect">
            <a:avLst/>
          </a:prstGeom>
        </p:spPr>
      </p:pic>
    </p:spTree>
    <p:extLst>
      <p:ext uri="{BB962C8B-B14F-4D97-AF65-F5344CB8AC3E}">
        <p14:creationId xmlns:p14="http://schemas.microsoft.com/office/powerpoint/2010/main" val="2563092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690DD6-AD48-ABAB-914B-45EA6112E09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C4BBAA8-6777-9BC4-3F4A-EB7B0173C68F}"/>
              </a:ext>
            </a:extLst>
          </p:cNvPr>
          <p:cNvSpPr>
            <a:spLocks noGrp="1"/>
          </p:cNvSpPr>
          <p:nvPr>
            <p:ph type="title"/>
          </p:nvPr>
        </p:nvSpPr>
        <p:spPr/>
        <p:txBody>
          <a:bodyPr/>
          <a:lstStyle/>
          <a:p>
            <a:r>
              <a:rPr lang="en-GB" b="1" noProof="0" dirty="0"/>
              <a:t>Decomposition</a:t>
            </a:r>
            <a:r>
              <a:rPr lang="en-GB" noProof="0" dirty="0"/>
              <a:t> I Random Component</a:t>
            </a:r>
          </a:p>
        </p:txBody>
      </p:sp>
      <p:sp>
        <p:nvSpPr>
          <p:cNvPr id="3" name="Textplatzhalter 2">
            <a:extLst>
              <a:ext uri="{FF2B5EF4-FFF2-40B4-BE49-F238E27FC236}">
                <a16:creationId xmlns:a16="http://schemas.microsoft.com/office/drawing/2014/main" id="{0E928D83-90EF-09CB-CF77-3C4782F5FA9D}"/>
              </a:ext>
            </a:extLst>
          </p:cNvPr>
          <p:cNvSpPr>
            <a:spLocks noGrp="1"/>
          </p:cNvSpPr>
          <p:nvPr>
            <p:ph type="body" sz="quarter" idx="11"/>
          </p:nvPr>
        </p:nvSpPr>
        <p:spPr>
          <a:xfrm>
            <a:off x="320041" y="798606"/>
            <a:ext cx="10330962" cy="5279742"/>
          </a:xfrm>
        </p:spPr>
        <p:txBody>
          <a:bodyPr/>
          <a:lstStyle/>
          <a:p>
            <a:pPr marL="85725" lvl="1" indent="0">
              <a:buNone/>
            </a:pPr>
            <a:r>
              <a:rPr lang="en-GB" sz="1800" b="1" noProof="0" dirty="0">
                <a:solidFill>
                  <a:srgbClr val="038A5E"/>
                </a:solidFill>
              </a:rPr>
              <a:t>Random Component </a:t>
            </a:r>
          </a:p>
          <a:p>
            <a:pPr lvl="1"/>
            <a:r>
              <a:rPr lang="en-GB" noProof="0" dirty="0"/>
              <a:t>Spikes during German energy crisis after Russian invasion</a:t>
            </a:r>
            <a:endParaRPr lang="en-GB" b="1" noProof="0" dirty="0">
              <a:solidFill>
                <a:srgbClr val="038A5E"/>
              </a:solidFill>
            </a:endParaRPr>
          </a:p>
        </p:txBody>
      </p:sp>
      <p:sp>
        <p:nvSpPr>
          <p:cNvPr id="4" name="Textplatzhalter 3">
            <a:extLst>
              <a:ext uri="{FF2B5EF4-FFF2-40B4-BE49-F238E27FC236}">
                <a16:creationId xmlns:a16="http://schemas.microsoft.com/office/drawing/2014/main" id="{C681531D-781F-5137-0F2B-D389E4DD7A7A}"/>
              </a:ext>
            </a:extLst>
          </p:cNvPr>
          <p:cNvSpPr>
            <a:spLocks noGrp="1"/>
          </p:cNvSpPr>
          <p:nvPr>
            <p:ph type="body" sz="quarter" idx="12"/>
          </p:nvPr>
        </p:nvSpPr>
        <p:spPr/>
        <p:txBody>
          <a:bodyPr/>
          <a:lstStyle/>
          <a:p>
            <a:r>
              <a:rPr lang="en-GB" dirty="0"/>
              <a:t>13</a:t>
            </a:r>
            <a:endParaRPr lang="en-GB" noProof="0" dirty="0"/>
          </a:p>
        </p:txBody>
      </p:sp>
      <p:pic>
        <p:nvPicPr>
          <p:cNvPr id="6" name="Grafik 5">
            <a:extLst>
              <a:ext uri="{FF2B5EF4-FFF2-40B4-BE49-F238E27FC236}">
                <a16:creationId xmlns:a16="http://schemas.microsoft.com/office/drawing/2014/main" id="{A74D7073-6916-4230-40D2-F4D201C97E4B}"/>
              </a:ext>
            </a:extLst>
          </p:cNvPr>
          <p:cNvPicPr>
            <a:picLocks noChangeAspect="1"/>
          </p:cNvPicPr>
          <p:nvPr/>
        </p:nvPicPr>
        <p:blipFill>
          <a:blip r:embed="rId3"/>
          <a:stretch>
            <a:fillRect/>
          </a:stretch>
        </p:blipFill>
        <p:spPr>
          <a:xfrm>
            <a:off x="412013" y="1452506"/>
            <a:ext cx="10147018" cy="4749667"/>
          </a:xfrm>
          <a:prstGeom prst="rect">
            <a:avLst/>
          </a:prstGeom>
        </p:spPr>
      </p:pic>
    </p:spTree>
    <p:extLst>
      <p:ext uri="{BB962C8B-B14F-4D97-AF65-F5344CB8AC3E}">
        <p14:creationId xmlns:p14="http://schemas.microsoft.com/office/powerpoint/2010/main" val="417070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218D4-49EB-A849-D9B4-8C99D217559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6B44E8F-29B8-09B0-081F-A556876A0F43}"/>
              </a:ext>
            </a:extLst>
          </p:cNvPr>
          <p:cNvSpPr>
            <a:spLocks noGrp="1"/>
          </p:cNvSpPr>
          <p:nvPr>
            <p:ph type="title"/>
          </p:nvPr>
        </p:nvSpPr>
        <p:spPr/>
        <p:txBody>
          <a:bodyPr/>
          <a:lstStyle/>
          <a:p>
            <a:r>
              <a:rPr lang="en-GB" b="1" noProof="0" dirty="0"/>
              <a:t>Autocorrelation</a:t>
            </a:r>
            <a:r>
              <a:rPr lang="en-GB" noProof="0" dirty="0"/>
              <a:t> I Overview</a:t>
            </a:r>
          </a:p>
        </p:txBody>
      </p:sp>
      <p:sp>
        <p:nvSpPr>
          <p:cNvPr id="4" name="Textplatzhalter 3">
            <a:extLst>
              <a:ext uri="{FF2B5EF4-FFF2-40B4-BE49-F238E27FC236}">
                <a16:creationId xmlns:a16="http://schemas.microsoft.com/office/drawing/2014/main" id="{9A2061DE-02EB-0B76-C1E0-ECDF2EE12A6B}"/>
              </a:ext>
            </a:extLst>
          </p:cNvPr>
          <p:cNvSpPr>
            <a:spLocks noGrp="1"/>
          </p:cNvSpPr>
          <p:nvPr>
            <p:ph type="body" sz="quarter" idx="12"/>
          </p:nvPr>
        </p:nvSpPr>
        <p:spPr/>
        <p:txBody>
          <a:bodyPr/>
          <a:lstStyle/>
          <a:p>
            <a:r>
              <a:rPr lang="en-GB" dirty="0"/>
              <a:t>14</a:t>
            </a:r>
            <a:endParaRPr lang="en-GB" noProof="0" dirty="0"/>
          </a:p>
        </p:txBody>
      </p:sp>
      <p:sp>
        <p:nvSpPr>
          <p:cNvPr id="9" name="Textplatzhalter 2">
            <a:extLst>
              <a:ext uri="{FF2B5EF4-FFF2-40B4-BE49-F238E27FC236}">
                <a16:creationId xmlns:a16="http://schemas.microsoft.com/office/drawing/2014/main" id="{18BD94CE-E949-A646-838D-E54F33D7A503}"/>
              </a:ext>
            </a:extLst>
          </p:cNvPr>
          <p:cNvSpPr>
            <a:spLocks noGrp="1"/>
          </p:cNvSpPr>
          <p:nvPr>
            <p:ph type="body" sz="quarter" idx="11"/>
          </p:nvPr>
        </p:nvSpPr>
        <p:spPr>
          <a:xfrm>
            <a:off x="320041" y="986009"/>
            <a:ext cx="5166359" cy="1723622"/>
          </a:xfrm>
        </p:spPr>
        <p:txBody>
          <a:bodyPr/>
          <a:lstStyle/>
          <a:p>
            <a:r>
              <a:rPr lang="en-GB" noProof="0" dirty="0"/>
              <a:t>Autocorrelation in Random Component</a:t>
            </a:r>
            <a:endParaRPr lang="en-GB" noProof="0" dirty="0">
              <a:solidFill>
                <a:srgbClr val="000000"/>
              </a:solidFill>
              <a:latin typeface="Arial"/>
            </a:endParaRPr>
          </a:p>
          <a:p>
            <a:pPr lvl="1">
              <a:defRPr/>
            </a:pPr>
            <a:r>
              <a:rPr lang="en-GB" dirty="0">
                <a:solidFill>
                  <a:srgbClr val="000000"/>
                </a:solidFill>
              </a:rPr>
              <a:t>Not white noise, autocorrelation at lag 1 and 2</a:t>
            </a:r>
          </a:p>
          <a:p>
            <a:pPr lvl="1">
              <a:buFont typeface="Wingdings" pitchFamily="2" charset="2"/>
              <a:buChar char="è"/>
              <a:defRPr/>
            </a:pPr>
            <a:r>
              <a:rPr lang="en-GB" dirty="0">
                <a:solidFill>
                  <a:srgbClr val="000000"/>
                </a:solidFill>
              </a:rPr>
              <a:t>Weekly, annual autocorrelation </a:t>
            </a:r>
          </a:p>
          <a:p>
            <a:pPr marL="85725" lvl="1" indent="0">
              <a:buNone/>
              <a:defRPr/>
            </a:pPr>
            <a:endParaRPr lang="en-GB" dirty="0">
              <a:solidFill>
                <a:srgbClr val="000000"/>
              </a:solidFill>
            </a:endParaRPr>
          </a:p>
          <a:p>
            <a:pPr lvl="1">
              <a:defRPr/>
            </a:pPr>
            <a:r>
              <a:rPr lang="de-DE" dirty="0"/>
              <a:t>Short-run </a:t>
            </a:r>
            <a:r>
              <a:rPr lang="de-DE" dirty="0" err="1"/>
              <a:t>weekly</a:t>
            </a:r>
            <a:r>
              <a:rPr lang="de-DE" dirty="0"/>
              <a:t> </a:t>
            </a:r>
            <a:r>
              <a:rPr lang="de-DE" dirty="0" err="1"/>
              <a:t>autocorrelation</a:t>
            </a: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30000" noProof="0" dirty="0">
              <a:ln>
                <a:noFill/>
              </a:ln>
              <a:solidFill>
                <a:srgbClr val="000000"/>
              </a:solidFill>
              <a:effectLst/>
              <a:uLnTx/>
              <a:uFillTx/>
              <a:latin typeface="Arial"/>
            </a:endParaRPr>
          </a:p>
          <a:p>
            <a:pPr marL="85725" lvl="1" indent="0">
              <a:buNone/>
            </a:pPr>
            <a:endParaRPr lang="en-GB" noProof="0" dirty="0"/>
          </a:p>
          <a:p>
            <a:endParaRPr lang="en-GB" noProof="0" dirty="0"/>
          </a:p>
        </p:txBody>
      </p:sp>
      <p:sp>
        <p:nvSpPr>
          <p:cNvPr id="12" name="Textfeld 11">
            <a:extLst>
              <a:ext uri="{FF2B5EF4-FFF2-40B4-BE49-F238E27FC236}">
                <a16:creationId xmlns:a16="http://schemas.microsoft.com/office/drawing/2014/main" id="{846140A7-22AA-36D0-A6DD-DA4422FFDA6F}"/>
              </a:ext>
            </a:extLst>
          </p:cNvPr>
          <p:cNvSpPr txBox="1"/>
          <p:nvPr/>
        </p:nvSpPr>
        <p:spPr>
          <a:xfrm>
            <a:off x="6264501" y="988645"/>
            <a:ext cx="4199432" cy="715089"/>
          </a:xfrm>
          <a:prstGeom prst="roundRect">
            <a:avLst/>
          </a:prstGeom>
          <a:solidFill>
            <a:srgbClr val="038A5E">
              <a:alpha val="25000"/>
            </a:srgbClr>
          </a:solidFill>
          <a:ln>
            <a:solidFill>
              <a:srgbClr val="038A5E"/>
            </a:solidFill>
          </a:ln>
        </p:spPr>
        <p:txBody>
          <a:bodyPr wrap="square">
            <a:spAutoFit/>
          </a:bodyPr>
          <a:lstStyle/>
          <a:p>
            <a:r>
              <a:rPr lang="en-GB" noProof="0" dirty="0"/>
              <a:t>&gt; #Autocorrelation current week and previous week: [2]</a:t>
            </a:r>
          </a:p>
          <a:p>
            <a:r>
              <a:rPr lang="en-GB" noProof="0" dirty="0"/>
              <a:t>&gt; </a:t>
            </a:r>
            <a:r>
              <a:rPr lang="en-GB" noProof="0" dirty="0" err="1"/>
              <a:t>acf</a:t>
            </a:r>
            <a:r>
              <a:rPr lang="en-GB" noProof="0" dirty="0"/>
              <a:t>(</a:t>
            </a:r>
            <a:r>
              <a:rPr lang="en-GB" noProof="0" dirty="0" err="1"/>
              <a:t>weekly.random</a:t>
            </a:r>
            <a:r>
              <a:rPr lang="en-GB" noProof="0" dirty="0"/>
              <a:t>)$</a:t>
            </a:r>
            <a:r>
              <a:rPr lang="en-GB" noProof="0" dirty="0" err="1"/>
              <a:t>acf</a:t>
            </a:r>
            <a:r>
              <a:rPr lang="en-GB" noProof="0" dirty="0"/>
              <a:t>[2]</a:t>
            </a:r>
          </a:p>
          <a:p>
            <a:r>
              <a:rPr lang="en-GB" noProof="0" dirty="0"/>
              <a:t>[1] </a:t>
            </a:r>
            <a:r>
              <a:rPr lang="en-GB" b="1" dirty="0"/>
              <a:t>0.4901079</a:t>
            </a:r>
            <a:endParaRPr lang="en-GB" b="1" noProof="0" dirty="0"/>
          </a:p>
        </p:txBody>
      </p:sp>
      <p:sp>
        <p:nvSpPr>
          <p:cNvPr id="3" name="Textfeld 2">
            <a:extLst>
              <a:ext uri="{FF2B5EF4-FFF2-40B4-BE49-F238E27FC236}">
                <a16:creationId xmlns:a16="http://schemas.microsoft.com/office/drawing/2014/main" id="{1CDF0760-069A-0496-1775-C988FC3DD4E4}"/>
              </a:ext>
            </a:extLst>
          </p:cNvPr>
          <p:cNvSpPr txBox="1"/>
          <p:nvPr/>
        </p:nvSpPr>
        <p:spPr>
          <a:xfrm>
            <a:off x="6264501" y="1847820"/>
            <a:ext cx="4199432" cy="715089"/>
          </a:xfrm>
          <a:prstGeom prst="roundRect">
            <a:avLst/>
          </a:prstGeom>
          <a:solidFill>
            <a:srgbClr val="038A5E">
              <a:alpha val="25000"/>
            </a:srgbClr>
          </a:solidFill>
          <a:ln>
            <a:solidFill>
              <a:srgbClr val="038A5E"/>
            </a:solidFill>
          </a:ln>
        </p:spPr>
        <p:txBody>
          <a:bodyPr wrap="square">
            <a:spAutoFit/>
          </a:bodyPr>
          <a:lstStyle/>
          <a:p>
            <a:r>
              <a:rPr lang="en-GB" noProof="0" dirty="0"/>
              <a:t>&gt; #Autocorrelation current week and one month earlier: [5]</a:t>
            </a:r>
          </a:p>
          <a:p>
            <a:r>
              <a:rPr lang="en-GB" noProof="0" dirty="0"/>
              <a:t>&gt; </a:t>
            </a:r>
            <a:r>
              <a:rPr lang="en-GB" noProof="0" dirty="0" err="1"/>
              <a:t>acf</a:t>
            </a:r>
            <a:r>
              <a:rPr lang="en-GB" noProof="0" dirty="0"/>
              <a:t>(</a:t>
            </a:r>
            <a:r>
              <a:rPr lang="en-GB" noProof="0" dirty="0" err="1"/>
              <a:t>weekly.random</a:t>
            </a:r>
            <a:r>
              <a:rPr lang="en-GB" noProof="0" dirty="0"/>
              <a:t>)$</a:t>
            </a:r>
            <a:r>
              <a:rPr lang="en-GB" noProof="0" dirty="0" err="1"/>
              <a:t>acf</a:t>
            </a:r>
            <a:r>
              <a:rPr lang="en-GB" noProof="0" dirty="0"/>
              <a:t>[5]</a:t>
            </a:r>
          </a:p>
          <a:p>
            <a:r>
              <a:rPr lang="en-GB" noProof="0" dirty="0"/>
              <a:t>[1] </a:t>
            </a:r>
            <a:r>
              <a:rPr lang="en-GB" b="1" dirty="0"/>
              <a:t>0.1187632</a:t>
            </a:r>
            <a:endParaRPr lang="en-GB" b="1" noProof="0" dirty="0"/>
          </a:p>
        </p:txBody>
      </p:sp>
      <p:pic>
        <p:nvPicPr>
          <p:cNvPr id="6" name="Grafik 5">
            <a:extLst>
              <a:ext uri="{FF2B5EF4-FFF2-40B4-BE49-F238E27FC236}">
                <a16:creationId xmlns:a16="http://schemas.microsoft.com/office/drawing/2014/main" id="{F776EACA-3075-6E91-1375-45157B72D62E}"/>
              </a:ext>
            </a:extLst>
          </p:cNvPr>
          <p:cNvPicPr>
            <a:picLocks noChangeAspect="1"/>
          </p:cNvPicPr>
          <p:nvPr/>
        </p:nvPicPr>
        <p:blipFill>
          <a:blip r:embed="rId3"/>
          <a:stretch>
            <a:fillRect/>
          </a:stretch>
        </p:blipFill>
        <p:spPr>
          <a:xfrm>
            <a:off x="320041" y="2584278"/>
            <a:ext cx="10254966" cy="3845612"/>
          </a:xfrm>
          <a:prstGeom prst="rect">
            <a:avLst/>
          </a:prstGeom>
        </p:spPr>
      </p:pic>
    </p:spTree>
    <p:extLst>
      <p:ext uri="{BB962C8B-B14F-4D97-AF65-F5344CB8AC3E}">
        <p14:creationId xmlns:p14="http://schemas.microsoft.com/office/powerpoint/2010/main" val="786685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CAE5E-3216-4BDE-98CD-4A2F736134D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952FCC3-40C0-4A3B-BED8-0A5A658B66D5}"/>
              </a:ext>
            </a:extLst>
          </p:cNvPr>
          <p:cNvSpPr>
            <a:spLocks noGrp="1"/>
          </p:cNvSpPr>
          <p:nvPr>
            <p:ph type="title"/>
          </p:nvPr>
        </p:nvSpPr>
        <p:spPr/>
        <p:txBody>
          <a:bodyPr/>
          <a:lstStyle/>
          <a:p>
            <a:r>
              <a:rPr lang="en-GB" b="1" noProof="0" dirty="0"/>
              <a:t>Autocorrelation</a:t>
            </a:r>
            <a:r>
              <a:rPr lang="en-GB" noProof="0" dirty="0"/>
              <a:t> I Overview</a:t>
            </a:r>
          </a:p>
        </p:txBody>
      </p:sp>
      <p:sp>
        <p:nvSpPr>
          <p:cNvPr id="4" name="Textplatzhalter 3">
            <a:extLst>
              <a:ext uri="{FF2B5EF4-FFF2-40B4-BE49-F238E27FC236}">
                <a16:creationId xmlns:a16="http://schemas.microsoft.com/office/drawing/2014/main" id="{D5EFC1F4-A59A-BBD7-B1BF-134458FF2182}"/>
              </a:ext>
            </a:extLst>
          </p:cNvPr>
          <p:cNvSpPr>
            <a:spLocks noGrp="1"/>
          </p:cNvSpPr>
          <p:nvPr>
            <p:ph type="body" sz="quarter" idx="12"/>
          </p:nvPr>
        </p:nvSpPr>
        <p:spPr/>
        <p:txBody>
          <a:bodyPr/>
          <a:lstStyle/>
          <a:p>
            <a:r>
              <a:rPr lang="en-GB" dirty="0"/>
              <a:t>15</a:t>
            </a:r>
            <a:endParaRPr lang="en-GB" noProof="0" dirty="0"/>
          </a:p>
        </p:txBody>
      </p:sp>
      <p:sp>
        <p:nvSpPr>
          <p:cNvPr id="9" name="Textplatzhalter 2">
            <a:extLst>
              <a:ext uri="{FF2B5EF4-FFF2-40B4-BE49-F238E27FC236}">
                <a16:creationId xmlns:a16="http://schemas.microsoft.com/office/drawing/2014/main" id="{7B79AF2C-3408-5511-2F34-FE2005361435}"/>
              </a:ext>
            </a:extLst>
          </p:cNvPr>
          <p:cNvSpPr>
            <a:spLocks noGrp="1"/>
          </p:cNvSpPr>
          <p:nvPr>
            <p:ph type="body" sz="quarter" idx="11"/>
          </p:nvPr>
        </p:nvSpPr>
        <p:spPr>
          <a:xfrm>
            <a:off x="320041" y="986009"/>
            <a:ext cx="10240164" cy="4823840"/>
          </a:xfrm>
        </p:spPr>
        <p:txBody>
          <a:bodyPr/>
          <a:lstStyle/>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r>
              <a:rPr lang="en-GB" sz="1800" b="1" noProof="0" dirty="0">
                <a:solidFill>
                  <a:srgbClr val="038A5E"/>
                </a:solidFill>
                <a:latin typeface="Arial"/>
              </a:rPr>
              <a:t>ACF and PACF Overview</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30000" noProof="0" dirty="0">
              <a:ln>
                <a:noFill/>
              </a:ln>
              <a:solidFill>
                <a:srgbClr val="000000"/>
              </a:solidFill>
              <a:effectLst/>
              <a:uLnTx/>
              <a:uFillTx/>
              <a:latin typeface="Arial"/>
            </a:endParaRPr>
          </a:p>
          <a:p>
            <a:pPr marL="85725" lvl="1" indent="0">
              <a:buNone/>
            </a:pPr>
            <a:endParaRPr lang="en-GB" noProof="0" dirty="0"/>
          </a:p>
          <a:p>
            <a:endParaRPr lang="en-GB" noProof="0" dirty="0"/>
          </a:p>
        </p:txBody>
      </p:sp>
      <p:pic>
        <p:nvPicPr>
          <p:cNvPr id="3" name="Grafik 2">
            <a:extLst>
              <a:ext uri="{FF2B5EF4-FFF2-40B4-BE49-F238E27FC236}">
                <a16:creationId xmlns:a16="http://schemas.microsoft.com/office/drawing/2014/main" id="{F90A5CEF-2CF5-F6A9-F98F-45264E0BD29F}"/>
              </a:ext>
            </a:extLst>
          </p:cNvPr>
          <p:cNvPicPr>
            <a:picLocks noChangeAspect="1"/>
          </p:cNvPicPr>
          <p:nvPr/>
        </p:nvPicPr>
        <p:blipFill>
          <a:blip r:embed="rId2"/>
          <a:stretch>
            <a:fillRect/>
          </a:stretch>
        </p:blipFill>
        <p:spPr>
          <a:xfrm>
            <a:off x="412595" y="1356889"/>
            <a:ext cx="9961466" cy="4662813"/>
          </a:xfrm>
          <a:prstGeom prst="rect">
            <a:avLst/>
          </a:prstGeom>
        </p:spPr>
      </p:pic>
    </p:spTree>
    <p:extLst>
      <p:ext uri="{BB962C8B-B14F-4D97-AF65-F5344CB8AC3E}">
        <p14:creationId xmlns:p14="http://schemas.microsoft.com/office/powerpoint/2010/main" val="199767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72EBA-9A03-564A-55EF-E821C4F0A04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FC97D3-D846-B76B-00A5-D8B6F27ACCD4}"/>
              </a:ext>
            </a:extLst>
          </p:cNvPr>
          <p:cNvSpPr>
            <a:spLocks noGrp="1"/>
          </p:cNvSpPr>
          <p:nvPr>
            <p:ph type="title"/>
          </p:nvPr>
        </p:nvSpPr>
        <p:spPr/>
        <p:txBody>
          <a:bodyPr/>
          <a:lstStyle/>
          <a:p>
            <a:r>
              <a:rPr lang="en-GB" b="1" noProof="0" dirty="0"/>
              <a:t>Forecasting</a:t>
            </a:r>
            <a:r>
              <a:rPr lang="en-GB" noProof="0" dirty="0"/>
              <a:t> I First Approach</a:t>
            </a:r>
          </a:p>
        </p:txBody>
      </p:sp>
      <p:sp>
        <p:nvSpPr>
          <p:cNvPr id="4" name="Textplatzhalter 3">
            <a:extLst>
              <a:ext uri="{FF2B5EF4-FFF2-40B4-BE49-F238E27FC236}">
                <a16:creationId xmlns:a16="http://schemas.microsoft.com/office/drawing/2014/main" id="{9824B859-7140-A879-1910-47052ACBED80}"/>
              </a:ext>
            </a:extLst>
          </p:cNvPr>
          <p:cNvSpPr>
            <a:spLocks noGrp="1"/>
          </p:cNvSpPr>
          <p:nvPr>
            <p:ph type="body" sz="quarter" idx="12"/>
          </p:nvPr>
        </p:nvSpPr>
        <p:spPr/>
        <p:txBody>
          <a:bodyPr/>
          <a:lstStyle/>
          <a:p>
            <a:r>
              <a:rPr lang="en-GB" dirty="0"/>
              <a:t>16</a:t>
            </a:r>
            <a:endParaRPr lang="en-GB" noProof="0" dirty="0"/>
          </a:p>
        </p:txBody>
      </p:sp>
      <p:sp>
        <p:nvSpPr>
          <p:cNvPr id="9" name="Textplatzhalter 2">
            <a:extLst>
              <a:ext uri="{FF2B5EF4-FFF2-40B4-BE49-F238E27FC236}">
                <a16:creationId xmlns:a16="http://schemas.microsoft.com/office/drawing/2014/main" id="{3613FD90-90AE-51D4-FC5B-536633C20ED9}"/>
              </a:ext>
            </a:extLst>
          </p:cNvPr>
          <p:cNvSpPr>
            <a:spLocks noGrp="1"/>
          </p:cNvSpPr>
          <p:nvPr>
            <p:ph type="body" sz="quarter" idx="11"/>
          </p:nvPr>
        </p:nvSpPr>
        <p:spPr>
          <a:xfrm>
            <a:off x="320041" y="986008"/>
            <a:ext cx="4906867" cy="5250405"/>
          </a:xfrm>
        </p:spPr>
        <p:txBody>
          <a:bodyPr/>
          <a:lstStyle/>
          <a:p>
            <a:r>
              <a:rPr lang="en-GB" noProof="0" dirty="0"/>
              <a:t>Holt-Winters Approach </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noProof="0" dirty="0">
                <a:solidFill>
                  <a:srgbClr val="000000"/>
                </a:solidFill>
                <a:latin typeface="Arial"/>
              </a:rPr>
              <a:t>Baseline estimation model</a:t>
            </a:r>
          </a:p>
          <a:p>
            <a:pPr marR="0" lvl="1"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lang="en-GB" noProof="0" dirty="0">
                <a:solidFill>
                  <a:srgbClr val="000000"/>
                </a:solidFill>
                <a:latin typeface="Arial"/>
              </a:rPr>
              <a:t>Unlikely to fit given large trend component in series</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kumimoji="0" lang="en-GB" sz="1600" b="1" i="0" u="none" strike="noStrike" kern="0" cap="none" spc="0" normalizeH="0" baseline="0" noProof="0" dirty="0">
                <a:ln>
                  <a:noFill/>
                </a:ln>
                <a:solidFill>
                  <a:srgbClr val="000000"/>
                </a:solidFill>
                <a:effectLst/>
                <a:uLnTx/>
                <a:uFillTx/>
                <a:latin typeface="Arial"/>
              </a:rPr>
              <a:t>Key Problem of the series: </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kumimoji="0" lang="en-GB" sz="1600" b="0" i="0" u="none" strike="noStrike" kern="0" cap="none" spc="0" normalizeH="0" baseline="0" noProof="0" dirty="0">
                <a:ln>
                  <a:noFill/>
                </a:ln>
                <a:solidFill>
                  <a:srgbClr val="000000"/>
                </a:solidFill>
                <a:effectLst/>
                <a:uLnTx/>
                <a:uFillTx/>
                <a:latin typeface="Arial"/>
              </a:rPr>
              <a:t>Crisis trend influence make forecasting more complex</a:t>
            </a:r>
          </a:p>
          <a:p>
            <a:pPr marL="85725" lvl="1" indent="0">
              <a:buNone/>
            </a:pPr>
            <a:endParaRPr lang="en-GB" noProof="0" dirty="0"/>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r>
              <a:rPr lang="en-GB" sz="1800" b="1" noProof="0" dirty="0">
                <a:solidFill>
                  <a:srgbClr val="038A5E"/>
                </a:solidFill>
                <a:latin typeface="Arial"/>
              </a:rPr>
              <a:t>Preliminary Insights</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dirty="0">
                <a:solidFill>
                  <a:srgbClr val="000000"/>
                </a:solidFill>
                <a:latin typeface="Arial"/>
              </a:rPr>
              <a:t>W</a:t>
            </a:r>
            <a:r>
              <a:rPr kumimoji="0" lang="en-GB" sz="1600" b="0" i="0" u="none" strike="noStrike" kern="0" cap="none" spc="0" normalizeH="0" baseline="0" noProof="0" dirty="0" err="1">
                <a:ln>
                  <a:noFill/>
                </a:ln>
                <a:solidFill>
                  <a:srgbClr val="000000"/>
                </a:solidFill>
                <a:effectLst/>
                <a:uLnTx/>
                <a:uFillTx/>
                <a:latin typeface="Arial"/>
              </a:rPr>
              <a:t>eekly</a:t>
            </a:r>
            <a:r>
              <a:rPr kumimoji="0" lang="en-GB" sz="1600" b="0" i="0" u="none" strike="noStrike" kern="0" cap="none" spc="0" normalizeH="0" baseline="0" noProof="0" dirty="0">
                <a:ln>
                  <a:noFill/>
                </a:ln>
                <a:solidFill>
                  <a:srgbClr val="000000"/>
                </a:solidFill>
                <a:effectLst/>
                <a:uLnTx/>
                <a:uFillTx/>
                <a:latin typeface="Arial"/>
              </a:rPr>
              <a:t> price remain relevant</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dirty="0">
                <a:solidFill>
                  <a:srgbClr val="000000"/>
                </a:solidFill>
                <a:latin typeface="Arial"/>
              </a:rPr>
              <a:t>A</a:t>
            </a:r>
            <a:r>
              <a:rPr lang="en-GB" noProof="0" dirty="0" err="1">
                <a:solidFill>
                  <a:srgbClr val="000000"/>
                </a:solidFill>
                <a:latin typeface="Arial"/>
              </a:rPr>
              <a:t>nnual</a:t>
            </a:r>
            <a:r>
              <a:rPr lang="en-GB" noProof="0" dirty="0">
                <a:solidFill>
                  <a:srgbClr val="000000"/>
                </a:solidFill>
                <a:latin typeface="Arial"/>
              </a:rPr>
              <a:t> weekly seasonality</a:t>
            </a:r>
            <a:endParaRPr kumimoji="0" lang="en-GB" sz="1600" b="0" i="0" u="none" strike="noStrike" kern="0" cap="none" spc="0" normalizeH="0" baseline="0" noProof="0" dirty="0">
              <a:ln>
                <a:noFill/>
              </a:ln>
              <a:solidFill>
                <a:srgbClr val="000000"/>
              </a:solidFill>
              <a:effectLst/>
              <a:uLnTx/>
              <a:uFillTx/>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p:txBody>
      </p:sp>
      <p:sp>
        <p:nvSpPr>
          <p:cNvPr id="8" name="Textfeld 7">
            <a:extLst>
              <a:ext uri="{FF2B5EF4-FFF2-40B4-BE49-F238E27FC236}">
                <a16:creationId xmlns:a16="http://schemas.microsoft.com/office/drawing/2014/main" id="{856DCBC4-DCC6-DAF0-D069-3BC7AA89ED65}"/>
              </a:ext>
            </a:extLst>
          </p:cNvPr>
          <p:cNvSpPr txBox="1"/>
          <p:nvPr/>
        </p:nvSpPr>
        <p:spPr>
          <a:xfrm>
            <a:off x="6053162" y="4847829"/>
            <a:ext cx="4499508" cy="1532334"/>
          </a:xfrm>
          <a:prstGeom prst="roundRect">
            <a:avLst/>
          </a:prstGeom>
          <a:solidFill>
            <a:srgbClr val="038A5E">
              <a:alpha val="25000"/>
            </a:srgbClr>
          </a:solidFill>
          <a:ln>
            <a:solidFill>
              <a:srgbClr val="038A5E"/>
            </a:solidFill>
          </a:ln>
        </p:spPr>
        <p:txBody>
          <a:bodyPr wrap="square">
            <a:spAutoFit/>
          </a:bodyPr>
          <a:lstStyle/>
          <a:p>
            <a:r>
              <a:rPr lang="en-GB" noProof="0" dirty="0"/>
              <a:t>Call:</a:t>
            </a:r>
          </a:p>
          <a:p>
            <a:r>
              <a:rPr lang="en-GB" noProof="0" dirty="0" err="1"/>
              <a:t>HoltWinters</a:t>
            </a:r>
            <a:r>
              <a:rPr lang="en-GB" noProof="0" dirty="0"/>
              <a:t>(x = </a:t>
            </a:r>
            <a:r>
              <a:rPr lang="en-GB" noProof="0" dirty="0" err="1"/>
              <a:t>weekly.ts</a:t>
            </a:r>
            <a:r>
              <a:rPr lang="en-GB" noProof="0" dirty="0"/>
              <a:t>, seasonal = "additive")</a:t>
            </a:r>
          </a:p>
          <a:p>
            <a:endParaRPr lang="en-GB" noProof="0" dirty="0"/>
          </a:p>
          <a:p>
            <a:r>
              <a:rPr lang="en-GB" noProof="0" dirty="0"/>
              <a:t>Smoothing parameters:</a:t>
            </a:r>
          </a:p>
          <a:p>
            <a:r>
              <a:rPr lang="en-GB" b="1" noProof="0" dirty="0"/>
              <a:t>alpha</a:t>
            </a:r>
            <a:r>
              <a:rPr lang="en-GB" noProof="0" dirty="0"/>
              <a:t>: </a:t>
            </a:r>
            <a:r>
              <a:rPr lang="en-GB" b="1" dirty="0"/>
              <a:t>0.3914396</a:t>
            </a:r>
            <a:endParaRPr lang="en-GB" b="1" noProof="0" dirty="0"/>
          </a:p>
          <a:p>
            <a:r>
              <a:rPr lang="en-GB" noProof="0" dirty="0"/>
              <a:t>beta : </a:t>
            </a:r>
            <a:r>
              <a:rPr lang="en-GB" dirty="0"/>
              <a:t>0.002800409</a:t>
            </a:r>
            <a:endParaRPr lang="en-GB" noProof="0" dirty="0"/>
          </a:p>
          <a:p>
            <a:r>
              <a:rPr lang="en-GB" b="1" noProof="0" dirty="0"/>
              <a:t>gamma</a:t>
            </a:r>
            <a:r>
              <a:rPr lang="en-GB" noProof="0" dirty="0"/>
              <a:t>: </a:t>
            </a:r>
            <a:r>
              <a:rPr lang="en-GB" b="1" dirty="0"/>
              <a:t>0.4574828</a:t>
            </a:r>
            <a:endParaRPr lang="en-GB" b="1" noProof="0" dirty="0"/>
          </a:p>
        </p:txBody>
      </p:sp>
      <p:cxnSp>
        <p:nvCxnSpPr>
          <p:cNvPr id="17" name="Gerade Verbindung mit Pfeil 16">
            <a:extLst>
              <a:ext uri="{FF2B5EF4-FFF2-40B4-BE49-F238E27FC236}">
                <a16:creationId xmlns:a16="http://schemas.microsoft.com/office/drawing/2014/main" id="{114C0A89-707B-C120-AF8C-1C4538342A98}"/>
              </a:ext>
            </a:extLst>
          </p:cNvPr>
          <p:cNvCxnSpPr/>
          <p:nvPr/>
        </p:nvCxnSpPr>
        <p:spPr bwMode="auto">
          <a:xfrm>
            <a:off x="4048018" y="5836138"/>
            <a:ext cx="1880171" cy="0"/>
          </a:xfrm>
          <a:prstGeom prst="straightConnector1">
            <a:avLst/>
          </a:prstGeom>
          <a:noFill/>
          <a:ln w="15875" cap="flat" cmpd="sng" algn="ctr">
            <a:solidFill>
              <a:schemeClr val="accent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Gerade Verbindung mit Pfeil 18">
            <a:extLst>
              <a:ext uri="{FF2B5EF4-FFF2-40B4-BE49-F238E27FC236}">
                <a16:creationId xmlns:a16="http://schemas.microsoft.com/office/drawing/2014/main" id="{014102D2-256F-2DEA-0C58-AA3291E55CC2}"/>
              </a:ext>
            </a:extLst>
          </p:cNvPr>
          <p:cNvCxnSpPr/>
          <p:nvPr/>
        </p:nvCxnSpPr>
        <p:spPr bwMode="auto">
          <a:xfrm>
            <a:off x="4048018" y="6202629"/>
            <a:ext cx="1880171" cy="0"/>
          </a:xfrm>
          <a:prstGeom prst="straightConnector1">
            <a:avLst/>
          </a:prstGeom>
          <a:noFill/>
          <a:ln w="15875" cap="flat" cmpd="sng" algn="ctr">
            <a:solidFill>
              <a:schemeClr val="accent1"/>
            </a:solidFill>
            <a:prstDash val="solid"/>
            <a:round/>
            <a:headEnd type="none" w="med" len="med"/>
            <a:tailEnd type="triangle"/>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5" name="Grafik 4">
            <a:extLst>
              <a:ext uri="{FF2B5EF4-FFF2-40B4-BE49-F238E27FC236}">
                <a16:creationId xmlns:a16="http://schemas.microsoft.com/office/drawing/2014/main" id="{A456F7F9-7E1C-3D7D-AC7C-2077AFD0B8E0}"/>
              </a:ext>
            </a:extLst>
          </p:cNvPr>
          <p:cNvPicPr>
            <a:picLocks noChangeAspect="1"/>
          </p:cNvPicPr>
          <p:nvPr/>
        </p:nvPicPr>
        <p:blipFill>
          <a:blip r:embed="rId2"/>
          <a:stretch>
            <a:fillRect/>
          </a:stretch>
        </p:blipFill>
        <p:spPr>
          <a:xfrm>
            <a:off x="4921102" y="852313"/>
            <a:ext cx="5729900" cy="3906750"/>
          </a:xfrm>
          <a:prstGeom prst="rect">
            <a:avLst/>
          </a:prstGeom>
        </p:spPr>
      </p:pic>
    </p:spTree>
    <p:extLst>
      <p:ext uri="{BB962C8B-B14F-4D97-AF65-F5344CB8AC3E}">
        <p14:creationId xmlns:p14="http://schemas.microsoft.com/office/powerpoint/2010/main" val="1767076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E2441-B079-DB16-F31F-7ACCFC052E7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6E0E4DD-AF56-911E-A778-6F1AEB994BC0}"/>
              </a:ext>
            </a:extLst>
          </p:cNvPr>
          <p:cNvSpPr>
            <a:spLocks noGrp="1"/>
          </p:cNvSpPr>
          <p:nvPr>
            <p:ph type="title"/>
          </p:nvPr>
        </p:nvSpPr>
        <p:spPr/>
        <p:txBody>
          <a:bodyPr/>
          <a:lstStyle/>
          <a:p>
            <a:r>
              <a:rPr lang="en-GB" b="1" noProof="0" dirty="0"/>
              <a:t>Forecasting</a:t>
            </a:r>
            <a:r>
              <a:rPr lang="en-GB" noProof="0" dirty="0"/>
              <a:t> I Plot</a:t>
            </a:r>
          </a:p>
        </p:txBody>
      </p:sp>
      <p:sp>
        <p:nvSpPr>
          <p:cNvPr id="4" name="Textplatzhalter 3">
            <a:extLst>
              <a:ext uri="{FF2B5EF4-FFF2-40B4-BE49-F238E27FC236}">
                <a16:creationId xmlns:a16="http://schemas.microsoft.com/office/drawing/2014/main" id="{B9748545-5AF8-2F4D-593D-12CC828F35CD}"/>
              </a:ext>
            </a:extLst>
          </p:cNvPr>
          <p:cNvSpPr>
            <a:spLocks noGrp="1"/>
          </p:cNvSpPr>
          <p:nvPr>
            <p:ph type="body" sz="quarter" idx="12"/>
          </p:nvPr>
        </p:nvSpPr>
        <p:spPr/>
        <p:txBody>
          <a:bodyPr/>
          <a:lstStyle/>
          <a:p>
            <a:r>
              <a:rPr lang="en-GB" dirty="0"/>
              <a:t>17</a:t>
            </a:r>
            <a:endParaRPr lang="en-GB" noProof="0" dirty="0"/>
          </a:p>
        </p:txBody>
      </p:sp>
      <p:sp>
        <p:nvSpPr>
          <p:cNvPr id="9" name="Textplatzhalter 2">
            <a:extLst>
              <a:ext uri="{FF2B5EF4-FFF2-40B4-BE49-F238E27FC236}">
                <a16:creationId xmlns:a16="http://schemas.microsoft.com/office/drawing/2014/main" id="{ADFBE18F-4386-83A2-137F-DCF1D5AA33E0}"/>
              </a:ext>
            </a:extLst>
          </p:cNvPr>
          <p:cNvSpPr>
            <a:spLocks noGrp="1"/>
          </p:cNvSpPr>
          <p:nvPr>
            <p:ph type="body" sz="quarter" idx="11"/>
          </p:nvPr>
        </p:nvSpPr>
        <p:spPr>
          <a:xfrm>
            <a:off x="320041" y="986009"/>
            <a:ext cx="6733902" cy="4342344"/>
          </a:xfrm>
        </p:spPr>
        <p:txBody>
          <a:bodyPr/>
          <a:lstStyle/>
          <a:p>
            <a:r>
              <a:rPr lang="en-GB" noProof="0" dirty="0"/>
              <a:t>Holt-Winter 2 Year Prediction</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noProof="0"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kumimoji="0" lang="en-GB" sz="1600" b="0" i="0" u="none" strike="noStrike" kern="0" cap="none" spc="0" normalizeH="0" baseline="30000" noProof="0" dirty="0">
              <a:ln>
                <a:noFill/>
              </a:ln>
              <a:solidFill>
                <a:srgbClr val="000000"/>
              </a:solidFill>
              <a:effectLst/>
              <a:uLnTx/>
              <a:uFillTx/>
              <a:latin typeface="Arial"/>
            </a:endParaRPr>
          </a:p>
          <a:p>
            <a:pPr marL="85725" lvl="1" indent="0">
              <a:buNone/>
            </a:pPr>
            <a:endParaRPr lang="en-GB" noProof="0" dirty="0"/>
          </a:p>
          <a:p>
            <a:endParaRPr lang="en-GB" noProof="0" dirty="0"/>
          </a:p>
        </p:txBody>
      </p:sp>
      <p:pic>
        <p:nvPicPr>
          <p:cNvPr id="3" name="Grafik 2">
            <a:extLst>
              <a:ext uri="{FF2B5EF4-FFF2-40B4-BE49-F238E27FC236}">
                <a16:creationId xmlns:a16="http://schemas.microsoft.com/office/drawing/2014/main" id="{DC32BD2A-52C7-C3E3-5659-8E46BBFF2C11}"/>
              </a:ext>
            </a:extLst>
          </p:cNvPr>
          <p:cNvPicPr>
            <a:picLocks noChangeAspect="1"/>
          </p:cNvPicPr>
          <p:nvPr/>
        </p:nvPicPr>
        <p:blipFill>
          <a:blip r:embed="rId2"/>
          <a:stretch>
            <a:fillRect/>
          </a:stretch>
        </p:blipFill>
        <p:spPr>
          <a:xfrm>
            <a:off x="320041" y="1353045"/>
            <a:ext cx="10324071" cy="4832543"/>
          </a:xfrm>
          <a:prstGeom prst="rect">
            <a:avLst/>
          </a:prstGeom>
        </p:spPr>
      </p:pic>
    </p:spTree>
    <p:extLst>
      <p:ext uri="{BB962C8B-B14F-4D97-AF65-F5344CB8AC3E}">
        <p14:creationId xmlns:p14="http://schemas.microsoft.com/office/powerpoint/2010/main" val="359727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5AD1B-8DD3-E67B-D034-105124BD609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C78D0D-6FB8-8E8C-1540-9CAB0B84B920}"/>
              </a:ext>
            </a:extLst>
          </p:cNvPr>
          <p:cNvSpPr>
            <a:spLocks noGrp="1"/>
          </p:cNvSpPr>
          <p:nvPr>
            <p:ph type="title"/>
          </p:nvPr>
        </p:nvSpPr>
        <p:spPr/>
        <p:txBody>
          <a:bodyPr/>
          <a:lstStyle/>
          <a:p>
            <a:r>
              <a:rPr lang="en-GB" b="1" noProof="0" dirty="0"/>
              <a:t>Forecasting</a:t>
            </a:r>
            <a:r>
              <a:rPr lang="en-GB" noProof="0" dirty="0"/>
              <a:t> I </a:t>
            </a:r>
            <a:r>
              <a:rPr lang="en-GB" dirty="0"/>
              <a:t>Plot</a:t>
            </a:r>
            <a:endParaRPr lang="en-GB" noProof="0" dirty="0"/>
          </a:p>
        </p:txBody>
      </p:sp>
      <p:sp>
        <p:nvSpPr>
          <p:cNvPr id="4" name="Textplatzhalter 3">
            <a:extLst>
              <a:ext uri="{FF2B5EF4-FFF2-40B4-BE49-F238E27FC236}">
                <a16:creationId xmlns:a16="http://schemas.microsoft.com/office/drawing/2014/main" id="{C6B00F98-E141-1CC3-3C42-72276095FF67}"/>
              </a:ext>
            </a:extLst>
          </p:cNvPr>
          <p:cNvSpPr>
            <a:spLocks noGrp="1"/>
          </p:cNvSpPr>
          <p:nvPr>
            <p:ph type="body" sz="quarter" idx="12"/>
          </p:nvPr>
        </p:nvSpPr>
        <p:spPr/>
        <p:txBody>
          <a:bodyPr/>
          <a:lstStyle/>
          <a:p>
            <a:r>
              <a:rPr lang="en-GB" noProof="0" dirty="0"/>
              <a:t>18</a:t>
            </a:r>
          </a:p>
        </p:txBody>
      </p:sp>
      <p:sp>
        <p:nvSpPr>
          <p:cNvPr id="9" name="Textplatzhalter 2">
            <a:extLst>
              <a:ext uri="{FF2B5EF4-FFF2-40B4-BE49-F238E27FC236}">
                <a16:creationId xmlns:a16="http://schemas.microsoft.com/office/drawing/2014/main" id="{43948A2B-1DE7-88B3-980D-ABAED256064E}"/>
              </a:ext>
            </a:extLst>
          </p:cNvPr>
          <p:cNvSpPr>
            <a:spLocks noGrp="1"/>
          </p:cNvSpPr>
          <p:nvPr>
            <p:ph type="body" sz="quarter" idx="11"/>
          </p:nvPr>
        </p:nvSpPr>
        <p:spPr>
          <a:xfrm>
            <a:off x="320040" y="864274"/>
            <a:ext cx="5799405" cy="5250405"/>
          </a:xfrm>
        </p:spPr>
        <p:txBody>
          <a:bodyPr/>
          <a:lstStyle/>
          <a:p>
            <a:r>
              <a:rPr lang="en-GB" noProof="0" dirty="0"/>
              <a:t>ACF of Holt-Winters residuals</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noProof="0" dirty="0">
                <a:solidFill>
                  <a:srgbClr val="000000"/>
                </a:solidFill>
                <a:latin typeface="Arial"/>
              </a:rPr>
              <a:t>Not completely </a:t>
            </a:r>
            <a:r>
              <a:rPr lang="en-GB" dirty="0">
                <a:solidFill>
                  <a:srgbClr val="000000"/>
                </a:solidFill>
                <a:latin typeface="Arial"/>
              </a:rPr>
              <a:t>w</a:t>
            </a:r>
            <a:r>
              <a:rPr lang="en-GB" noProof="0" dirty="0" err="1">
                <a:solidFill>
                  <a:srgbClr val="000000"/>
                </a:solidFill>
                <a:latin typeface="Arial"/>
              </a:rPr>
              <a:t>hite</a:t>
            </a:r>
            <a:r>
              <a:rPr lang="en-GB" noProof="0" dirty="0">
                <a:solidFill>
                  <a:srgbClr val="000000"/>
                </a:solidFill>
                <a:latin typeface="Arial"/>
              </a:rPr>
              <a:t> noise structure</a:t>
            </a:r>
          </a:p>
          <a:p>
            <a:pPr marR="0" lvl="1"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lang="en-GB" dirty="0">
                <a:solidFill>
                  <a:srgbClr val="000000"/>
                </a:solidFill>
                <a:latin typeface="Arial"/>
              </a:rPr>
              <a:t>Some autocorrelation remains in Holt-Winters residuals</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p:txBody>
      </p:sp>
      <p:pic>
        <p:nvPicPr>
          <p:cNvPr id="5" name="Grafik 4">
            <a:extLst>
              <a:ext uri="{FF2B5EF4-FFF2-40B4-BE49-F238E27FC236}">
                <a16:creationId xmlns:a16="http://schemas.microsoft.com/office/drawing/2014/main" id="{3381B777-C5CA-3944-6170-1D77C135D435}"/>
              </a:ext>
            </a:extLst>
          </p:cNvPr>
          <p:cNvPicPr>
            <a:picLocks noChangeAspect="1"/>
          </p:cNvPicPr>
          <p:nvPr/>
        </p:nvPicPr>
        <p:blipFill>
          <a:blip r:embed="rId2"/>
          <a:stretch>
            <a:fillRect/>
          </a:stretch>
        </p:blipFill>
        <p:spPr>
          <a:xfrm>
            <a:off x="334017" y="1922585"/>
            <a:ext cx="9806410" cy="4381587"/>
          </a:xfrm>
          <a:prstGeom prst="rect">
            <a:avLst/>
          </a:prstGeom>
        </p:spPr>
      </p:pic>
    </p:spTree>
    <p:extLst>
      <p:ext uri="{BB962C8B-B14F-4D97-AF65-F5344CB8AC3E}">
        <p14:creationId xmlns:p14="http://schemas.microsoft.com/office/powerpoint/2010/main" val="776155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488F6-FE98-6C9E-58F8-78380877EF1D}"/>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117870B-DDEC-5049-7CAB-0CE86C0CE95C}"/>
              </a:ext>
            </a:extLst>
          </p:cNvPr>
          <p:cNvSpPr>
            <a:spLocks noGrp="1"/>
          </p:cNvSpPr>
          <p:nvPr>
            <p:ph type="title"/>
          </p:nvPr>
        </p:nvSpPr>
        <p:spPr/>
        <p:txBody>
          <a:bodyPr/>
          <a:lstStyle/>
          <a:p>
            <a:r>
              <a:rPr lang="en-GB" b="1" noProof="0" dirty="0"/>
              <a:t>Forecasting</a:t>
            </a:r>
            <a:r>
              <a:rPr lang="en-GB" noProof="0" dirty="0"/>
              <a:t> I First Approach</a:t>
            </a:r>
          </a:p>
        </p:txBody>
      </p:sp>
      <p:sp>
        <p:nvSpPr>
          <p:cNvPr id="4" name="Textplatzhalter 3">
            <a:extLst>
              <a:ext uri="{FF2B5EF4-FFF2-40B4-BE49-F238E27FC236}">
                <a16:creationId xmlns:a16="http://schemas.microsoft.com/office/drawing/2014/main" id="{782468AF-C232-D38D-DB02-098E839BB809}"/>
              </a:ext>
            </a:extLst>
          </p:cNvPr>
          <p:cNvSpPr>
            <a:spLocks noGrp="1"/>
          </p:cNvSpPr>
          <p:nvPr>
            <p:ph type="body" sz="quarter" idx="12"/>
          </p:nvPr>
        </p:nvSpPr>
        <p:spPr/>
        <p:txBody>
          <a:bodyPr/>
          <a:lstStyle/>
          <a:p>
            <a:r>
              <a:rPr lang="en-GB" noProof="0" dirty="0"/>
              <a:t>19</a:t>
            </a:r>
          </a:p>
        </p:txBody>
      </p:sp>
      <p:sp>
        <p:nvSpPr>
          <p:cNvPr id="9" name="Textplatzhalter 2">
            <a:extLst>
              <a:ext uri="{FF2B5EF4-FFF2-40B4-BE49-F238E27FC236}">
                <a16:creationId xmlns:a16="http://schemas.microsoft.com/office/drawing/2014/main" id="{85B6B261-7ED0-A380-2C95-B5715F27D249}"/>
              </a:ext>
            </a:extLst>
          </p:cNvPr>
          <p:cNvSpPr>
            <a:spLocks noGrp="1"/>
          </p:cNvSpPr>
          <p:nvPr>
            <p:ph type="body" sz="quarter" idx="11"/>
          </p:nvPr>
        </p:nvSpPr>
        <p:spPr>
          <a:xfrm>
            <a:off x="320041" y="818531"/>
            <a:ext cx="10243968" cy="5250405"/>
          </a:xfrm>
        </p:spPr>
        <p:txBody>
          <a:bodyPr/>
          <a:lstStyle/>
          <a:p>
            <a:r>
              <a:rPr lang="en-GB" noProof="0" dirty="0"/>
              <a:t>Checking Suitability: Random Walk</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kumimoji="0" lang="en-GB" sz="1600" i="0" u="none" strike="noStrike" kern="0" cap="none" spc="0" normalizeH="0" baseline="0" noProof="0" dirty="0">
                <a:ln>
                  <a:noFill/>
                </a:ln>
                <a:solidFill>
                  <a:srgbClr val="000000"/>
                </a:solidFill>
                <a:effectLst/>
                <a:uLnTx/>
                <a:uFillTx/>
                <a:latin typeface="Arial"/>
              </a:rPr>
              <a:t>Little autocorrelation in differenced series </a:t>
            </a:r>
          </a:p>
          <a:p>
            <a:pPr marR="0" lvl="1"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lang="en-GB" dirty="0">
                <a:solidFill>
                  <a:srgbClr val="000000"/>
                </a:solidFill>
                <a:latin typeface="Arial"/>
              </a:rPr>
              <a:t>Closer to white noise</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kumimoji="0" lang="en-GB" sz="1600" i="0" u="none" strike="noStrike" kern="0" cap="none" spc="0" normalizeH="0" baseline="0" noProof="0" dirty="0">
              <a:ln>
                <a:noFill/>
              </a:ln>
              <a:solidFill>
                <a:srgbClr val="000000"/>
              </a:solidFill>
              <a:effectLst/>
              <a:uLnTx/>
              <a:uFillTx/>
              <a:latin typeface="Arial"/>
            </a:endParaRPr>
          </a:p>
          <a:p>
            <a:pPr marL="85725" lvl="1" indent="0">
              <a:buNone/>
            </a:pPr>
            <a:endParaRPr lang="en-GB" noProof="0" dirty="0"/>
          </a:p>
        </p:txBody>
      </p:sp>
      <p:pic>
        <p:nvPicPr>
          <p:cNvPr id="5" name="Grafik 4">
            <a:extLst>
              <a:ext uri="{FF2B5EF4-FFF2-40B4-BE49-F238E27FC236}">
                <a16:creationId xmlns:a16="http://schemas.microsoft.com/office/drawing/2014/main" id="{0FEBAC58-A572-4385-FA88-35426C013F93}"/>
              </a:ext>
            </a:extLst>
          </p:cNvPr>
          <p:cNvPicPr>
            <a:picLocks noChangeAspect="1"/>
          </p:cNvPicPr>
          <p:nvPr/>
        </p:nvPicPr>
        <p:blipFill>
          <a:blip r:embed="rId3"/>
          <a:stretch>
            <a:fillRect/>
          </a:stretch>
        </p:blipFill>
        <p:spPr>
          <a:xfrm>
            <a:off x="636719" y="1771190"/>
            <a:ext cx="9539343" cy="4465223"/>
          </a:xfrm>
          <a:prstGeom prst="rect">
            <a:avLst/>
          </a:prstGeom>
        </p:spPr>
      </p:pic>
    </p:spTree>
    <p:extLst>
      <p:ext uri="{BB962C8B-B14F-4D97-AF65-F5344CB8AC3E}">
        <p14:creationId xmlns:p14="http://schemas.microsoft.com/office/powerpoint/2010/main" val="2664609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C4ECC-246E-BFFE-DDE9-D18D5E69F99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5724A31-B7D9-26AF-5AC6-46356CDE64CB}"/>
              </a:ext>
            </a:extLst>
          </p:cNvPr>
          <p:cNvSpPr>
            <a:spLocks noGrp="1"/>
          </p:cNvSpPr>
          <p:nvPr>
            <p:ph type="title"/>
          </p:nvPr>
        </p:nvSpPr>
        <p:spPr/>
        <p:txBody>
          <a:bodyPr/>
          <a:lstStyle/>
          <a:p>
            <a:r>
              <a:rPr lang="en-GB" b="1" noProof="0" dirty="0"/>
              <a:t>SARIMA</a:t>
            </a:r>
            <a:r>
              <a:rPr lang="en-GB" noProof="0" dirty="0"/>
              <a:t> I Forecast Plot</a:t>
            </a:r>
          </a:p>
        </p:txBody>
      </p:sp>
      <p:sp>
        <p:nvSpPr>
          <p:cNvPr id="4" name="Textplatzhalter 3">
            <a:extLst>
              <a:ext uri="{FF2B5EF4-FFF2-40B4-BE49-F238E27FC236}">
                <a16:creationId xmlns:a16="http://schemas.microsoft.com/office/drawing/2014/main" id="{5D8B836C-6117-6929-C783-C80E7499DBB2}"/>
              </a:ext>
            </a:extLst>
          </p:cNvPr>
          <p:cNvSpPr>
            <a:spLocks noGrp="1"/>
          </p:cNvSpPr>
          <p:nvPr>
            <p:ph type="body" sz="quarter" idx="12"/>
          </p:nvPr>
        </p:nvSpPr>
        <p:spPr/>
        <p:txBody>
          <a:bodyPr/>
          <a:lstStyle/>
          <a:p>
            <a:r>
              <a:rPr lang="en-GB" dirty="0"/>
              <a:t>21</a:t>
            </a:r>
            <a:endParaRPr lang="en-GB" noProof="0" dirty="0"/>
          </a:p>
        </p:txBody>
      </p:sp>
      <p:sp>
        <p:nvSpPr>
          <p:cNvPr id="9" name="Textplatzhalter 2">
            <a:extLst>
              <a:ext uri="{FF2B5EF4-FFF2-40B4-BE49-F238E27FC236}">
                <a16:creationId xmlns:a16="http://schemas.microsoft.com/office/drawing/2014/main" id="{2828615D-67B9-BF8F-AA31-C00C687D3433}"/>
              </a:ext>
            </a:extLst>
          </p:cNvPr>
          <p:cNvSpPr>
            <a:spLocks noGrp="1"/>
          </p:cNvSpPr>
          <p:nvPr>
            <p:ph type="body" sz="quarter" idx="11"/>
          </p:nvPr>
        </p:nvSpPr>
        <p:spPr>
          <a:xfrm>
            <a:off x="320041" y="818531"/>
            <a:ext cx="10243968" cy="5250405"/>
          </a:xfrm>
        </p:spPr>
        <p:txBody>
          <a:bodyPr/>
          <a:lstStyle/>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kumimoji="0" lang="en-GB" sz="1600" i="0" u="none" strike="noStrike" kern="0" cap="none" spc="0" normalizeH="0" baseline="0" noProof="0" dirty="0">
              <a:ln>
                <a:noFill/>
              </a:ln>
              <a:solidFill>
                <a:srgbClr val="000000"/>
              </a:solidFill>
              <a:effectLst/>
              <a:uLnTx/>
              <a:uFillTx/>
              <a:latin typeface="Arial"/>
            </a:endParaRPr>
          </a:p>
          <a:p>
            <a:pPr marL="85725" lvl="1" indent="0">
              <a:buNone/>
            </a:pPr>
            <a:endParaRPr lang="en-GB" noProof="0" dirty="0"/>
          </a:p>
        </p:txBody>
      </p:sp>
      <p:pic>
        <p:nvPicPr>
          <p:cNvPr id="3" name="Grafik 2">
            <a:extLst>
              <a:ext uri="{FF2B5EF4-FFF2-40B4-BE49-F238E27FC236}">
                <a16:creationId xmlns:a16="http://schemas.microsoft.com/office/drawing/2014/main" id="{B1B367F8-D424-599A-09BA-22110120F435}"/>
              </a:ext>
            </a:extLst>
          </p:cNvPr>
          <p:cNvPicPr>
            <a:picLocks noChangeAspect="1"/>
          </p:cNvPicPr>
          <p:nvPr/>
        </p:nvPicPr>
        <p:blipFill>
          <a:blip r:embed="rId2"/>
          <a:stretch>
            <a:fillRect/>
          </a:stretch>
        </p:blipFill>
        <p:spPr>
          <a:xfrm>
            <a:off x="320041" y="1374673"/>
            <a:ext cx="10335756" cy="4838013"/>
          </a:xfrm>
          <a:prstGeom prst="rect">
            <a:avLst/>
          </a:prstGeom>
        </p:spPr>
      </p:pic>
    </p:spTree>
    <p:extLst>
      <p:ext uri="{BB962C8B-B14F-4D97-AF65-F5344CB8AC3E}">
        <p14:creationId xmlns:p14="http://schemas.microsoft.com/office/powerpoint/2010/main" val="2265161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AF409-3B1F-97B2-B3EC-87870CA5FC7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F6A4DE1-6F6F-EFB4-4B27-A456022BEB45}"/>
              </a:ext>
            </a:extLst>
          </p:cNvPr>
          <p:cNvSpPr>
            <a:spLocks noGrp="1"/>
          </p:cNvSpPr>
          <p:nvPr>
            <p:ph type="title"/>
          </p:nvPr>
        </p:nvSpPr>
        <p:spPr/>
        <p:txBody>
          <a:bodyPr/>
          <a:lstStyle/>
          <a:p>
            <a:r>
              <a:rPr lang="en-GB" b="1" noProof="0" dirty="0"/>
              <a:t>SARIMA</a:t>
            </a:r>
            <a:r>
              <a:rPr lang="en-GB" noProof="0" dirty="0"/>
              <a:t> I </a:t>
            </a:r>
            <a:r>
              <a:rPr lang="en-GB" dirty="0"/>
              <a:t>SARIMA ACF Plots</a:t>
            </a:r>
            <a:endParaRPr lang="en-GB" noProof="0" dirty="0"/>
          </a:p>
        </p:txBody>
      </p:sp>
      <p:sp>
        <p:nvSpPr>
          <p:cNvPr id="4" name="Textplatzhalter 3">
            <a:extLst>
              <a:ext uri="{FF2B5EF4-FFF2-40B4-BE49-F238E27FC236}">
                <a16:creationId xmlns:a16="http://schemas.microsoft.com/office/drawing/2014/main" id="{D0B8FA9D-87B3-5790-C663-6C860199854C}"/>
              </a:ext>
            </a:extLst>
          </p:cNvPr>
          <p:cNvSpPr>
            <a:spLocks noGrp="1"/>
          </p:cNvSpPr>
          <p:nvPr>
            <p:ph type="body" sz="quarter" idx="12"/>
          </p:nvPr>
        </p:nvSpPr>
        <p:spPr/>
        <p:txBody>
          <a:bodyPr/>
          <a:lstStyle/>
          <a:p>
            <a:r>
              <a:rPr lang="en-GB" dirty="0"/>
              <a:t>22</a:t>
            </a:r>
            <a:endParaRPr lang="en-GB" noProof="0" dirty="0"/>
          </a:p>
        </p:txBody>
      </p:sp>
      <p:sp>
        <p:nvSpPr>
          <p:cNvPr id="9" name="Textplatzhalter 2">
            <a:extLst>
              <a:ext uri="{FF2B5EF4-FFF2-40B4-BE49-F238E27FC236}">
                <a16:creationId xmlns:a16="http://schemas.microsoft.com/office/drawing/2014/main" id="{286F93B8-FDA0-CB06-1018-8D1B5A80A9E9}"/>
              </a:ext>
            </a:extLst>
          </p:cNvPr>
          <p:cNvSpPr>
            <a:spLocks noGrp="1"/>
          </p:cNvSpPr>
          <p:nvPr>
            <p:ph type="body" sz="quarter" idx="11"/>
          </p:nvPr>
        </p:nvSpPr>
        <p:spPr>
          <a:xfrm>
            <a:off x="320040" y="986008"/>
            <a:ext cx="5608147" cy="5250405"/>
          </a:xfrm>
        </p:spPr>
        <p:txBody>
          <a:bodyPr/>
          <a:lstStyle/>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p:txBody>
      </p:sp>
      <p:pic>
        <p:nvPicPr>
          <p:cNvPr id="6" name="Grafik 5">
            <a:extLst>
              <a:ext uri="{FF2B5EF4-FFF2-40B4-BE49-F238E27FC236}">
                <a16:creationId xmlns:a16="http://schemas.microsoft.com/office/drawing/2014/main" id="{4D6D7683-49DD-AEB4-2CE2-052CE3BDE71F}"/>
              </a:ext>
            </a:extLst>
          </p:cNvPr>
          <p:cNvPicPr>
            <a:picLocks noChangeAspect="1"/>
          </p:cNvPicPr>
          <p:nvPr/>
        </p:nvPicPr>
        <p:blipFill>
          <a:blip r:embed="rId3"/>
          <a:stretch>
            <a:fillRect/>
          </a:stretch>
        </p:blipFill>
        <p:spPr>
          <a:xfrm>
            <a:off x="212762" y="842258"/>
            <a:ext cx="10438240" cy="4885984"/>
          </a:xfrm>
          <a:prstGeom prst="rect">
            <a:avLst/>
          </a:prstGeom>
        </p:spPr>
      </p:pic>
      <p:sp>
        <p:nvSpPr>
          <p:cNvPr id="11" name="Textplatzhalter 2">
            <a:extLst>
              <a:ext uri="{FF2B5EF4-FFF2-40B4-BE49-F238E27FC236}">
                <a16:creationId xmlns:a16="http://schemas.microsoft.com/office/drawing/2014/main" id="{A7BADA48-89B2-E4B8-FDA6-F08CB35B88F8}"/>
              </a:ext>
            </a:extLst>
          </p:cNvPr>
          <p:cNvSpPr txBox="1">
            <a:spLocks/>
          </p:cNvSpPr>
          <p:nvPr/>
        </p:nvSpPr>
        <p:spPr>
          <a:xfrm>
            <a:off x="320039" y="5630369"/>
            <a:ext cx="5166361" cy="703918"/>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lvl="1">
              <a:defRPr/>
            </a:pPr>
            <a:r>
              <a:rPr lang="de-DE" dirty="0" err="1"/>
              <a:t>No</a:t>
            </a:r>
            <a:r>
              <a:rPr lang="de-DE" dirty="0"/>
              <a:t> </a:t>
            </a:r>
            <a:r>
              <a:rPr lang="de-DE" dirty="0" err="1"/>
              <a:t>significant</a:t>
            </a:r>
            <a:r>
              <a:rPr lang="de-DE" dirty="0"/>
              <a:t> </a:t>
            </a:r>
            <a:r>
              <a:rPr lang="de-DE" dirty="0" err="1"/>
              <a:t>autocorrelation</a:t>
            </a:r>
            <a:r>
              <a:rPr lang="de-DE" dirty="0"/>
              <a:t> </a:t>
            </a:r>
            <a:r>
              <a:rPr lang="de-DE" dirty="0" err="1"/>
              <a:t>remains</a:t>
            </a:r>
            <a:r>
              <a:rPr lang="de-DE" dirty="0"/>
              <a:t> </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kumimoji="0" lang="en-GB" sz="1600" b="0" i="0" u="none" strike="noStrike" kern="0" cap="none" spc="0" normalizeH="0" baseline="0" noProof="0" dirty="0">
              <a:ln>
                <a:noFill/>
              </a:ln>
              <a:solidFill>
                <a:srgbClr val="000000"/>
              </a:solidFill>
              <a:effectLst/>
              <a:uLnTx/>
              <a:uFillTx/>
              <a:latin typeface="Arial"/>
              <a:ea typeface="+mn-ea"/>
              <a:cs typeface="+mn-cs"/>
            </a:endParaRPr>
          </a:p>
          <a:p>
            <a:pPr marL="85725" lvl="1" indent="0">
              <a:buFont typeface="Wingdings" panose="05000000000000000000" pitchFamily="2" charset="2"/>
              <a:buNone/>
              <a:defRPr/>
            </a:pPr>
            <a:endParaRPr lang="en-GB" kern="0" dirty="0">
              <a:solidFill>
                <a:srgbClr val="000000"/>
              </a:solidFill>
              <a:latin typeface="Arial"/>
            </a:endParaRPr>
          </a:p>
          <a:p>
            <a:pPr marL="85725" lvl="1" indent="0">
              <a:buFont typeface="Wingdings" panose="05000000000000000000" pitchFamily="2" charset="2"/>
              <a:buNone/>
              <a:defRPr/>
            </a:pPr>
            <a:endParaRPr lang="en-GB" kern="0" dirty="0">
              <a:solidFill>
                <a:srgbClr val="000000"/>
              </a:solidFill>
              <a:latin typeface="Arial"/>
            </a:endParaRPr>
          </a:p>
        </p:txBody>
      </p:sp>
      <p:sp>
        <p:nvSpPr>
          <p:cNvPr id="12" name="Textplatzhalter 2">
            <a:extLst>
              <a:ext uri="{FF2B5EF4-FFF2-40B4-BE49-F238E27FC236}">
                <a16:creationId xmlns:a16="http://schemas.microsoft.com/office/drawing/2014/main" id="{244CAEAB-DE8F-A528-FCF7-4E6ABCF14867}"/>
              </a:ext>
            </a:extLst>
          </p:cNvPr>
          <p:cNvSpPr txBox="1">
            <a:spLocks/>
          </p:cNvSpPr>
          <p:nvPr/>
        </p:nvSpPr>
        <p:spPr>
          <a:xfrm>
            <a:off x="5793283" y="5581431"/>
            <a:ext cx="4812751" cy="703919"/>
          </a:xfrm>
          <a:prstGeom prst="rect">
            <a:avLst/>
          </a:prstGeom>
        </p:spPr>
        <p:txBody>
          <a:bodyPr/>
          <a:lstStyle>
            <a:lvl1pPr marL="342900" indent="-342900" algn="l" rtl="0" fontAlgn="base">
              <a:spcBef>
                <a:spcPct val="30000"/>
              </a:spcBef>
              <a:spcAft>
                <a:spcPct val="0"/>
              </a:spcAft>
              <a:defRPr sz="1800" b="1">
                <a:solidFill>
                  <a:srgbClr val="038A5E"/>
                </a:solidFill>
                <a:latin typeface="+mn-lt"/>
                <a:ea typeface="+mn-ea"/>
                <a:cs typeface="+mn-cs"/>
              </a:defRPr>
            </a:lvl1pPr>
            <a:lvl2pPr marL="268288" indent="-182563" algn="l" rtl="0" fontAlgn="base">
              <a:spcBef>
                <a:spcPct val="30000"/>
              </a:spcBef>
              <a:spcAft>
                <a:spcPct val="0"/>
              </a:spcAft>
              <a:buClr>
                <a:srgbClr val="038A5E"/>
              </a:buClr>
              <a:buFont typeface="Wingdings" panose="05000000000000000000" pitchFamily="2" charset="2"/>
              <a:buChar char="§"/>
              <a:tabLst>
                <a:tab pos="182563" algn="l"/>
              </a:tabLst>
              <a:defRPr sz="1600">
                <a:solidFill>
                  <a:schemeClr val="tx1"/>
                </a:solidFill>
                <a:latin typeface="+mn-lt"/>
              </a:defRPr>
            </a:lvl2pPr>
            <a:lvl3pPr marL="538163" indent="-182563" algn="l" rtl="0" fontAlgn="base">
              <a:spcBef>
                <a:spcPct val="30000"/>
              </a:spcBef>
              <a:spcAft>
                <a:spcPct val="0"/>
              </a:spcAft>
              <a:buClr>
                <a:srgbClr val="038A5E"/>
              </a:buClr>
              <a:buFont typeface="Symbol" panose="05050102010706020507" pitchFamily="18" charset="2"/>
              <a:buChar char="-"/>
              <a:defRPr sz="1600">
                <a:solidFill>
                  <a:schemeClr val="tx1"/>
                </a:solidFill>
                <a:latin typeface="+mn-lt"/>
              </a:defRPr>
            </a:lvl3pPr>
            <a:lvl4pPr marL="892175" indent="-171450" algn="l" defTabSz="989013" rtl="0" fontAlgn="base">
              <a:spcBef>
                <a:spcPct val="30000"/>
              </a:spcBef>
              <a:spcAft>
                <a:spcPct val="0"/>
              </a:spcAft>
              <a:buClr>
                <a:srgbClr val="038A5E"/>
              </a:buClr>
              <a:buFont typeface="Courier New" panose="02070309020205020404" pitchFamily="49" charset="0"/>
              <a:buChar char="o"/>
              <a:defRPr sz="1600">
                <a:solidFill>
                  <a:schemeClr val="tx1"/>
                </a:solidFill>
                <a:latin typeface="+mn-lt"/>
              </a:defRPr>
            </a:lvl4pPr>
            <a:lvl5pPr marL="1258888" indent="-182563" algn="l" rtl="0" fontAlgn="base">
              <a:spcBef>
                <a:spcPct val="30000"/>
              </a:spcBef>
              <a:spcAft>
                <a:spcPct val="0"/>
              </a:spcAft>
              <a:buClr>
                <a:srgbClr val="038A5E"/>
              </a:buClr>
              <a:buFont typeface="Arial" panose="020B0604020202020204" pitchFamily="34" charset="0"/>
              <a:buChar char="•"/>
              <a:defRPr sz="1600">
                <a:solidFill>
                  <a:schemeClr val="tx1"/>
                </a:solidFill>
                <a:latin typeface="+mn-lt"/>
              </a:defRPr>
            </a:lvl5pPr>
            <a:lvl6pPr marL="19812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6pPr>
            <a:lvl7pPr marL="24384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7pPr>
            <a:lvl8pPr marL="28956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8pPr>
            <a:lvl9pPr marL="3352800" indent="-190500" algn="l" rtl="0" fontAlgn="base">
              <a:spcBef>
                <a:spcPct val="30000"/>
              </a:spcBef>
              <a:spcAft>
                <a:spcPct val="0"/>
              </a:spcAft>
              <a:buClr>
                <a:srgbClr val="009BD2"/>
              </a:buClr>
              <a:buFont typeface="Wingdings" pitchFamily="2" charset="2"/>
              <a:buChar char="Ø"/>
              <a:defRPr sz="1400">
                <a:solidFill>
                  <a:srgbClr val="404040"/>
                </a:solidFill>
                <a:latin typeface="+mn-lt"/>
              </a:defRPr>
            </a:lvl9pPr>
          </a:lstStyle>
          <a:p>
            <a:pPr lvl="1">
              <a:defRPr/>
            </a:pPr>
            <a:r>
              <a:rPr lang="en-GB" kern="0" dirty="0">
                <a:solidFill>
                  <a:srgbClr val="000000"/>
                </a:solidFill>
                <a:latin typeface="Arial"/>
              </a:rPr>
              <a:t>Significant autocorrelation at short lags</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kumimoji="0" lang="en-GB" sz="1600" b="0" i="0" u="none" strike="noStrike" kern="0" cap="none" spc="0" normalizeH="0" baseline="0" noProof="0" dirty="0">
                <a:ln>
                  <a:noFill/>
                </a:ln>
                <a:solidFill>
                  <a:srgbClr val="000000"/>
                </a:solidFill>
                <a:effectLst/>
                <a:uLnTx/>
                <a:uFillTx/>
                <a:latin typeface="Arial"/>
              </a:rPr>
              <a:t> Volatility clustering</a:t>
            </a:r>
          </a:p>
          <a:p>
            <a:pPr marL="85725" lvl="1" indent="0">
              <a:buNone/>
              <a:defRPr/>
            </a:pPr>
            <a:endParaRPr lang="en-GB" kern="0" dirty="0">
              <a:solidFill>
                <a:srgbClr val="000000"/>
              </a:solidFill>
              <a:latin typeface="Arial"/>
            </a:endParaRPr>
          </a:p>
          <a:p>
            <a:pPr marL="85725" lvl="1" indent="0">
              <a:buFont typeface="Wingdings" panose="05000000000000000000" pitchFamily="2" charset="2"/>
              <a:buNone/>
              <a:defRPr/>
            </a:pPr>
            <a:endParaRPr lang="en-GB" kern="0" dirty="0">
              <a:solidFill>
                <a:srgbClr val="000000"/>
              </a:solidFill>
              <a:latin typeface="Arial"/>
            </a:endParaRPr>
          </a:p>
          <a:p>
            <a:pPr marL="85725" lvl="1" indent="0">
              <a:buFont typeface="Wingdings" panose="05000000000000000000" pitchFamily="2" charset="2"/>
              <a:buNone/>
              <a:defRPr/>
            </a:pPr>
            <a:endParaRPr lang="en-GB" kern="0" dirty="0">
              <a:solidFill>
                <a:srgbClr val="000000"/>
              </a:solidFill>
              <a:latin typeface="Arial"/>
            </a:endParaRPr>
          </a:p>
          <a:p>
            <a:pPr marL="85725" lvl="1" indent="0">
              <a:buFont typeface="Wingdings" panose="05000000000000000000" pitchFamily="2" charset="2"/>
              <a:buNone/>
              <a:defRPr/>
            </a:pPr>
            <a:endParaRPr lang="en-GB" kern="0" dirty="0">
              <a:solidFill>
                <a:srgbClr val="000000"/>
              </a:solidFill>
              <a:latin typeface="Arial"/>
            </a:endParaRPr>
          </a:p>
        </p:txBody>
      </p:sp>
    </p:spTree>
    <p:extLst>
      <p:ext uri="{BB962C8B-B14F-4D97-AF65-F5344CB8AC3E}">
        <p14:creationId xmlns:p14="http://schemas.microsoft.com/office/powerpoint/2010/main" val="2903734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2744D-DA51-77C8-28CD-444F5A9FFA6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80A3FF1-273C-8878-89BE-D0D6186EB624}"/>
              </a:ext>
            </a:extLst>
          </p:cNvPr>
          <p:cNvSpPr>
            <a:spLocks noGrp="1"/>
          </p:cNvSpPr>
          <p:nvPr>
            <p:ph type="title"/>
          </p:nvPr>
        </p:nvSpPr>
        <p:spPr/>
        <p:txBody>
          <a:bodyPr/>
          <a:lstStyle/>
          <a:p>
            <a:r>
              <a:rPr lang="en-GB" b="1" dirty="0"/>
              <a:t>GARCH</a:t>
            </a:r>
            <a:r>
              <a:rPr lang="en-GB" noProof="0" dirty="0"/>
              <a:t> I Overview</a:t>
            </a:r>
          </a:p>
        </p:txBody>
      </p:sp>
      <p:sp>
        <p:nvSpPr>
          <p:cNvPr id="4" name="Textplatzhalter 3">
            <a:extLst>
              <a:ext uri="{FF2B5EF4-FFF2-40B4-BE49-F238E27FC236}">
                <a16:creationId xmlns:a16="http://schemas.microsoft.com/office/drawing/2014/main" id="{C3A8A14B-9C54-4AF3-9BBC-803C7F9C81BD}"/>
              </a:ext>
            </a:extLst>
          </p:cNvPr>
          <p:cNvSpPr>
            <a:spLocks noGrp="1"/>
          </p:cNvSpPr>
          <p:nvPr>
            <p:ph type="body" sz="quarter" idx="12"/>
          </p:nvPr>
        </p:nvSpPr>
        <p:spPr/>
        <p:txBody>
          <a:bodyPr/>
          <a:lstStyle/>
          <a:p>
            <a:r>
              <a:rPr lang="en-GB" noProof="0" dirty="0"/>
              <a:t>23</a:t>
            </a:r>
          </a:p>
        </p:txBody>
      </p:sp>
      <p:sp>
        <p:nvSpPr>
          <p:cNvPr id="3" name="Textplatzhalter 2">
            <a:extLst>
              <a:ext uri="{FF2B5EF4-FFF2-40B4-BE49-F238E27FC236}">
                <a16:creationId xmlns:a16="http://schemas.microsoft.com/office/drawing/2014/main" id="{5612951A-3034-91F5-9C6B-45079C5EE701}"/>
              </a:ext>
            </a:extLst>
          </p:cNvPr>
          <p:cNvSpPr>
            <a:spLocks noGrp="1"/>
          </p:cNvSpPr>
          <p:nvPr>
            <p:ph type="body" sz="quarter" idx="11"/>
          </p:nvPr>
        </p:nvSpPr>
        <p:spPr>
          <a:xfrm>
            <a:off x="320040" y="986008"/>
            <a:ext cx="6842759" cy="5250405"/>
          </a:xfrm>
        </p:spPr>
        <p:txBody>
          <a:bodyPr/>
          <a:lstStyle/>
          <a:p>
            <a:r>
              <a:rPr lang="en-GB" noProof="0" dirty="0"/>
              <a:t>GARCH Model</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noProof="0" dirty="0">
                <a:solidFill>
                  <a:srgbClr val="000000"/>
                </a:solidFill>
                <a:latin typeface="Arial"/>
              </a:rPr>
              <a:t>Fitting GARCH on residuals of SARIMA</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endParaRPr lang="en-GB"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b="1" dirty="0">
                <a:solidFill>
                  <a:srgbClr val="000000"/>
                </a:solidFill>
                <a:latin typeface="Arial"/>
              </a:rPr>
              <a:t>a1</a:t>
            </a:r>
            <a:r>
              <a:rPr lang="en-GB" dirty="0">
                <a:solidFill>
                  <a:srgbClr val="000000"/>
                </a:solidFill>
                <a:latin typeface="Arial"/>
              </a:rPr>
              <a:t> significant </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kumimoji="0" lang="en-GB" sz="1600" b="0" i="0" u="none" strike="noStrike" kern="0" cap="none" spc="0" normalizeH="0" baseline="0" noProof="0" dirty="0">
                <a:ln>
                  <a:noFill/>
                </a:ln>
                <a:solidFill>
                  <a:srgbClr val="000000"/>
                </a:solidFill>
                <a:effectLst/>
                <a:uLnTx/>
                <a:uFillTx/>
                <a:latin typeface="Arial"/>
              </a:rPr>
              <a:t> Volatility clustering </a:t>
            </a: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dirty="0">
              <a:solidFill>
                <a:srgbClr val="000000"/>
              </a:solidFill>
              <a:latin typeface="Arial"/>
            </a:endParaRP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anose="05000000000000000000" pitchFamily="2" charset="2"/>
              <a:buChar char="§"/>
              <a:tabLst>
                <a:tab pos="182563" algn="l"/>
              </a:tabLst>
              <a:defRPr/>
            </a:pPr>
            <a:r>
              <a:rPr lang="en-GB" b="1" dirty="0">
                <a:solidFill>
                  <a:srgbClr val="000000"/>
                </a:solidFill>
                <a:latin typeface="Arial"/>
              </a:rPr>
              <a:t>b</a:t>
            </a:r>
            <a:r>
              <a:rPr lang="en-GB" b="1" noProof="0" dirty="0">
                <a:solidFill>
                  <a:srgbClr val="000000"/>
                </a:solidFill>
                <a:latin typeface="Arial"/>
              </a:rPr>
              <a:t>1</a:t>
            </a:r>
            <a:r>
              <a:rPr lang="en-GB" noProof="0" dirty="0">
                <a:solidFill>
                  <a:srgbClr val="000000"/>
                </a:solidFill>
                <a:latin typeface="Arial"/>
              </a:rPr>
              <a:t> confidence interval crosses zero</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lang="en-GB" noProof="0" dirty="0">
                <a:solidFill>
                  <a:srgbClr val="000000"/>
                </a:solidFill>
                <a:latin typeface="Arial"/>
              </a:rPr>
              <a:t> </a:t>
            </a:r>
            <a:r>
              <a:rPr lang="en-GB" dirty="0">
                <a:solidFill>
                  <a:srgbClr val="000000"/>
                </a:solidFill>
                <a:latin typeface="Arial"/>
              </a:rPr>
              <a:t>No evidence of persistent volatility shocks</a:t>
            </a:r>
            <a:endParaRPr kumimoji="0" lang="en-GB" sz="1600" b="0" i="0" u="none" strike="noStrike" kern="0" cap="none" spc="0" normalizeH="0" baseline="0" noProof="0" dirty="0">
              <a:ln>
                <a:noFill/>
              </a:ln>
              <a:solidFill>
                <a:srgbClr val="000000"/>
              </a:solidFill>
              <a:effectLst/>
              <a:uLnTx/>
              <a:uFillTx/>
              <a:latin typeface="Arial"/>
            </a:endParaRPr>
          </a:p>
          <a:p>
            <a:pPr marL="85725" marR="0" lvl="1" indent="0" algn="l" defTabSz="914400" rtl="0" eaLnBrk="1" fontAlgn="base" latinLnBrk="0" hangingPunct="1">
              <a:lnSpc>
                <a:spcPct val="100000"/>
              </a:lnSpc>
              <a:spcBef>
                <a:spcPct val="30000"/>
              </a:spcBef>
              <a:spcAft>
                <a:spcPct val="0"/>
              </a:spcAft>
              <a:buClr>
                <a:srgbClr val="038A5E"/>
              </a:buClr>
              <a:buSzTx/>
              <a:buNone/>
              <a:tabLst>
                <a:tab pos="182563" algn="l"/>
              </a:tabLst>
              <a:defRPr/>
            </a:pPr>
            <a:endParaRPr lang="en-GB" noProof="0" dirty="0">
              <a:solidFill>
                <a:srgbClr val="000000"/>
              </a:solidFill>
              <a:latin typeface="Arial"/>
            </a:endParaRPr>
          </a:p>
          <a:p>
            <a:pPr lvl="1">
              <a:defRPr/>
            </a:pPr>
            <a:r>
              <a:rPr lang="de-DE" dirty="0" err="1"/>
              <a:t>Volatility</a:t>
            </a:r>
            <a:r>
              <a:rPr lang="de-DE" dirty="0"/>
              <a:t> </a:t>
            </a:r>
            <a:r>
              <a:rPr lang="de-DE" dirty="0" err="1"/>
              <a:t>reacts</a:t>
            </a:r>
            <a:r>
              <a:rPr lang="de-DE" dirty="0"/>
              <a:t> </a:t>
            </a:r>
            <a:r>
              <a:rPr lang="de-DE" dirty="0" err="1"/>
              <a:t>strongly</a:t>
            </a:r>
            <a:r>
              <a:rPr lang="de-DE" dirty="0"/>
              <a:t> </a:t>
            </a:r>
            <a:r>
              <a:rPr lang="de-DE" dirty="0" err="1"/>
              <a:t>to</a:t>
            </a:r>
            <a:r>
              <a:rPr lang="de-DE" dirty="0"/>
              <a:t> </a:t>
            </a:r>
            <a:r>
              <a:rPr lang="de-DE" dirty="0" err="1"/>
              <a:t>shocks</a:t>
            </a:r>
            <a:r>
              <a:rPr lang="de-DE" dirty="0"/>
              <a:t> but </a:t>
            </a:r>
            <a:r>
              <a:rPr lang="de-DE" dirty="0" err="1"/>
              <a:t>does</a:t>
            </a:r>
            <a:r>
              <a:rPr lang="de-DE" dirty="0"/>
              <a:t> not </a:t>
            </a:r>
            <a:r>
              <a:rPr lang="de-DE" dirty="0" err="1"/>
              <a:t>persist</a:t>
            </a:r>
            <a:endParaRPr lang="de-DE" dirty="0"/>
          </a:p>
          <a:p>
            <a:pPr lvl="1">
              <a:defRPr/>
            </a:pPr>
            <a:endParaRPr lang="de-DE" noProof="0" dirty="0">
              <a:solidFill>
                <a:srgbClr val="000000"/>
              </a:solidFill>
              <a:latin typeface="Arial"/>
            </a:endParaRPr>
          </a:p>
          <a:p>
            <a:pPr lvl="1">
              <a:defRPr/>
            </a:pPr>
            <a:r>
              <a:rPr lang="de-DE" dirty="0">
                <a:solidFill>
                  <a:srgbClr val="000000"/>
                </a:solidFill>
                <a:latin typeface="Arial"/>
              </a:rPr>
              <a:t>Short </a:t>
            </a:r>
            <a:r>
              <a:rPr lang="de-DE" dirty="0" err="1">
                <a:solidFill>
                  <a:srgbClr val="000000"/>
                </a:solidFill>
                <a:latin typeface="Arial"/>
              </a:rPr>
              <a:t>volatility</a:t>
            </a:r>
            <a:r>
              <a:rPr lang="de-DE" dirty="0">
                <a:solidFill>
                  <a:srgbClr val="000000"/>
                </a:solidFill>
                <a:latin typeface="Arial"/>
              </a:rPr>
              <a:t> </a:t>
            </a:r>
            <a:r>
              <a:rPr lang="de-DE" dirty="0" err="1">
                <a:solidFill>
                  <a:srgbClr val="000000"/>
                </a:solidFill>
                <a:latin typeface="Arial"/>
              </a:rPr>
              <a:t>spikes</a:t>
            </a:r>
            <a:r>
              <a:rPr lang="de-DE" dirty="0">
                <a:solidFill>
                  <a:srgbClr val="000000"/>
                </a:solidFill>
                <a:latin typeface="Arial"/>
              </a:rPr>
              <a:t> </a:t>
            </a:r>
            <a:r>
              <a:rPr lang="de-DE" dirty="0" err="1">
                <a:solidFill>
                  <a:srgbClr val="000000"/>
                </a:solidFill>
                <a:latin typeface="Arial"/>
              </a:rPr>
              <a:t>as</a:t>
            </a:r>
            <a:r>
              <a:rPr lang="de-DE" dirty="0">
                <a:solidFill>
                  <a:srgbClr val="000000"/>
                </a:solidFill>
                <a:latin typeface="Arial"/>
              </a:rPr>
              <a:t> a </a:t>
            </a:r>
            <a:r>
              <a:rPr lang="de-DE" dirty="0" err="1">
                <a:solidFill>
                  <a:srgbClr val="000000"/>
                </a:solidFill>
                <a:latin typeface="Arial"/>
              </a:rPr>
              <a:t>result</a:t>
            </a:r>
            <a:r>
              <a:rPr lang="de-DE" dirty="0">
                <a:solidFill>
                  <a:srgbClr val="000000"/>
                </a:solidFill>
                <a:latin typeface="Arial"/>
              </a:rPr>
              <a:t> </a:t>
            </a:r>
            <a:r>
              <a:rPr lang="de-DE" dirty="0" err="1">
                <a:solidFill>
                  <a:srgbClr val="000000"/>
                </a:solidFill>
                <a:latin typeface="Arial"/>
              </a:rPr>
              <a:t>of</a:t>
            </a:r>
            <a:r>
              <a:rPr lang="de-DE" dirty="0">
                <a:solidFill>
                  <a:srgbClr val="000000"/>
                </a:solidFill>
                <a:latin typeface="Arial"/>
              </a:rPr>
              <a:t> </a:t>
            </a:r>
            <a:r>
              <a:rPr lang="de-DE" dirty="0" err="1">
                <a:solidFill>
                  <a:srgbClr val="000000"/>
                </a:solidFill>
                <a:latin typeface="Arial"/>
              </a:rPr>
              <a:t>energy</a:t>
            </a:r>
            <a:r>
              <a:rPr lang="de-DE" dirty="0">
                <a:solidFill>
                  <a:srgbClr val="000000"/>
                </a:solidFill>
                <a:latin typeface="Arial"/>
              </a:rPr>
              <a:t> </a:t>
            </a:r>
            <a:r>
              <a:rPr lang="de-DE" dirty="0" err="1">
                <a:solidFill>
                  <a:srgbClr val="000000"/>
                </a:solidFill>
                <a:latin typeface="Arial"/>
              </a:rPr>
              <a:t>crisis</a:t>
            </a:r>
            <a:r>
              <a:rPr lang="de-DE" dirty="0">
                <a:solidFill>
                  <a:srgbClr val="000000"/>
                </a:solidFill>
                <a:latin typeface="Arial"/>
              </a:rPr>
              <a:t> </a:t>
            </a:r>
            <a:r>
              <a:rPr lang="de-DE" dirty="0" err="1">
                <a:solidFill>
                  <a:srgbClr val="000000"/>
                </a:solidFill>
                <a:latin typeface="Arial"/>
              </a:rPr>
              <a:t>instead</a:t>
            </a:r>
            <a:r>
              <a:rPr lang="de-DE" dirty="0">
                <a:solidFill>
                  <a:srgbClr val="000000"/>
                </a:solidFill>
                <a:latin typeface="Arial"/>
              </a:rPr>
              <a:t> </a:t>
            </a:r>
            <a:r>
              <a:rPr lang="de-DE" dirty="0" err="1">
                <a:solidFill>
                  <a:srgbClr val="000000"/>
                </a:solidFill>
                <a:latin typeface="Arial"/>
              </a:rPr>
              <a:t>of</a:t>
            </a:r>
            <a:r>
              <a:rPr lang="de-DE" dirty="0">
                <a:solidFill>
                  <a:srgbClr val="000000"/>
                </a:solidFill>
                <a:latin typeface="Arial"/>
              </a:rPr>
              <a:t> </a:t>
            </a:r>
            <a:r>
              <a:rPr lang="de-DE" dirty="0" err="1">
                <a:solidFill>
                  <a:srgbClr val="000000"/>
                </a:solidFill>
                <a:latin typeface="Arial"/>
              </a:rPr>
              <a:t>lasting</a:t>
            </a:r>
            <a:r>
              <a:rPr lang="de-DE" dirty="0">
                <a:solidFill>
                  <a:srgbClr val="000000"/>
                </a:solidFill>
                <a:latin typeface="Arial"/>
              </a:rPr>
              <a:t> „high-</a:t>
            </a:r>
            <a:r>
              <a:rPr lang="de-DE" dirty="0" err="1">
                <a:solidFill>
                  <a:srgbClr val="000000"/>
                </a:solidFill>
                <a:latin typeface="Arial"/>
              </a:rPr>
              <a:t>volatility</a:t>
            </a:r>
            <a:r>
              <a:rPr lang="de-DE" dirty="0">
                <a:solidFill>
                  <a:srgbClr val="000000"/>
                </a:solidFill>
                <a:latin typeface="Arial"/>
              </a:rPr>
              <a:t> </a:t>
            </a:r>
            <a:r>
              <a:rPr lang="de-DE" dirty="0" err="1">
                <a:solidFill>
                  <a:srgbClr val="000000"/>
                </a:solidFill>
                <a:latin typeface="Arial"/>
              </a:rPr>
              <a:t>regime</a:t>
            </a:r>
            <a:r>
              <a:rPr lang="de-DE" dirty="0">
                <a:solidFill>
                  <a:srgbClr val="000000"/>
                </a:solidFill>
                <a:latin typeface="Arial"/>
              </a:rPr>
              <a:t>“</a:t>
            </a:r>
            <a:endParaRPr lang="en-GB" noProof="0" dirty="0">
              <a:solidFill>
                <a:srgbClr val="000000"/>
              </a:solidFill>
              <a:latin typeface="Arial"/>
            </a:endParaRPr>
          </a:p>
        </p:txBody>
      </p:sp>
      <p:sp>
        <p:nvSpPr>
          <p:cNvPr id="5" name="Textfeld 4">
            <a:extLst>
              <a:ext uri="{FF2B5EF4-FFF2-40B4-BE49-F238E27FC236}">
                <a16:creationId xmlns:a16="http://schemas.microsoft.com/office/drawing/2014/main" id="{56D41EE4-2DE7-841C-1D60-1A17E1F14AF3}"/>
              </a:ext>
            </a:extLst>
          </p:cNvPr>
          <p:cNvSpPr txBox="1"/>
          <p:nvPr/>
        </p:nvSpPr>
        <p:spPr>
          <a:xfrm>
            <a:off x="6910385" y="2100977"/>
            <a:ext cx="2668482" cy="1328023"/>
          </a:xfrm>
          <a:prstGeom prst="roundRect">
            <a:avLst/>
          </a:prstGeom>
          <a:solidFill>
            <a:srgbClr val="038A5E">
              <a:alpha val="25000"/>
            </a:srgbClr>
          </a:solidFill>
          <a:ln>
            <a:solidFill>
              <a:srgbClr val="038A5E"/>
            </a:solidFill>
          </a:ln>
        </p:spPr>
        <p:txBody>
          <a:bodyPr wrap="square">
            <a:spAutoFit/>
          </a:bodyPr>
          <a:lstStyle/>
          <a:p>
            <a:r>
              <a:rPr lang="en-GB" dirty="0"/>
              <a:t>&gt; </a:t>
            </a:r>
            <a:r>
              <a:rPr lang="en-GB" dirty="0" err="1"/>
              <a:t>confint</a:t>
            </a:r>
            <a:r>
              <a:rPr lang="en-GB" dirty="0"/>
              <a:t>(</a:t>
            </a:r>
            <a:r>
              <a:rPr lang="en-GB" dirty="0" err="1"/>
              <a:t>weekly.garch</a:t>
            </a:r>
            <a:r>
              <a:rPr lang="en-GB" dirty="0"/>
              <a:t>)</a:t>
            </a:r>
          </a:p>
          <a:p>
            <a:endParaRPr lang="en-GB" dirty="0"/>
          </a:p>
          <a:p>
            <a:r>
              <a:rPr lang="en-GB" dirty="0"/>
              <a:t>         2.5 %                 97.5 %</a:t>
            </a:r>
          </a:p>
          <a:p>
            <a:r>
              <a:rPr lang="en-GB" dirty="0"/>
              <a:t>a0  0.01296059      0.04727727</a:t>
            </a:r>
          </a:p>
          <a:p>
            <a:r>
              <a:rPr lang="en-GB" b="1" dirty="0"/>
              <a:t>a1</a:t>
            </a:r>
            <a:r>
              <a:rPr lang="en-GB" dirty="0"/>
              <a:t>  0.22812916      0.44726687</a:t>
            </a:r>
          </a:p>
          <a:p>
            <a:r>
              <a:rPr lang="en-GB" b="1" dirty="0"/>
              <a:t>b1</a:t>
            </a:r>
            <a:r>
              <a:rPr lang="en-GB" dirty="0"/>
              <a:t> -0.08192586      0.52336389</a:t>
            </a:r>
            <a:endParaRPr lang="en-GB" b="1" dirty="0"/>
          </a:p>
        </p:txBody>
      </p:sp>
    </p:spTree>
    <p:extLst>
      <p:ext uri="{BB962C8B-B14F-4D97-AF65-F5344CB8AC3E}">
        <p14:creationId xmlns:p14="http://schemas.microsoft.com/office/powerpoint/2010/main" val="1953980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b="1" dirty="0"/>
              <a:t>GARCH</a:t>
            </a:r>
            <a:r>
              <a:rPr lang="en-GB" noProof="0" dirty="0"/>
              <a:t> I ACF Residual Plot</a:t>
            </a:r>
          </a:p>
        </p:txBody>
      </p:sp>
      <p:sp>
        <p:nvSpPr>
          <p:cNvPr id="4" name="Textplatzhalter 3"/>
          <p:cNvSpPr>
            <a:spLocks noGrp="1"/>
          </p:cNvSpPr>
          <p:nvPr>
            <p:ph type="body" sz="quarter" idx="12"/>
          </p:nvPr>
        </p:nvSpPr>
        <p:spPr/>
        <p:txBody>
          <a:bodyPr/>
          <a:lstStyle/>
          <a:p>
            <a:r>
              <a:rPr lang="en-GB" noProof="0" dirty="0"/>
              <a:t>24</a:t>
            </a:r>
          </a:p>
        </p:txBody>
      </p:sp>
      <p:pic>
        <p:nvPicPr>
          <p:cNvPr id="7" name="Grafik 6">
            <a:extLst>
              <a:ext uri="{FF2B5EF4-FFF2-40B4-BE49-F238E27FC236}">
                <a16:creationId xmlns:a16="http://schemas.microsoft.com/office/drawing/2014/main" id="{90A1BEC9-8152-64A6-D31D-C637A5C10B66}"/>
              </a:ext>
            </a:extLst>
          </p:cNvPr>
          <p:cNvPicPr>
            <a:picLocks noChangeAspect="1"/>
          </p:cNvPicPr>
          <p:nvPr/>
        </p:nvPicPr>
        <p:blipFill>
          <a:blip r:embed="rId3"/>
          <a:stretch>
            <a:fillRect/>
          </a:stretch>
        </p:blipFill>
        <p:spPr>
          <a:xfrm>
            <a:off x="271389" y="987932"/>
            <a:ext cx="10430021" cy="4882136"/>
          </a:xfrm>
          <a:prstGeom prst="rect">
            <a:avLst/>
          </a:prstGeom>
        </p:spPr>
      </p:pic>
    </p:spTree>
    <p:extLst>
      <p:ext uri="{BB962C8B-B14F-4D97-AF65-F5344CB8AC3E}">
        <p14:creationId xmlns:p14="http://schemas.microsoft.com/office/powerpoint/2010/main" val="29148825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BB365-BA4D-D904-CDC6-9A5D905179D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03495B8-91E1-F42F-778B-72091F5C7D1B}"/>
              </a:ext>
            </a:extLst>
          </p:cNvPr>
          <p:cNvSpPr>
            <a:spLocks noGrp="1"/>
          </p:cNvSpPr>
          <p:nvPr>
            <p:ph type="title"/>
          </p:nvPr>
        </p:nvSpPr>
        <p:spPr/>
        <p:txBody>
          <a:bodyPr/>
          <a:lstStyle/>
          <a:p>
            <a:r>
              <a:rPr lang="en-GB" b="1" noProof="0" dirty="0"/>
              <a:t>Limitations</a:t>
            </a:r>
            <a:r>
              <a:rPr lang="en-GB" noProof="0" dirty="0"/>
              <a:t> I Final Considerations</a:t>
            </a:r>
          </a:p>
        </p:txBody>
      </p:sp>
      <p:sp>
        <p:nvSpPr>
          <p:cNvPr id="3" name="Textplatzhalter 2">
            <a:extLst>
              <a:ext uri="{FF2B5EF4-FFF2-40B4-BE49-F238E27FC236}">
                <a16:creationId xmlns:a16="http://schemas.microsoft.com/office/drawing/2014/main" id="{4A510B01-FC04-01E6-6FEE-3554963236E5}"/>
              </a:ext>
            </a:extLst>
          </p:cNvPr>
          <p:cNvSpPr>
            <a:spLocks noGrp="1"/>
          </p:cNvSpPr>
          <p:nvPr>
            <p:ph type="body" sz="quarter" idx="11"/>
          </p:nvPr>
        </p:nvSpPr>
        <p:spPr>
          <a:xfrm>
            <a:off x="320041" y="976596"/>
            <a:ext cx="10330961" cy="5279742"/>
          </a:xfrm>
        </p:spPr>
        <p:txBody>
          <a:bodyPr/>
          <a:lstStyle/>
          <a:p>
            <a:pPr algn="just"/>
            <a:r>
              <a:rPr lang="en-GB" noProof="0" dirty="0"/>
              <a:t>Limitations</a:t>
            </a:r>
          </a:p>
          <a:p>
            <a:pPr lvl="1">
              <a:defRPr/>
            </a:pPr>
            <a:endParaRPr lang="en-GB" dirty="0">
              <a:solidFill>
                <a:srgbClr val="000000"/>
              </a:solidFill>
            </a:endParaRPr>
          </a:p>
          <a:p>
            <a:pPr lvl="1">
              <a:defRPr/>
            </a:pPr>
            <a:r>
              <a:rPr lang="en-GB" dirty="0">
                <a:solidFill>
                  <a:srgbClr val="000000"/>
                </a:solidFill>
              </a:rPr>
              <a:t>Series limited to 379 observations</a:t>
            </a:r>
          </a:p>
          <a:p>
            <a:pPr marL="268288" marR="0" lvl="1" indent="-182563" algn="l" defTabSz="914400" rtl="0" eaLnBrk="1" fontAlgn="base" latinLnBrk="0" hangingPunct="1">
              <a:lnSpc>
                <a:spcPct val="100000"/>
              </a:lnSpc>
              <a:spcBef>
                <a:spcPct val="30000"/>
              </a:spcBef>
              <a:spcAft>
                <a:spcPct val="0"/>
              </a:spcAft>
              <a:buClr>
                <a:srgbClr val="038A5E"/>
              </a:buClr>
              <a:buSzTx/>
              <a:buFont typeface="Wingdings" pitchFamily="2" charset="2"/>
              <a:buChar char="è"/>
              <a:tabLst>
                <a:tab pos="182563" algn="l"/>
              </a:tabLst>
              <a:defRPr/>
            </a:pPr>
            <a:r>
              <a:rPr kumimoji="0" lang="en-GB" sz="1600" b="0" i="0" u="none" strike="noStrike" kern="0" cap="none" spc="0" normalizeH="0" baseline="0" noProof="0" dirty="0">
                <a:ln>
                  <a:noFill/>
                </a:ln>
                <a:solidFill>
                  <a:srgbClr val="000000"/>
                </a:solidFill>
                <a:effectLst/>
                <a:uLnTx/>
                <a:uFillTx/>
                <a:latin typeface="Arial"/>
              </a:rPr>
              <a:t>No current data of price and volatility spike</a:t>
            </a:r>
          </a:p>
          <a:p>
            <a:pPr marL="85725" lvl="1" indent="0">
              <a:buNone/>
              <a:defRPr/>
            </a:pPr>
            <a:endParaRPr lang="en-GB" dirty="0">
              <a:solidFill>
                <a:srgbClr val="000000"/>
              </a:solidFill>
            </a:endParaRPr>
          </a:p>
          <a:p>
            <a:pPr lvl="1">
              <a:defRPr/>
            </a:pPr>
            <a:r>
              <a:rPr lang="en-GB" dirty="0">
                <a:solidFill>
                  <a:srgbClr val="000000"/>
                </a:solidFill>
              </a:rPr>
              <a:t>Choice of forecast training window</a:t>
            </a:r>
          </a:p>
          <a:p>
            <a:pPr lvl="1">
              <a:buFont typeface="Wingdings" pitchFamily="2" charset="2"/>
              <a:buChar char="è"/>
              <a:defRPr/>
            </a:pPr>
            <a:r>
              <a:rPr lang="en-GB" dirty="0">
                <a:solidFill>
                  <a:srgbClr val="000000"/>
                </a:solidFill>
              </a:rPr>
              <a:t>Forecast testing window has effect on accuracy and results of the forecast</a:t>
            </a:r>
          </a:p>
          <a:p>
            <a:pPr marL="85725" lvl="1" indent="0">
              <a:buNone/>
              <a:defRPr/>
            </a:pPr>
            <a:endParaRPr lang="en-GB" dirty="0">
              <a:solidFill>
                <a:srgbClr val="000000"/>
              </a:solidFill>
            </a:endParaRPr>
          </a:p>
          <a:p>
            <a:pPr lvl="1">
              <a:defRPr/>
            </a:pPr>
            <a:r>
              <a:rPr lang="en-GB" dirty="0">
                <a:solidFill>
                  <a:srgbClr val="000000"/>
                </a:solidFill>
              </a:rPr>
              <a:t>Annual volatility spikes remain</a:t>
            </a:r>
          </a:p>
          <a:p>
            <a:pPr lvl="1">
              <a:buFont typeface="Wingdings" pitchFamily="2" charset="2"/>
              <a:buChar char="è"/>
              <a:defRPr/>
            </a:pPr>
            <a:r>
              <a:rPr lang="en-GB" dirty="0">
                <a:solidFill>
                  <a:srgbClr val="000000"/>
                </a:solidFill>
              </a:rPr>
              <a:t>Long Memory Processes from Book, Chapter 8</a:t>
            </a:r>
          </a:p>
          <a:p>
            <a:pPr marL="85725" lvl="1" indent="0" algn="just">
              <a:buNone/>
            </a:pPr>
            <a:endParaRPr lang="en-GB" i="1" noProof="0" dirty="0"/>
          </a:p>
          <a:p>
            <a:pPr lvl="1" algn="just"/>
            <a:r>
              <a:rPr lang="en-GB" dirty="0"/>
              <a:t>Continuous seasonal autocorrelation at lag = 52 </a:t>
            </a:r>
          </a:p>
          <a:p>
            <a:pPr lvl="1">
              <a:buFont typeface="Wingdings" pitchFamily="2" charset="2"/>
              <a:buChar char="è"/>
              <a:defRPr/>
            </a:pPr>
            <a:r>
              <a:rPr lang="en-GB" dirty="0"/>
              <a:t>ACF of Squared GARCH residuals</a:t>
            </a:r>
            <a:endParaRPr lang="en-GB" dirty="0">
              <a:solidFill>
                <a:srgbClr val="000000"/>
              </a:solidFill>
            </a:endParaRPr>
          </a:p>
          <a:p>
            <a:pPr lvl="1">
              <a:buFont typeface="Wingdings" pitchFamily="2" charset="2"/>
              <a:buChar char="è"/>
              <a:defRPr/>
            </a:pPr>
            <a:r>
              <a:rPr lang="en-GB" dirty="0">
                <a:solidFill>
                  <a:srgbClr val="000000"/>
                </a:solidFill>
              </a:rPr>
              <a:t>Add Seasonal GARCH or P-GARCH</a:t>
            </a:r>
          </a:p>
          <a:p>
            <a:pPr marL="85725" lvl="1" indent="0">
              <a:buNone/>
              <a:defRPr/>
            </a:pPr>
            <a:endParaRPr lang="en-GB" noProof="0" dirty="0"/>
          </a:p>
        </p:txBody>
      </p:sp>
      <p:sp>
        <p:nvSpPr>
          <p:cNvPr id="4" name="Textplatzhalter 3">
            <a:extLst>
              <a:ext uri="{FF2B5EF4-FFF2-40B4-BE49-F238E27FC236}">
                <a16:creationId xmlns:a16="http://schemas.microsoft.com/office/drawing/2014/main" id="{E5DBB601-240B-C154-C00E-BFF334328F40}"/>
              </a:ext>
            </a:extLst>
          </p:cNvPr>
          <p:cNvSpPr>
            <a:spLocks noGrp="1"/>
          </p:cNvSpPr>
          <p:nvPr>
            <p:ph type="body" sz="quarter" idx="12"/>
          </p:nvPr>
        </p:nvSpPr>
        <p:spPr/>
        <p:txBody>
          <a:bodyPr/>
          <a:lstStyle/>
          <a:p>
            <a:r>
              <a:rPr lang="en-GB" noProof="0" dirty="0"/>
              <a:t>25</a:t>
            </a:r>
          </a:p>
        </p:txBody>
      </p:sp>
    </p:spTree>
    <p:extLst>
      <p:ext uri="{BB962C8B-B14F-4D97-AF65-F5344CB8AC3E}">
        <p14:creationId xmlns:p14="http://schemas.microsoft.com/office/powerpoint/2010/main" val="44200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4FA8C-31F8-37DD-96DA-DF4A1FEDCE5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4EFBAA6-F1E7-4EC3-FEAC-F30F4925F408}"/>
              </a:ext>
            </a:extLst>
          </p:cNvPr>
          <p:cNvSpPr>
            <a:spLocks noGrp="1"/>
          </p:cNvSpPr>
          <p:nvPr>
            <p:ph type="title"/>
          </p:nvPr>
        </p:nvSpPr>
        <p:spPr/>
        <p:txBody>
          <a:bodyPr/>
          <a:lstStyle/>
          <a:p>
            <a:r>
              <a:rPr lang="en-GB" b="1" noProof="0" dirty="0"/>
              <a:t>Outlook</a:t>
            </a:r>
            <a:r>
              <a:rPr lang="en-GB" noProof="0" dirty="0"/>
              <a:t> I Final Considerations</a:t>
            </a:r>
          </a:p>
        </p:txBody>
      </p:sp>
      <p:sp>
        <p:nvSpPr>
          <p:cNvPr id="3" name="Textplatzhalter 2">
            <a:extLst>
              <a:ext uri="{FF2B5EF4-FFF2-40B4-BE49-F238E27FC236}">
                <a16:creationId xmlns:a16="http://schemas.microsoft.com/office/drawing/2014/main" id="{EB12A081-D3F2-5A04-D465-AF4E009B9F25}"/>
              </a:ext>
            </a:extLst>
          </p:cNvPr>
          <p:cNvSpPr>
            <a:spLocks noGrp="1"/>
          </p:cNvSpPr>
          <p:nvPr>
            <p:ph type="body" sz="quarter" idx="11"/>
          </p:nvPr>
        </p:nvSpPr>
        <p:spPr>
          <a:xfrm>
            <a:off x="320041" y="976596"/>
            <a:ext cx="10225247" cy="5279742"/>
          </a:xfrm>
        </p:spPr>
        <p:txBody>
          <a:bodyPr/>
          <a:lstStyle/>
          <a:p>
            <a:pPr algn="just"/>
            <a:r>
              <a:rPr lang="en-GB" noProof="0" dirty="0"/>
              <a:t>Next Steps</a:t>
            </a:r>
          </a:p>
          <a:p>
            <a:pPr lvl="1" algn="just"/>
            <a:r>
              <a:rPr lang="en-GB" noProof="0" dirty="0"/>
              <a:t>Compare with countries with higher renewable share and different primary energy consumption mix</a:t>
            </a:r>
          </a:p>
        </p:txBody>
      </p:sp>
      <p:sp>
        <p:nvSpPr>
          <p:cNvPr id="4" name="Textplatzhalter 3">
            <a:extLst>
              <a:ext uri="{FF2B5EF4-FFF2-40B4-BE49-F238E27FC236}">
                <a16:creationId xmlns:a16="http://schemas.microsoft.com/office/drawing/2014/main" id="{67D6C368-65EA-E04D-B28E-ADB048D75465}"/>
              </a:ext>
            </a:extLst>
          </p:cNvPr>
          <p:cNvSpPr>
            <a:spLocks noGrp="1"/>
          </p:cNvSpPr>
          <p:nvPr>
            <p:ph type="body" sz="quarter" idx="12"/>
          </p:nvPr>
        </p:nvSpPr>
        <p:spPr/>
        <p:txBody>
          <a:bodyPr/>
          <a:lstStyle/>
          <a:p>
            <a:r>
              <a:rPr lang="en-GB" dirty="0"/>
              <a:t>26</a:t>
            </a:r>
            <a:endParaRPr lang="en-GB" noProof="0" dirty="0"/>
          </a:p>
        </p:txBody>
      </p:sp>
      <p:sp>
        <p:nvSpPr>
          <p:cNvPr id="5" name="Textfeld 4">
            <a:extLst>
              <a:ext uri="{FF2B5EF4-FFF2-40B4-BE49-F238E27FC236}">
                <a16:creationId xmlns:a16="http://schemas.microsoft.com/office/drawing/2014/main" id="{8F9E5E20-49EB-E25C-B459-A40A13FC25D8}"/>
              </a:ext>
            </a:extLst>
          </p:cNvPr>
          <p:cNvSpPr txBox="1"/>
          <p:nvPr/>
        </p:nvSpPr>
        <p:spPr>
          <a:xfrm>
            <a:off x="320041" y="2207782"/>
            <a:ext cx="3874422" cy="2826306"/>
          </a:xfrm>
          <a:prstGeom prst="roundRect">
            <a:avLst/>
          </a:prstGeom>
          <a:solidFill>
            <a:srgbClr val="038A5E">
              <a:alpha val="25000"/>
            </a:srgbClr>
          </a:solidFill>
          <a:ln>
            <a:solidFill>
              <a:srgbClr val="038A5E"/>
            </a:solidFill>
          </a:ln>
        </p:spPr>
        <p:txBody>
          <a:bodyPr wrap="square">
            <a:spAutoFit/>
          </a:bodyPr>
          <a:lstStyle/>
          <a:p>
            <a:pPr algn="ctr"/>
            <a:r>
              <a:rPr lang="en-GB" sz="1600" b="1" noProof="0" dirty="0"/>
              <a:t>Norway</a:t>
            </a:r>
          </a:p>
          <a:p>
            <a:pPr algn="ctr"/>
            <a:endParaRPr lang="en-GB" sz="1600" b="1" dirty="0"/>
          </a:p>
          <a:p>
            <a:pPr marL="285750" indent="-285750">
              <a:buFont typeface="Wingdings" pitchFamily="2" charset="2"/>
              <a:buChar char="§"/>
            </a:pPr>
            <a:r>
              <a:rPr lang="en-GB" sz="1600" dirty="0"/>
              <a:t>Largest share of hydropower generation</a:t>
            </a:r>
          </a:p>
          <a:p>
            <a:pPr marL="285750" indent="-285750">
              <a:buFont typeface="Wingdings" pitchFamily="2" charset="2"/>
              <a:buChar char="§"/>
            </a:pPr>
            <a:endParaRPr lang="en-GB" sz="1600" dirty="0"/>
          </a:p>
          <a:p>
            <a:pPr marL="285750" indent="-285750">
              <a:buFont typeface="Wingdings" pitchFamily="2" charset="2"/>
              <a:buChar char="§"/>
            </a:pPr>
            <a:r>
              <a:rPr lang="en-GB" sz="1600" dirty="0"/>
              <a:t>42.8% Hydropower generation</a:t>
            </a:r>
          </a:p>
          <a:p>
            <a:pPr marL="285750" indent="-285750">
              <a:buFont typeface="Wingdings" pitchFamily="2" charset="2"/>
              <a:buChar char="§"/>
            </a:pPr>
            <a:endParaRPr lang="en-GB" sz="1600" dirty="0"/>
          </a:p>
          <a:p>
            <a:pPr marL="285750" indent="-285750">
              <a:buFont typeface="Wingdings" pitchFamily="2" charset="2"/>
              <a:buChar char="§"/>
            </a:pPr>
            <a:r>
              <a:rPr lang="en-GB" sz="1600" dirty="0"/>
              <a:t>Different seasonal component structure due to energy consumption patterns</a:t>
            </a:r>
          </a:p>
        </p:txBody>
      </p:sp>
      <p:pic>
        <p:nvPicPr>
          <p:cNvPr id="11" name="Grafik 10">
            <a:extLst>
              <a:ext uri="{FF2B5EF4-FFF2-40B4-BE49-F238E27FC236}">
                <a16:creationId xmlns:a16="http://schemas.microsoft.com/office/drawing/2014/main" id="{FC922A50-2427-C9C1-8CD9-BD4563600F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21435" y="2207782"/>
            <a:ext cx="6199510" cy="3099755"/>
          </a:xfrm>
          <a:prstGeom prst="rect">
            <a:avLst/>
          </a:prstGeom>
        </p:spPr>
      </p:pic>
      <p:sp>
        <p:nvSpPr>
          <p:cNvPr id="12" name="Textfeld 11">
            <a:extLst>
              <a:ext uri="{FF2B5EF4-FFF2-40B4-BE49-F238E27FC236}">
                <a16:creationId xmlns:a16="http://schemas.microsoft.com/office/drawing/2014/main" id="{D016972D-29C7-4BC6-EDD5-5716D6B14EC0}"/>
              </a:ext>
            </a:extLst>
          </p:cNvPr>
          <p:cNvSpPr txBox="1"/>
          <p:nvPr/>
        </p:nvSpPr>
        <p:spPr>
          <a:xfrm>
            <a:off x="309155" y="5506833"/>
            <a:ext cx="10311790" cy="374571"/>
          </a:xfrm>
          <a:prstGeom prst="roundRect">
            <a:avLst/>
          </a:prstGeom>
          <a:solidFill>
            <a:srgbClr val="038A5E">
              <a:alpha val="25000"/>
            </a:srgbClr>
          </a:solidFill>
          <a:ln>
            <a:solidFill>
              <a:srgbClr val="038A5E"/>
            </a:solidFill>
          </a:ln>
        </p:spPr>
        <p:txBody>
          <a:bodyPr wrap="square">
            <a:spAutoFit/>
          </a:bodyPr>
          <a:lstStyle/>
          <a:p>
            <a:pPr algn="ctr"/>
            <a:r>
              <a:rPr lang="en-GB" sz="1600" b="1" dirty="0"/>
              <a:t>Do other kinds of primary energy supplies create more precise forecasts by limiting price fluctuations?</a:t>
            </a:r>
          </a:p>
        </p:txBody>
      </p:sp>
      <p:sp>
        <p:nvSpPr>
          <p:cNvPr id="13" name="Textfeld 12">
            <a:extLst>
              <a:ext uri="{FF2B5EF4-FFF2-40B4-BE49-F238E27FC236}">
                <a16:creationId xmlns:a16="http://schemas.microsoft.com/office/drawing/2014/main" id="{4F2C19BB-B696-5E8D-1219-28ADA78AAC5E}"/>
              </a:ext>
            </a:extLst>
          </p:cNvPr>
          <p:cNvSpPr txBox="1"/>
          <p:nvPr/>
        </p:nvSpPr>
        <p:spPr>
          <a:xfrm>
            <a:off x="222266" y="6164719"/>
            <a:ext cx="5253250" cy="338554"/>
          </a:xfrm>
          <a:prstGeom prst="rect">
            <a:avLst/>
          </a:prstGeom>
          <a:noFill/>
        </p:spPr>
        <p:txBody>
          <a:bodyPr wrap="square" rtlCol="0">
            <a:spAutoFit/>
          </a:bodyPr>
          <a:lstStyle/>
          <a:p>
            <a:r>
              <a:rPr lang="en-GB" baseline="30000" noProof="0" dirty="0"/>
              <a:t>Graph: International Energy Agency. Norway: Energy Mix. </a:t>
            </a:r>
            <a:r>
              <a:rPr lang="en-GB" baseline="30000" noProof="0" dirty="0">
                <a:hlinkClick r:id="rId4"/>
              </a:rPr>
              <a:t>https://www.iea.org/countries/norway/</a:t>
            </a:r>
            <a:r>
              <a:rPr lang="en-GB" baseline="30000" dirty="0">
                <a:hlinkClick r:id="rId4"/>
              </a:rPr>
              <a:t>energy-mix</a:t>
            </a:r>
            <a:r>
              <a:rPr lang="en-GB" baseline="30000" dirty="0"/>
              <a:t>, accessed July 9, 2026. </a:t>
            </a:r>
            <a:endParaRPr lang="en-GB" baseline="30000" noProof="0" dirty="0"/>
          </a:p>
        </p:txBody>
      </p:sp>
      <p:cxnSp>
        <p:nvCxnSpPr>
          <p:cNvPr id="14" name="Gerade Verbindung 13">
            <a:extLst>
              <a:ext uri="{FF2B5EF4-FFF2-40B4-BE49-F238E27FC236}">
                <a16:creationId xmlns:a16="http://schemas.microsoft.com/office/drawing/2014/main" id="{80A8A544-6C52-8D31-1789-5A27AD0E39A9}"/>
              </a:ext>
            </a:extLst>
          </p:cNvPr>
          <p:cNvCxnSpPr>
            <a:cxnSpLocks/>
          </p:cNvCxnSpPr>
          <p:nvPr/>
        </p:nvCxnSpPr>
        <p:spPr bwMode="auto">
          <a:xfrm>
            <a:off x="309156" y="6109272"/>
            <a:ext cx="5166359" cy="0"/>
          </a:xfrm>
          <a:prstGeom prst="line">
            <a:avLst/>
          </a:prstGeom>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3888927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AF4F-7EC1-7BC9-30A0-935644783D2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05D3578-CFDF-4BE9-1245-71ADD6730714}"/>
              </a:ext>
            </a:extLst>
          </p:cNvPr>
          <p:cNvSpPr>
            <a:spLocks noGrp="1"/>
          </p:cNvSpPr>
          <p:nvPr>
            <p:ph type="title"/>
          </p:nvPr>
        </p:nvSpPr>
        <p:spPr/>
        <p:txBody>
          <a:bodyPr/>
          <a:lstStyle/>
          <a:p>
            <a:r>
              <a:rPr lang="en-GB" noProof="0" dirty="0"/>
              <a:t>Sources</a:t>
            </a:r>
          </a:p>
        </p:txBody>
      </p:sp>
      <p:sp>
        <p:nvSpPr>
          <p:cNvPr id="3" name="Textplatzhalter 2">
            <a:extLst>
              <a:ext uri="{FF2B5EF4-FFF2-40B4-BE49-F238E27FC236}">
                <a16:creationId xmlns:a16="http://schemas.microsoft.com/office/drawing/2014/main" id="{8E064A4A-ABCF-F2F2-7934-7D65D80E145E}"/>
              </a:ext>
            </a:extLst>
          </p:cNvPr>
          <p:cNvSpPr>
            <a:spLocks noGrp="1"/>
          </p:cNvSpPr>
          <p:nvPr>
            <p:ph type="body" sz="quarter" idx="11"/>
          </p:nvPr>
        </p:nvSpPr>
        <p:spPr>
          <a:xfrm>
            <a:off x="320040" y="861179"/>
            <a:ext cx="10207283" cy="5279742"/>
          </a:xfrm>
        </p:spPr>
        <p:txBody>
          <a:bodyPr/>
          <a:lstStyle/>
          <a:p>
            <a:pPr algn="just"/>
            <a:endParaRPr lang="en-GB" noProof="0" dirty="0">
              <a:solidFill>
                <a:schemeClr val="tx1"/>
              </a:solidFill>
            </a:endParaRPr>
          </a:p>
          <a:p>
            <a:pPr marL="342900" marR="0" lvl="0" indent="-342900" algn="just" defTabSz="914400" rtl="0" eaLnBrk="1" fontAlgn="base" latinLnBrk="0" hangingPunct="1">
              <a:lnSpc>
                <a:spcPct val="100000"/>
              </a:lnSpc>
              <a:spcBef>
                <a:spcPct val="30000"/>
              </a:spcBef>
              <a:spcAft>
                <a:spcPct val="0"/>
              </a:spcAft>
              <a:buClrTx/>
              <a:buSzTx/>
              <a:buFontTx/>
              <a:buNone/>
              <a:tabLst/>
              <a:defRPr/>
            </a:pPr>
            <a:r>
              <a:rPr kumimoji="0" lang="en-GB" sz="1200" b="0" i="0" u="none" strike="noStrike" kern="0" cap="none" spc="0" normalizeH="0" baseline="0" noProof="0" dirty="0" err="1">
                <a:ln>
                  <a:noFill/>
                </a:ln>
                <a:solidFill>
                  <a:schemeClr val="tx1"/>
                </a:solidFill>
                <a:effectLst/>
                <a:uLnTx/>
                <a:uFillTx/>
                <a:latin typeface="Arial"/>
                <a:ea typeface="+mn-ea"/>
                <a:cs typeface="+mn-cs"/>
              </a:rPr>
              <a:t>Bundesnetzagentur</a:t>
            </a:r>
            <a:r>
              <a:rPr kumimoji="0" lang="en-GB" sz="1200" b="0" i="0" u="none" strike="noStrike" kern="0" cap="none" spc="0" normalizeH="0" baseline="0" noProof="0" dirty="0">
                <a:ln>
                  <a:noFill/>
                </a:ln>
                <a:solidFill>
                  <a:schemeClr val="tx1"/>
                </a:solidFill>
                <a:effectLst/>
                <a:uLnTx/>
                <a:uFillTx/>
                <a:latin typeface="Arial"/>
                <a:ea typeface="+mn-ea"/>
                <a:cs typeface="+mn-cs"/>
              </a:rPr>
              <a:t>. SMARD: Electricity and gas market data. </a:t>
            </a:r>
            <a:r>
              <a:rPr kumimoji="0" lang="en-GB" sz="1200" b="0" i="0" u="none" strike="noStrike" kern="0" cap="none" spc="0" normalizeH="0" baseline="0" noProof="0" dirty="0">
                <a:ln>
                  <a:noFill/>
                </a:ln>
                <a:solidFill>
                  <a:schemeClr val="tx1"/>
                </a:solidFill>
                <a:effectLst/>
                <a:uLnTx/>
                <a:uFillTx/>
                <a:latin typeface="Arial"/>
                <a:ea typeface="+mn-ea"/>
                <a:cs typeface="+mn-cs"/>
                <a:hlinkClick r:id="rId3">
                  <a:extLst>
                    <a:ext uri="{A12FA001-AC4F-418D-AE19-62706E023703}">
                      <ahyp:hlinkClr xmlns:ahyp="http://schemas.microsoft.com/office/drawing/2018/hyperlinkcolor" val="tx"/>
                    </a:ext>
                  </a:extLst>
                </a:hlinkClick>
              </a:rPr>
              <a:t>https://www.smard.de/home</a:t>
            </a:r>
            <a:r>
              <a:rPr kumimoji="0" lang="en-GB" sz="1200" b="0" i="0" u="none" strike="noStrike" kern="0" cap="none" spc="0" normalizeH="0" baseline="0" noProof="0" dirty="0">
                <a:ln>
                  <a:noFill/>
                </a:ln>
                <a:solidFill>
                  <a:schemeClr val="tx1"/>
                </a:solidFill>
                <a:effectLst/>
                <a:uLnTx/>
                <a:uFillTx/>
                <a:latin typeface="Arial"/>
                <a:ea typeface="+mn-ea"/>
                <a:cs typeface="+mn-cs"/>
              </a:rPr>
              <a:t>, accessed June 23</a:t>
            </a:r>
            <a:r>
              <a:rPr kumimoji="0" lang="en-GB" sz="1200" b="0" i="0" u="none" strike="noStrike" kern="0" cap="none" spc="0" normalizeH="0" baseline="30000" noProof="0" dirty="0">
                <a:ln>
                  <a:noFill/>
                </a:ln>
                <a:solidFill>
                  <a:schemeClr val="tx1"/>
                </a:solidFill>
                <a:effectLst/>
                <a:uLnTx/>
                <a:uFillTx/>
                <a:latin typeface="Arial"/>
                <a:ea typeface="+mn-ea"/>
                <a:cs typeface="+mn-cs"/>
              </a:rPr>
              <a:t>rd</a:t>
            </a:r>
            <a:r>
              <a:rPr kumimoji="0" lang="en-GB" sz="1200" b="0" i="0" u="none" strike="noStrike" kern="0" cap="none" spc="0" normalizeH="0" baseline="0" noProof="0" dirty="0">
                <a:ln>
                  <a:noFill/>
                </a:ln>
                <a:solidFill>
                  <a:schemeClr val="tx1"/>
                </a:solidFill>
                <a:effectLst/>
                <a:uLnTx/>
                <a:uFillTx/>
                <a:latin typeface="Arial"/>
                <a:ea typeface="+mn-ea"/>
                <a:cs typeface="+mn-cs"/>
              </a:rPr>
              <a:t>,2026.</a:t>
            </a:r>
          </a:p>
          <a:p>
            <a:pPr marL="342900" marR="0" lvl="0" indent="-342900" algn="just" defTabSz="914400" rtl="0" eaLnBrk="1" fontAlgn="base" latinLnBrk="0" hangingPunct="1">
              <a:lnSpc>
                <a:spcPct val="100000"/>
              </a:lnSpc>
              <a:spcBef>
                <a:spcPct val="30000"/>
              </a:spcBef>
              <a:spcAft>
                <a:spcPct val="0"/>
              </a:spcAft>
              <a:buClrTx/>
              <a:buSzTx/>
              <a:buFontTx/>
              <a:buNone/>
              <a:tabLst/>
              <a:defRPr/>
            </a:pPr>
            <a:endParaRPr lang="en-GB" sz="1200" i="1" noProof="0" dirty="0">
              <a:solidFill>
                <a:schemeClr val="tx1"/>
              </a:solidFill>
            </a:endParaRPr>
          </a:p>
          <a:p>
            <a:pPr algn="just"/>
            <a:r>
              <a:rPr lang="en-GB" sz="1200" b="0" noProof="0" dirty="0">
                <a:solidFill>
                  <a:schemeClr val="tx1"/>
                </a:solidFill>
              </a:rPr>
              <a:t>Eddy, M., &amp; Alderman, L. (2022). "How Europeans Are Responding to Exorbitant Gas and Power Bills." The New York Times. </a:t>
            </a:r>
            <a:r>
              <a:rPr lang="en-GB" sz="1200" b="0" noProof="0" dirty="0">
                <a:solidFill>
                  <a:schemeClr val="tx1"/>
                </a:solidFill>
                <a:hlinkClick r:id="rId4">
                  <a:extLst>
                    <a:ext uri="{A12FA001-AC4F-418D-AE19-62706E023703}">
                      <ahyp:hlinkClr xmlns:ahyp="http://schemas.microsoft.com/office/drawing/2018/hyperlinkcolor" val="tx"/>
                    </a:ext>
                  </a:extLst>
                </a:hlinkClick>
              </a:rPr>
              <a:t>https://www.nytimes.com/2022/02/21/business/europe-power-gas-bill.html?eafs_enabled=false</a:t>
            </a:r>
            <a:r>
              <a:rPr lang="en-GB" sz="1200" b="0" noProof="0" dirty="0">
                <a:solidFill>
                  <a:schemeClr val="tx1"/>
                </a:solidFill>
              </a:rPr>
              <a:t>, accessed June 28</a:t>
            </a:r>
            <a:r>
              <a:rPr lang="en-GB" sz="1200" b="0" baseline="30000" noProof="0" dirty="0">
                <a:solidFill>
                  <a:schemeClr val="tx1"/>
                </a:solidFill>
              </a:rPr>
              <a:t>th</a:t>
            </a:r>
            <a:r>
              <a:rPr lang="en-GB" sz="1200" b="0" noProof="0" dirty="0">
                <a:solidFill>
                  <a:schemeClr val="tx1"/>
                </a:solidFill>
              </a:rPr>
              <a:t>, 2026. </a:t>
            </a:r>
          </a:p>
          <a:p>
            <a:pPr algn="just"/>
            <a:endParaRPr lang="en-GB" sz="1200" b="0" noProof="0" dirty="0">
              <a:solidFill>
                <a:schemeClr val="tx1"/>
              </a:solidFill>
            </a:endParaRPr>
          </a:p>
          <a:p>
            <a:pPr algn="just"/>
            <a:r>
              <a:rPr lang="en-GB" sz="1200" b="0" noProof="0" dirty="0" err="1">
                <a:solidFill>
                  <a:schemeClr val="tx1"/>
                </a:solidFill>
              </a:rPr>
              <a:t>Oltermann</a:t>
            </a:r>
            <a:r>
              <a:rPr lang="en-GB" sz="1200" b="0" noProof="0" dirty="0">
                <a:solidFill>
                  <a:schemeClr val="tx1"/>
                </a:solidFill>
              </a:rPr>
              <a:t>, P. (2022, July 19). Germany worries about gas rationing as supply from Russia halted. The Guardian. </a:t>
            </a:r>
            <a:r>
              <a:rPr lang="en-GB" sz="1200" b="0" noProof="0" dirty="0">
                <a:solidFill>
                  <a:schemeClr val="tx1"/>
                </a:solidFill>
                <a:hlinkClick r:id="rId5">
                  <a:extLst>
                    <a:ext uri="{A12FA001-AC4F-418D-AE19-62706E023703}">
                      <ahyp:hlinkClr xmlns:ahyp="http://schemas.microsoft.com/office/drawing/2018/hyperlinkcolor" val="tx"/>
                    </a:ext>
                  </a:extLst>
                </a:hlinkClick>
              </a:rPr>
              <a:t>https://www.theguardian.com/world/2022/jul/19/germany-worries-about-gas-rationing-as-supply-from-russia-halted</a:t>
            </a:r>
            <a:r>
              <a:rPr lang="en-GB" sz="1200" b="0" noProof="0" dirty="0">
                <a:solidFill>
                  <a:schemeClr val="tx1"/>
                </a:solidFill>
              </a:rPr>
              <a:t>, accessed June 28</a:t>
            </a:r>
            <a:r>
              <a:rPr lang="en-GB" sz="1200" b="0" baseline="30000" noProof="0" dirty="0">
                <a:solidFill>
                  <a:schemeClr val="tx1"/>
                </a:solidFill>
              </a:rPr>
              <a:t>th</a:t>
            </a:r>
            <a:r>
              <a:rPr lang="en-GB" sz="1200" b="0" noProof="0" dirty="0">
                <a:solidFill>
                  <a:schemeClr val="tx1"/>
                </a:solidFill>
              </a:rPr>
              <a:t>, 2026.</a:t>
            </a:r>
          </a:p>
          <a:p>
            <a:pPr algn="just"/>
            <a:endParaRPr lang="en-GB" sz="1200" b="0" noProof="0" dirty="0">
              <a:solidFill>
                <a:schemeClr val="tx1"/>
              </a:solidFill>
            </a:endParaRPr>
          </a:p>
          <a:p>
            <a:pPr algn="just"/>
            <a:r>
              <a:rPr lang="en-GB" sz="1200" b="0" noProof="0" dirty="0" err="1">
                <a:solidFill>
                  <a:schemeClr val="tx1"/>
                </a:solidFill>
              </a:rPr>
              <a:t>Statistisches</a:t>
            </a:r>
            <a:r>
              <a:rPr lang="en-GB" sz="1200" b="0" noProof="0" dirty="0">
                <a:solidFill>
                  <a:schemeClr val="tx1"/>
                </a:solidFill>
              </a:rPr>
              <a:t> </a:t>
            </a:r>
            <a:r>
              <a:rPr lang="en-GB" sz="1200" b="0" noProof="0" dirty="0" err="1">
                <a:solidFill>
                  <a:schemeClr val="tx1"/>
                </a:solidFill>
              </a:rPr>
              <a:t>Bundesamt</a:t>
            </a:r>
            <a:r>
              <a:rPr lang="en-GB" sz="1200" b="0" noProof="0" dirty="0">
                <a:solidFill>
                  <a:schemeClr val="tx1"/>
                </a:solidFill>
              </a:rPr>
              <a:t>. (2023, September 27). </a:t>
            </a:r>
            <a:r>
              <a:rPr lang="en-GB" sz="1200" b="0" noProof="0" dirty="0" err="1">
                <a:solidFill>
                  <a:schemeClr val="tx1"/>
                </a:solidFill>
              </a:rPr>
              <a:t>Stromverbrauch</a:t>
            </a:r>
            <a:r>
              <a:rPr lang="en-GB" sz="1200" b="0" noProof="0" dirty="0">
                <a:solidFill>
                  <a:schemeClr val="tx1"/>
                </a:solidFill>
              </a:rPr>
              <a:t> der </a:t>
            </a:r>
            <a:r>
              <a:rPr lang="en-GB" sz="1200" b="0" noProof="0" dirty="0" err="1">
                <a:solidFill>
                  <a:schemeClr val="tx1"/>
                </a:solidFill>
              </a:rPr>
              <a:t>privaten</a:t>
            </a:r>
            <a:r>
              <a:rPr lang="en-GB" sz="1200" b="0" noProof="0" dirty="0">
                <a:solidFill>
                  <a:schemeClr val="tx1"/>
                </a:solidFill>
              </a:rPr>
              <a:t> </a:t>
            </a:r>
            <a:r>
              <a:rPr lang="en-GB" sz="1200" b="0" noProof="0" dirty="0" err="1">
                <a:solidFill>
                  <a:schemeClr val="tx1"/>
                </a:solidFill>
              </a:rPr>
              <a:t>Haushalte</a:t>
            </a:r>
            <a:r>
              <a:rPr lang="en-GB" sz="1200" b="0" noProof="0" dirty="0">
                <a:solidFill>
                  <a:schemeClr val="tx1"/>
                </a:solidFill>
              </a:rPr>
              <a:t> </a:t>
            </a:r>
            <a:r>
              <a:rPr lang="en-GB" sz="1200" b="0" noProof="0" dirty="0" err="1">
                <a:solidFill>
                  <a:schemeClr val="tx1"/>
                </a:solidFill>
              </a:rPr>
              <a:t>nach</a:t>
            </a:r>
            <a:r>
              <a:rPr lang="en-GB" sz="1200" b="0" noProof="0" dirty="0">
                <a:solidFill>
                  <a:schemeClr val="tx1"/>
                </a:solidFill>
              </a:rPr>
              <a:t> </a:t>
            </a:r>
            <a:r>
              <a:rPr lang="en-GB" sz="1200" b="0" noProof="0" dirty="0" err="1">
                <a:solidFill>
                  <a:schemeClr val="tx1"/>
                </a:solidFill>
              </a:rPr>
              <a:t>Haushaltsgrößenklassen</a:t>
            </a:r>
            <a:r>
              <a:rPr lang="en-GB" sz="1200" b="0" noProof="0" dirty="0">
                <a:solidFill>
                  <a:schemeClr val="tx1"/>
                </a:solidFill>
              </a:rPr>
              <a:t>. </a:t>
            </a:r>
            <a:r>
              <a:rPr lang="en-GB" sz="1200" b="0" noProof="0" dirty="0">
                <a:solidFill>
                  <a:schemeClr val="tx1"/>
                </a:solidFill>
                <a:hlinkClick r:id="rId6">
                  <a:extLst>
                    <a:ext uri="{A12FA001-AC4F-418D-AE19-62706E023703}">
                      <ahyp:hlinkClr xmlns:ahyp="http://schemas.microsoft.com/office/drawing/2018/hyperlinkcolor" val="tx"/>
                    </a:ext>
                  </a:extLst>
                </a:hlinkClick>
              </a:rPr>
              <a:t>https://www.destatis.de/DE/Themen/Gesellschaft-Umwelt/Umwelt/UGR/private-haushalte/Tabellen/stromverbrauch-haushalte.html</a:t>
            </a:r>
            <a:endParaRPr lang="en-GB" sz="1200" b="0" noProof="0" dirty="0">
              <a:solidFill>
                <a:schemeClr val="tx1"/>
              </a:solidFill>
            </a:endParaRPr>
          </a:p>
          <a:p>
            <a:pPr algn="just"/>
            <a:endParaRPr lang="en-GB" sz="1200" b="0" noProof="0" dirty="0">
              <a:solidFill>
                <a:schemeClr val="tx1"/>
              </a:solidFill>
            </a:endParaRPr>
          </a:p>
          <a:p>
            <a:pPr algn="just"/>
            <a:r>
              <a:rPr lang="en-GB" sz="1200" b="0" noProof="0" dirty="0">
                <a:solidFill>
                  <a:schemeClr val="tx1"/>
                </a:solidFill>
              </a:rPr>
              <a:t>International Energy Agency. Norway: Energy Mix. </a:t>
            </a:r>
            <a:r>
              <a:rPr lang="en-GB" sz="1200" b="0" noProof="0" dirty="0">
                <a:solidFill>
                  <a:schemeClr val="tx1"/>
                </a:solidFill>
                <a:hlinkClick r:id="rId7">
                  <a:extLst>
                    <a:ext uri="{A12FA001-AC4F-418D-AE19-62706E023703}">
                      <ahyp:hlinkClr xmlns:ahyp="http://schemas.microsoft.com/office/drawing/2018/hyperlinkcolor" val="tx"/>
                    </a:ext>
                  </a:extLst>
                </a:hlinkClick>
              </a:rPr>
              <a:t>https://www.iea.org/countries/norway/energy-mix</a:t>
            </a:r>
            <a:r>
              <a:rPr lang="en-GB" sz="1200" b="0" noProof="0" dirty="0">
                <a:solidFill>
                  <a:schemeClr val="tx1"/>
                </a:solidFill>
              </a:rPr>
              <a:t>, accessed July 9</a:t>
            </a:r>
            <a:r>
              <a:rPr lang="en-GB" sz="1200" b="0" baseline="30000" noProof="0" dirty="0">
                <a:solidFill>
                  <a:schemeClr val="tx1"/>
                </a:solidFill>
              </a:rPr>
              <a:t>th</a:t>
            </a:r>
            <a:r>
              <a:rPr lang="en-GB" sz="1200" b="0" noProof="0" dirty="0">
                <a:solidFill>
                  <a:schemeClr val="tx1"/>
                </a:solidFill>
              </a:rPr>
              <a:t>, 2026.</a:t>
            </a:r>
          </a:p>
          <a:p>
            <a:pPr algn="just"/>
            <a:endParaRPr lang="en-GB" sz="1200" b="0" noProof="0" dirty="0">
              <a:solidFill>
                <a:schemeClr val="tx1"/>
              </a:solidFill>
            </a:endParaRPr>
          </a:p>
          <a:p>
            <a:pPr algn="just"/>
            <a:r>
              <a:rPr lang="en-GB" sz="1200" b="0" dirty="0">
                <a:solidFill>
                  <a:schemeClr val="tx1"/>
                </a:solidFill>
              </a:rPr>
              <a:t>International Energy Agency. Germany: Energy Mix. </a:t>
            </a:r>
            <a:r>
              <a:rPr lang="en-GB" sz="1200" b="0" dirty="0">
                <a:solidFill>
                  <a:schemeClr val="tx1"/>
                </a:solidFill>
                <a:hlinkClick r:id="rId8">
                  <a:extLst>
                    <a:ext uri="{A12FA001-AC4F-418D-AE19-62706E023703}">
                      <ahyp:hlinkClr xmlns:ahyp="http://schemas.microsoft.com/office/drawing/2018/hyperlinkcolor" val="tx"/>
                    </a:ext>
                  </a:extLst>
                </a:hlinkClick>
              </a:rPr>
              <a:t>https://www.iea.org/countries/germany/energy-mix</a:t>
            </a:r>
            <a:r>
              <a:rPr lang="en-GB" sz="1200" b="0" dirty="0">
                <a:solidFill>
                  <a:schemeClr val="tx1"/>
                </a:solidFill>
              </a:rPr>
              <a:t>, accessed July 4</a:t>
            </a:r>
            <a:r>
              <a:rPr lang="en-GB" sz="1200" b="0" baseline="30000" dirty="0">
                <a:solidFill>
                  <a:schemeClr val="tx1"/>
                </a:solidFill>
              </a:rPr>
              <a:t>th</a:t>
            </a:r>
            <a:r>
              <a:rPr lang="en-GB" sz="1200" b="0" dirty="0">
                <a:solidFill>
                  <a:schemeClr val="tx1"/>
                </a:solidFill>
              </a:rPr>
              <a:t>, 2026.</a:t>
            </a:r>
          </a:p>
          <a:p>
            <a:pPr algn="just"/>
            <a:endParaRPr lang="en-GB" sz="1200" b="0" noProof="0" dirty="0">
              <a:solidFill>
                <a:schemeClr val="tx1"/>
              </a:solidFill>
            </a:endParaRPr>
          </a:p>
          <a:p>
            <a:pPr algn="just"/>
            <a:endParaRPr lang="en-GB" sz="1200" b="0" noProof="0" dirty="0">
              <a:solidFill>
                <a:schemeClr val="tx1"/>
              </a:solidFill>
            </a:endParaRPr>
          </a:p>
          <a:p>
            <a:pPr algn="just"/>
            <a:endParaRPr lang="en-GB" sz="1200" b="0" noProof="0" dirty="0">
              <a:solidFill>
                <a:schemeClr val="tx1"/>
              </a:solidFill>
            </a:endParaRPr>
          </a:p>
          <a:p>
            <a:pPr marL="85725" lvl="1" indent="0" algn="just">
              <a:buNone/>
            </a:pPr>
            <a:endParaRPr lang="en-GB" i="1" noProof="0" dirty="0"/>
          </a:p>
          <a:p>
            <a:pPr marL="85725" lvl="1" indent="0" algn="just">
              <a:buNone/>
            </a:pPr>
            <a:endParaRPr lang="en-GB" noProof="0" dirty="0"/>
          </a:p>
          <a:p>
            <a:pPr marL="85725" lvl="1" indent="0" algn="just">
              <a:buNone/>
            </a:pPr>
            <a:endParaRPr lang="en-GB" noProof="0" dirty="0"/>
          </a:p>
        </p:txBody>
      </p:sp>
      <p:sp>
        <p:nvSpPr>
          <p:cNvPr id="4" name="Textplatzhalter 3">
            <a:extLst>
              <a:ext uri="{FF2B5EF4-FFF2-40B4-BE49-F238E27FC236}">
                <a16:creationId xmlns:a16="http://schemas.microsoft.com/office/drawing/2014/main" id="{2E05F7FC-30B2-1ACE-EE81-C572783FC54B}"/>
              </a:ext>
            </a:extLst>
          </p:cNvPr>
          <p:cNvSpPr>
            <a:spLocks noGrp="1"/>
          </p:cNvSpPr>
          <p:nvPr>
            <p:ph type="body" sz="quarter" idx="12"/>
          </p:nvPr>
        </p:nvSpPr>
        <p:spPr/>
        <p:txBody>
          <a:bodyPr/>
          <a:lstStyle/>
          <a:p>
            <a:r>
              <a:rPr lang="en-GB" noProof="0" dirty="0"/>
              <a:t>27</a:t>
            </a:r>
          </a:p>
        </p:txBody>
      </p:sp>
    </p:spTree>
    <p:extLst>
      <p:ext uri="{BB962C8B-B14F-4D97-AF65-F5344CB8AC3E}">
        <p14:creationId xmlns:p14="http://schemas.microsoft.com/office/powerpoint/2010/main" val="1485215973"/>
      </p:ext>
    </p:extLst>
  </p:cSld>
  <p:clrMapOvr>
    <a:masterClrMapping/>
  </p:clrMapOvr>
</p:sld>
</file>

<file path=ppt/theme/theme1.xml><?xml version="1.0" encoding="utf-8"?>
<a:theme xmlns:a="http://schemas.openxmlformats.org/drawingml/2006/main" name="1_Standarddesign">
  <a:themeElements>
    <a:clrScheme name="Benutzerdefiniert 4">
      <a:dk1>
        <a:srgbClr val="000000"/>
      </a:dk1>
      <a:lt1>
        <a:srgbClr val="FFFFFF"/>
      </a:lt1>
      <a:dk2>
        <a:srgbClr val="000000"/>
      </a:dk2>
      <a:lt2>
        <a:srgbClr val="000000"/>
      </a:lt2>
      <a:accent1>
        <a:srgbClr val="038A5E"/>
      </a:accent1>
      <a:accent2>
        <a:srgbClr val="CC162B"/>
      </a:accent2>
      <a:accent3>
        <a:srgbClr val="FFFFFF"/>
      </a:accent3>
      <a:accent4>
        <a:srgbClr val="45319B"/>
      </a:accent4>
      <a:accent5>
        <a:srgbClr val="6F6F6F"/>
      </a:accent5>
      <a:accent6>
        <a:srgbClr val="2D2DB9"/>
      </a:accent6>
      <a:hlink>
        <a:srgbClr val="038A5E"/>
      </a:hlink>
      <a:folHlink>
        <a:srgbClr val="038A5E"/>
      </a:folHlink>
    </a:clrScheme>
    <a:fontScheme name="1_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5875" cap="flat" cmpd="sng" algn="ctr">
          <a:solidFill>
            <a:srgbClr val="038A5E"/>
          </a:solidFill>
          <a:prstDash val="solid"/>
          <a:round/>
          <a:headEnd type="none" w="med" len="med"/>
          <a:tailEnd type="none" w="med" len="med"/>
        </a:ln>
        <a:effectLst/>
      </a:spPr>
      <a:bodyPr vert="horz" wrap="square" lIns="36000" tIns="36000" rIns="36000" bIns="36000" numCol="1" rtlCol="0"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dirty="0" smtClean="0">
            <a:ln>
              <a:noFill/>
            </a:ln>
            <a:solidFill>
              <a:schemeClr val="tx1"/>
            </a:solidFill>
            <a:effectLst/>
            <a:latin typeface="Arial" pitchFamily="34" charset="0"/>
          </a:defRPr>
        </a:defPPr>
      </a:lstStyle>
    </a:spDef>
    <a:lnDef>
      <a:spPr bwMode="auto">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baseline="30000" noProof="1"/>
        </a:defPPr>
      </a:lstStyle>
    </a:txDef>
  </a:objectDefaults>
  <a:extraClrSchemeLst>
    <a:extraClrScheme>
      <a:clrScheme name="1_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Standarddesign">
  <a:themeElements>
    <a:clrScheme name="Benutzerdefiniert 4">
      <a:dk1>
        <a:srgbClr val="000000"/>
      </a:dk1>
      <a:lt1>
        <a:srgbClr val="FFFFFF"/>
      </a:lt1>
      <a:dk2>
        <a:srgbClr val="000000"/>
      </a:dk2>
      <a:lt2>
        <a:srgbClr val="000000"/>
      </a:lt2>
      <a:accent1>
        <a:srgbClr val="038A5E"/>
      </a:accent1>
      <a:accent2>
        <a:srgbClr val="CC162B"/>
      </a:accent2>
      <a:accent3>
        <a:srgbClr val="FFFFFF"/>
      </a:accent3>
      <a:accent4>
        <a:srgbClr val="45319B"/>
      </a:accent4>
      <a:accent5>
        <a:srgbClr val="6F6F6F"/>
      </a:accent5>
      <a:accent6>
        <a:srgbClr val="2D2DB9"/>
      </a:accent6>
      <a:hlink>
        <a:srgbClr val="038A5E"/>
      </a:hlink>
      <a:folHlink>
        <a:srgbClr val="038A5E"/>
      </a:folHlink>
    </a:clrScheme>
    <a:fontScheme name="1_Standarddesign">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5875" cap="flat" cmpd="sng" algn="ctr">
          <a:solidFill>
            <a:srgbClr val="038A5E"/>
          </a:solidFill>
          <a:prstDash val="solid"/>
          <a:round/>
          <a:headEnd type="none" w="med" len="med"/>
          <a:tailEnd type="none" w="med" len="med"/>
        </a:ln>
        <a:effectLst/>
      </a:spPr>
      <a:bodyPr vert="horz" wrap="square" lIns="36000" tIns="36000" rIns="36000" bIns="36000" numCol="1" rtlCol="0"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0" sz="1800" b="0" i="0" u="none" strike="noStrike" cap="none" normalizeH="0" baseline="0" dirty="0" smtClean="0">
            <a:ln>
              <a:noFill/>
            </a:ln>
            <a:solidFill>
              <a:schemeClr val="tx1"/>
            </a:solidFill>
            <a:effectLst/>
            <a:latin typeface="Arial" pitchFamily="34" charset="0"/>
          </a:defRPr>
        </a:defPPr>
      </a:lstStyle>
    </a:spDef>
    <a:lnDef>
      <a:spPr bwMode="auto">
        <a:noFill/>
        <a:ln w="15875"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a:lstStyle/>
    </a:lnDef>
    <a:txDef>
      <a:spPr>
        <a:noFill/>
      </a:spPr>
      <a:bodyPr wrap="square" rtlCol="0">
        <a:spAutoFit/>
      </a:bodyPr>
      <a:lstStyle>
        <a:defPPr algn="l">
          <a:defRPr baseline="30000" noProof="1"/>
        </a:defPPr>
      </a:lstStyle>
    </a:txDef>
  </a:objectDefaults>
  <a:extraClrSchemeLst>
    <a:extraClrScheme>
      <a:clrScheme name="1_Standard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Standard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Standard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Standard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Standard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Standard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Standard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Desig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2099</Words>
  <Application>Microsoft Macintosh PowerPoint</Application>
  <PresentationFormat>Benutzerdefiniert</PresentationFormat>
  <Paragraphs>379</Paragraphs>
  <Slides>27</Slides>
  <Notes>21</Notes>
  <HiddenSlides>0</HiddenSlides>
  <MMClips>0</MMClips>
  <ScaleCrop>false</ScaleCrop>
  <HeadingPairs>
    <vt:vector size="6" baseType="variant">
      <vt:variant>
        <vt:lpstr>Verwendete Schriftarten</vt:lpstr>
      </vt:variant>
      <vt:variant>
        <vt:i4>6</vt:i4>
      </vt:variant>
      <vt:variant>
        <vt:lpstr>Design</vt:lpstr>
      </vt:variant>
      <vt:variant>
        <vt:i4>2</vt:i4>
      </vt:variant>
      <vt:variant>
        <vt:lpstr>Folientitel</vt:lpstr>
      </vt:variant>
      <vt:variant>
        <vt:i4>27</vt:i4>
      </vt:variant>
    </vt:vector>
  </HeadingPairs>
  <TitlesOfParts>
    <vt:vector size="35" baseType="lpstr">
      <vt:lpstr>Arial</vt:lpstr>
      <vt:lpstr>Cambria Math</vt:lpstr>
      <vt:lpstr>Courier New</vt:lpstr>
      <vt:lpstr>Symbol</vt:lpstr>
      <vt:lpstr>Times New Roman</vt:lpstr>
      <vt:lpstr>Wingdings</vt:lpstr>
      <vt:lpstr>1_Standarddesign</vt:lpstr>
      <vt:lpstr>2_Standarddesign</vt:lpstr>
      <vt:lpstr>German Energy Prices</vt:lpstr>
      <vt:lpstr>Introduction I Overview</vt:lpstr>
      <vt:lpstr>Introduction I Overview</vt:lpstr>
      <vt:lpstr>Preliminary Research Question</vt:lpstr>
      <vt:lpstr>Introduction I German Energy Overview</vt:lpstr>
      <vt:lpstr>Data I Overview</vt:lpstr>
      <vt:lpstr>Data I Energy Price Series</vt:lpstr>
      <vt:lpstr>Data I Selection &amp; Choices</vt:lpstr>
      <vt:lpstr>Decomposition I Energy Price Series</vt:lpstr>
      <vt:lpstr>PowerPoint-Präsentation</vt:lpstr>
      <vt:lpstr>Decomposition I Approach</vt:lpstr>
      <vt:lpstr>Decomposition I Seasonal &amp; Trend Component</vt:lpstr>
      <vt:lpstr>Decomposition I Seasonal &amp; Trend Component</vt:lpstr>
      <vt:lpstr>Decomposition I Random Component</vt:lpstr>
      <vt:lpstr>Autocorrelation I Overview</vt:lpstr>
      <vt:lpstr>Autocorrelation I Overview</vt:lpstr>
      <vt:lpstr>Forecasting I First Approach</vt:lpstr>
      <vt:lpstr>Forecasting I Plot</vt:lpstr>
      <vt:lpstr>Forecasting I Plot</vt:lpstr>
      <vt:lpstr>Forecasting I First Approach</vt:lpstr>
      <vt:lpstr>SARIMA I Forecast Plot</vt:lpstr>
      <vt:lpstr>SARIMA I SARIMA ACF Plots</vt:lpstr>
      <vt:lpstr>GARCH I Overview</vt:lpstr>
      <vt:lpstr>GARCH I ACF Residual Plot</vt:lpstr>
      <vt:lpstr>Limitations I Final Considerations</vt:lpstr>
      <vt:lpstr>Outlook I Final Considerations</vt:lpstr>
      <vt:lpstr>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Intelligence</dc:title>
  <dc:creator>MuSe</dc:creator>
  <cp:lastModifiedBy>Oschmann, Eric</cp:lastModifiedBy>
  <cp:revision>1908</cp:revision>
  <cp:lastPrinted>2018-02-06T17:38:02Z</cp:lastPrinted>
  <dcterms:created xsi:type="dcterms:W3CDTF">2000-09-05T08:36:45Z</dcterms:created>
  <dcterms:modified xsi:type="dcterms:W3CDTF">2026-08-09T11:40:41Z</dcterms:modified>
</cp:coreProperties>
</file>